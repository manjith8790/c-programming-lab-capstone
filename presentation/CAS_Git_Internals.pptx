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topic is Content-Addressable Storage and how Git uses it internally. I will explain why this data structure exists and why industry still uses it. I follow the research cycle shown at the bottom: the problem, the need, the data structure, the algorithm, my implementation in C, real products, limitations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we must keep every version of every file, but copying unchanged files wastes space, and damaged files go unnoticed. An array cannot help, because it finds data by position, so finding a duplicate means comparing with everything. The solution is to use a hash function like SHA-1 on the content. The hash becomes the address. This gives three benefits: fast lookup, each content stored once, and easy damage detection. Only five operations are needed: hash, put, get, contains and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stores only three kinds of objects. A blob is the content of one file. A tree is a folder listing names and hashes. A commit points to one tree and to its parent commit. Four simple data structures work together here: a hash table for the object store, trees for folders, a linked list or DAG of commits for history, and a Merkle tree, because every parent contains the hashes of its children. Changing one byte anywhere changes the top commit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has five steps. Read the file, add a header with the type and size, hash it with SHA-1, check whether that hash already exists, and write it only if it is new. Reading back means turning the hash into a path. Verifying means hashing again and comparing. I implemented this in C in about 200 lines, using file I/O, dynamic memory and bitwise operations for SHA-1. On the right is real output: my program produces exactly the same hash as real Git, stores duplicates once, and detects a single changed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own diagram. Version 1 has main.c and README. I edit only main.c and commit again. Git creates a new blob for main.c, a new tree and a new commit. README has the same content, so the new tree points to the same old blob B, and nothing is copied. Commit C2 points back to C1 as its parent, which is how history works. The short hashes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CAS with other structures. An array or linked list needs O(n) to find something, and a BST needs log n. None of them can detect corruption by themselves. A hash table keyed by file name is fast, but it overwrites old versions. Only the hash table keyed by content hash gives all four: fast lookup, no duplicates, integrity checking and history. The cost is hashing the file once, which is O(k). But CAS is not always best: for data that changes constantly, a normal database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industry still uses it. Git names everything by hash. Docker names image layers by sha256, so shared layers are downloaded once. IPFS finds files by content. Backup tools store only new chunks. Bitcoin links blocks by hash. pnpm shares packages. There are limitations too. SHA-1 collisions were demonstrated in 2017, so Git added detection and SHA-256 support. Storage grows, so Git has garbage collection. Small edits create full copies, so Git packs objects as differences. Big files use Git LFS, and branch names make hashes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ten years, Git is expected to move to SHA-256 by default. AI teams will version huge datasets and models by hash. Software security will verify every package by its digest. The web may use links that point to content instead of a single server. My reflection: I learned that Git is really a key-value store keyed by hashes. The hardest part was SHA-1 and handling binary data in C. Next, I would add trees, commits and compression. My sources are listed at the bottom.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RESEARCH EXPLORATION ASSIGNMENT  ·  C PROGRAMMING LAB</a:t>
            </a:r>
            <a:endParaRPr lang="en-US" sz="1100" dirty="0"/>
          </a:p>
        </p:txBody>
      </p:sp>
      <p:sp>
        <p:nvSpPr>
          <p:cNvPr id="3" name="Text 1"/>
          <p:cNvSpPr txBox="1"/>
          <p:nvPr/>
        </p:nvSpPr>
        <p:spPr>
          <a:xfrm>
            <a:off x="548640" y="777240"/>
            <a:ext cx="8046720" cy="12801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Content-Addressable Storage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&amp; Git Internals</a:t>
            </a:r>
            <a:endParaRPr lang="en-US" sz="3600" dirty="0"/>
          </a:p>
        </p:txBody>
      </p:sp>
      <p:sp>
        <p:nvSpPr>
          <p:cNvPr id="4" name="Text 2"/>
          <p:cNvSpPr txBox="1"/>
          <p:nvPr/>
        </p:nvSpPr>
        <p:spPr>
          <a:xfrm>
            <a:off x="548640" y="2103120"/>
            <a:ext cx="8046720" cy="3657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Why this data structure exists, and why industry still uses it today</a:t>
            </a:r>
            <a:endParaRPr lang="en-US" sz="1600" dirty="0"/>
          </a:p>
        </p:txBody>
      </p:sp>
      <p:sp>
        <p:nvSpPr>
          <p:cNvPr id="5" name="Text 3"/>
          <p:cNvSpPr txBox="1"/>
          <p:nvPr/>
        </p:nvSpPr>
        <p:spPr>
          <a:xfrm>
            <a:off x="548640" y="2697480"/>
            <a:ext cx="804672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Presented by: ______________________     Roll No: ____________</a:t>
            </a:r>
            <a:endParaRPr lang="en-US" sz="1300" dirty="0"/>
          </a:p>
        </p:txBody>
      </p:sp>
      <p:sp>
        <p:nvSpPr>
          <p:cNvPr id="6" name="Text 4"/>
          <p:cNvSpPr txBox="1"/>
          <p:nvPr/>
        </p:nvSpPr>
        <p:spPr>
          <a:xfrm>
            <a:off x="548640" y="3520440"/>
            <a:ext cx="8046720" cy="228600"/>
          </a:xfrm>
          <a:prstGeom prst="rect">
            <a:avLst/>
          </a:prstGeom>
          <a:noFill/>
          <a:ln/>
        </p:spPr>
        <p:txBody>
          <a:bodyPr wrap="square" lIns="0" tIns="0" rIns="0" bIns="0" rtlCol="0" anchor="ctr"/>
          <a:lstStyle/>
          <a:p>
            <a:pPr indent="0" marL="0">
              <a:buNone/>
            </a:pPr>
            <a:r>
              <a:rPr lang="en-US" sz="950" b="1" spc="150" kern="0" dirty="0">
                <a:solidFill>
                  <a:srgbClr val="FCA311"/>
                </a:solidFill>
                <a:latin typeface="Calibri" pitchFamily="34" charset="0"/>
                <a:ea typeface="Calibri" pitchFamily="34" charset="-122"/>
                <a:cs typeface="Calibri" pitchFamily="34" charset="-120"/>
              </a:rPr>
              <a:t>RESEARCH CYCLE FOLLOWED IN THIS PRESENTATION</a:t>
            </a:r>
            <a:endParaRPr lang="en-US" sz="950" dirty="0"/>
          </a:p>
        </p:txBody>
      </p:sp>
      <p:sp>
        <p:nvSpPr>
          <p:cNvPr id="7" name="Shape 5"/>
          <p:cNvSpPr/>
          <p:nvPr/>
        </p:nvSpPr>
        <p:spPr>
          <a:xfrm>
            <a:off x="548640" y="3840480"/>
            <a:ext cx="868680" cy="548640"/>
          </a:xfrm>
          <a:prstGeom prst="roundRect">
            <a:avLst>
              <a:gd name="adj" fmla="val 13333"/>
            </a:avLst>
          </a:prstGeom>
          <a:solidFill>
            <a:srgbClr val="22325A"/>
          </a:solidFill>
          <a:ln w="12700">
            <a:solidFill>
              <a:srgbClr val="22325A"/>
            </a:solidFill>
            <a:prstDash val="solid"/>
          </a:ln>
        </p:spPr>
      </p:sp>
      <p:sp>
        <p:nvSpPr>
          <p:cNvPr id="8" name="Text 6"/>
          <p:cNvSpPr txBox="1"/>
          <p:nvPr/>
        </p:nvSpPr>
        <p:spPr>
          <a:xfrm>
            <a:off x="548640"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Problem</a:t>
            </a:r>
            <a:endParaRPr lang="en-US" sz="950" dirty="0"/>
          </a:p>
        </p:txBody>
      </p:sp>
      <p:sp>
        <p:nvSpPr>
          <p:cNvPr id="9" name="Shape 7"/>
          <p:cNvSpPr/>
          <p:nvPr/>
        </p:nvSpPr>
        <p:spPr>
          <a:xfrm>
            <a:off x="1426464" y="4114800"/>
            <a:ext cx="128016" cy="0"/>
          </a:xfrm>
          <a:prstGeom prst="line">
            <a:avLst/>
          </a:prstGeom>
          <a:noFill/>
          <a:ln w="15875">
            <a:solidFill>
              <a:srgbClr val="FCA311"/>
            </a:solidFill>
            <a:prstDash val="solid"/>
            <a:tailEnd type="triangle"/>
          </a:ln>
        </p:spPr>
      </p:sp>
      <p:sp>
        <p:nvSpPr>
          <p:cNvPr id="10" name="Shape 8"/>
          <p:cNvSpPr/>
          <p:nvPr/>
        </p:nvSpPr>
        <p:spPr>
          <a:xfrm>
            <a:off x="1563624" y="3840480"/>
            <a:ext cx="868680" cy="548640"/>
          </a:xfrm>
          <a:prstGeom prst="roundRect">
            <a:avLst>
              <a:gd name="adj" fmla="val 13333"/>
            </a:avLst>
          </a:prstGeom>
          <a:solidFill>
            <a:srgbClr val="22325A"/>
          </a:solidFill>
          <a:ln w="12700">
            <a:solidFill>
              <a:srgbClr val="22325A"/>
            </a:solidFill>
            <a:prstDash val="solid"/>
          </a:ln>
        </p:spPr>
      </p:sp>
      <p:sp>
        <p:nvSpPr>
          <p:cNvPr id="11" name="Text 9"/>
          <p:cNvSpPr txBox="1"/>
          <p:nvPr/>
        </p:nvSpPr>
        <p:spPr>
          <a:xfrm>
            <a:off x="1563624"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Need</a:t>
            </a:r>
            <a:endParaRPr lang="en-US" sz="950" dirty="0"/>
          </a:p>
        </p:txBody>
      </p:sp>
      <p:sp>
        <p:nvSpPr>
          <p:cNvPr id="12" name="Shape 10"/>
          <p:cNvSpPr/>
          <p:nvPr/>
        </p:nvSpPr>
        <p:spPr>
          <a:xfrm>
            <a:off x="2441448" y="4114800"/>
            <a:ext cx="128016" cy="0"/>
          </a:xfrm>
          <a:prstGeom prst="line">
            <a:avLst/>
          </a:prstGeom>
          <a:noFill/>
          <a:ln w="15875">
            <a:solidFill>
              <a:srgbClr val="FCA311"/>
            </a:solidFill>
            <a:prstDash val="solid"/>
            <a:tailEnd type="triangle"/>
          </a:ln>
        </p:spPr>
      </p:sp>
      <p:sp>
        <p:nvSpPr>
          <p:cNvPr id="13" name="Shape 11"/>
          <p:cNvSpPr/>
          <p:nvPr/>
        </p:nvSpPr>
        <p:spPr>
          <a:xfrm>
            <a:off x="2578608" y="3840480"/>
            <a:ext cx="868680" cy="548640"/>
          </a:xfrm>
          <a:prstGeom prst="roundRect">
            <a:avLst>
              <a:gd name="adj" fmla="val 13333"/>
            </a:avLst>
          </a:prstGeom>
          <a:solidFill>
            <a:srgbClr val="22325A"/>
          </a:solidFill>
          <a:ln w="12700">
            <a:solidFill>
              <a:srgbClr val="22325A"/>
            </a:solidFill>
            <a:prstDash val="solid"/>
          </a:ln>
        </p:spPr>
      </p:sp>
      <p:sp>
        <p:nvSpPr>
          <p:cNvPr id="14" name="Text 12"/>
          <p:cNvSpPr txBox="1"/>
          <p:nvPr/>
        </p:nvSpPr>
        <p:spPr>
          <a:xfrm>
            <a:off x="2578608"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 Structure</a:t>
            </a:r>
            <a:endParaRPr lang="en-US" sz="950" dirty="0"/>
          </a:p>
        </p:txBody>
      </p:sp>
      <p:sp>
        <p:nvSpPr>
          <p:cNvPr id="15" name="Shape 13"/>
          <p:cNvSpPr/>
          <p:nvPr/>
        </p:nvSpPr>
        <p:spPr>
          <a:xfrm>
            <a:off x="3456432" y="4114800"/>
            <a:ext cx="128016" cy="0"/>
          </a:xfrm>
          <a:prstGeom prst="line">
            <a:avLst/>
          </a:prstGeom>
          <a:noFill/>
          <a:ln w="15875">
            <a:solidFill>
              <a:srgbClr val="FCA311"/>
            </a:solidFill>
            <a:prstDash val="solid"/>
            <a:tailEnd type="triangle"/>
          </a:ln>
        </p:spPr>
      </p:sp>
      <p:sp>
        <p:nvSpPr>
          <p:cNvPr id="16" name="Shape 14"/>
          <p:cNvSpPr/>
          <p:nvPr/>
        </p:nvSpPr>
        <p:spPr>
          <a:xfrm>
            <a:off x="3593592" y="3840480"/>
            <a:ext cx="868680" cy="548640"/>
          </a:xfrm>
          <a:prstGeom prst="roundRect">
            <a:avLst>
              <a:gd name="adj" fmla="val 13333"/>
            </a:avLst>
          </a:prstGeom>
          <a:solidFill>
            <a:srgbClr val="22325A"/>
          </a:solidFill>
          <a:ln w="12700">
            <a:solidFill>
              <a:srgbClr val="22325A"/>
            </a:solidFill>
            <a:prstDash val="solid"/>
          </a:ln>
        </p:spPr>
      </p:sp>
      <p:sp>
        <p:nvSpPr>
          <p:cNvPr id="17" name="Text 15"/>
          <p:cNvSpPr txBox="1"/>
          <p:nvPr/>
        </p:nvSpPr>
        <p:spPr>
          <a:xfrm>
            <a:off x="3593592"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Algorithm</a:t>
            </a:r>
            <a:endParaRPr lang="en-US" sz="950" dirty="0"/>
          </a:p>
        </p:txBody>
      </p:sp>
      <p:sp>
        <p:nvSpPr>
          <p:cNvPr id="18" name="Shape 16"/>
          <p:cNvSpPr/>
          <p:nvPr/>
        </p:nvSpPr>
        <p:spPr>
          <a:xfrm>
            <a:off x="4471416" y="4114800"/>
            <a:ext cx="128016" cy="0"/>
          </a:xfrm>
          <a:prstGeom prst="line">
            <a:avLst/>
          </a:prstGeom>
          <a:noFill/>
          <a:ln w="15875">
            <a:solidFill>
              <a:srgbClr val="FCA311"/>
            </a:solidFill>
            <a:prstDash val="solid"/>
            <a:tailEnd type="triangle"/>
          </a:ln>
        </p:spPr>
      </p:sp>
      <p:sp>
        <p:nvSpPr>
          <p:cNvPr id="19" name="Shape 17"/>
          <p:cNvSpPr/>
          <p:nvPr/>
        </p:nvSpPr>
        <p:spPr>
          <a:xfrm>
            <a:off x="4608576" y="3840480"/>
            <a:ext cx="868680" cy="548640"/>
          </a:xfrm>
          <a:prstGeom prst="roundRect">
            <a:avLst>
              <a:gd name="adj" fmla="val 13333"/>
            </a:avLst>
          </a:prstGeom>
          <a:solidFill>
            <a:srgbClr val="22325A"/>
          </a:solidFill>
          <a:ln w="12700">
            <a:solidFill>
              <a:srgbClr val="22325A"/>
            </a:solidFill>
            <a:prstDash val="solid"/>
          </a:ln>
        </p:spPr>
      </p:sp>
      <p:sp>
        <p:nvSpPr>
          <p:cNvPr id="20" name="Text 18"/>
          <p:cNvSpPr txBox="1"/>
          <p:nvPr/>
        </p:nvSpPr>
        <p:spPr>
          <a:xfrm>
            <a:off x="4608576"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Implemen-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tation</a:t>
            </a:r>
            <a:endParaRPr lang="en-US" sz="950" dirty="0"/>
          </a:p>
        </p:txBody>
      </p:sp>
      <p:sp>
        <p:nvSpPr>
          <p:cNvPr id="21" name="Shape 19"/>
          <p:cNvSpPr/>
          <p:nvPr/>
        </p:nvSpPr>
        <p:spPr>
          <a:xfrm>
            <a:off x="5486400" y="4114800"/>
            <a:ext cx="128016" cy="0"/>
          </a:xfrm>
          <a:prstGeom prst="line">
            <a:avLst/>
          </a:prstGeom>
          <a:noFill/>
          <a:ln w="15875">
            <a:solidFill>
              <a:srgbClr val="FCA311"/>
            </a:solidFill>
            <a:prstDash val="solid"/>
            <a:tailEnd type="triangle"/>
          </a:ln>
        </p:spPr>
      </p:sp>
      <p:sp>
        <p:nvSpPr>
          <p:cNvPr id="22" name="Shape 20"/>
          <p:cNvSpPr/>
          <p:nvPr/>
        </p:nvSpPr>
        <p:spPr>
          <a:xfrm>
            <a:off x="5623560" y="3840480"/>
            <a:ext cx="868680" cy="548640"/>
          </a:xfrm>
          <a:prstGeom prst="roundRect">
            <a:avLst>
              <a:gd name="adj" fmla="val 13333"/>
            </a:avLst>
          </a:prstGeom>
          <a:solidFill>
            <a:srgbClr val="22325A"/>
          </a:solidFill>
          <a:ln w="12700">
            <a:solidFill>
              <a:srgbClr val="22325A"/>
            </a:solidFill>
            <a:prstDash val="solid"/>
          </a:ln>
        </p:spPr>
      </p:sp>
      <p:sp>
        <p:nvSpPr>
          <p:cNvPr id="23" name="Text 21"/>
          <p:cNvSpPr txBox="1"/>
          <p:nvPr/>
        </p:nvSpPr>
        <p:spPr>
          <a:xfrm>
            <a:off x="5623560"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Industrial Product</a:t>
            </a:r>
            <a:endParaRPr lang="en-US" sz="950" dirty="0"/>
          </a:p>
        </p:txBody>
      </p:sp>
      <p:sp>
        <p:nvSpPr>
          <p:cNvPr id="24" name="Shape 22"/>
          <p:cNvSpPr/>
          <p:nvPr/>
        </p:nvSpPr>
        <p:spPr>
          <a:xfrm>
            <a:off x="6501384" y="4114800"/>
            <a:ext cx="128016" cy="0"/>
          </a:xfrm>
          <a:prstGeom prst="line">
            <a:avLst/>
          </a:prstGeom>
          <a:noFill/>
          <a:ln w="15875">
            <a:solidFill>
              <a:srgbClr val="FCA311"/>
            </a:solidFill>
            <a:prstDash val="solid"/>
            <a:tailEnd type="triangle"/>
          </a:ln>
        </p:spPr>
      </p:sp>
      <p:sp>
        <p:nvSpPr>
          <p:cNvPr id="25" name="Shape 23"/>
          <p:cNvSpPr/>
          <p:nvPr/>
        </p:nvSpPr>
        <p:spPr>
          <a:xfrm>
            <a:off x="6638544" y="3840480"/>
            <a:ext cx="868680" cy="548640"/>
          </a:xfrm>
          <a:prstGeom prst="roundRect">
            <a:avLst>
              <a:gd name="adj" fmla="val 13333"/>
            </a:avLst>
          </a:prstGeom>
          <a:solidFill>
            <a:srgbClr val="22325A"/>
          </a:solidFill>
          <a:ln w="12700">
            <a:solidFill>
              <a:srgbClr val="22325A"/>
            </a:solidFill>
            <a:prstDash val="solid"/>
          </a:ln>
        </p:spPr>
      </p:sp>
      <p:sp>
        <p:nvSpPr>
          <p:cNvPr id="26" name="Text 24"/>
          <p:cNvSpPr txBox="1"/>
          <p:nvPr/>
        </p:nvSpPr>
        <p:spPr>
          <a:xfrm>
            <a:off x="6638544"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Limitation</a:t>
            </a:r>
            <a:endParaRPr lang="en-US" sz="950" dirty="0"/>
          </a:p>
        </p:txBody>
      </p:sp>
      <p:sp>
        <p:nvSpPr>
          <p:cNvPr id="27" name="Shape 25"/>
          <p:cNvSpPr/>
          <p:nvPr/>
        </p:nvSpPr>
        <p:spPr>
          <a:xfrm>
            <a:off x="7516368" y="4114800"/>
            <a:ext cx="128016" cy="0"/>
          </a:xfrm>
          <a:prstGeom prst="line">
            <a:avLst/>
          </a:prstGeom>
          <a:noFill/>
          <a:ln w="15875">
            <a:solidFill>
              <a:srgbClr val="FCA311"/>
            </a:solidFill>
            <a:prstDash val="solid"/>
            <a:tailEnd type="triangle"/>
          </a:ln>
        </p:spPr>
      </p:sp>
      <p:sp>
        <p:nvSpPr>
          <p:cNvPr id="28" name="Shape 26"/>
          <p:cNvSpPr/>
          <p:nvPr/>
        </p:nvSpPr>
        <p:spPr>
          <a:xfrm>
            <a:off x="7653528" y="3840480"/>
            <a:ext cx="868680" cy="548640"/>
          </a:xfrm>
          <a:prstGeom prst="roundRect">
            <a:avLst>
              <a:gd name="adj" fmla="val 13333"/>
            </a:avLst>
          </a:prstGeom>
          <a:solidFill>
            <a:srgbClr val="22325A"/>
          </a:solidFill>
          <a:ln w="12700">
            <a:solidFill>
              <a:srgbClr val="22325A"/>
            </a:solidFill>
            <a:prstDash val="solid"/>
          </a:ln>
        </p:spPr>
      </p:sp>
      <p:sp>
        <p:nvSpPr>
          <p:cNvPr id="29" name="Text 27"/>
          <p:cNvSpPr txBox="1"/>
          <p:nvPr/>
        </p:nvSpPr>
        <p:spPr>
          <a:xfrm>
            <a:off x="7653528" y="3840480"/>
            <a:ext cx="868680"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Future Scope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PROBLEM → NEED → DATA STRUCTURE</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Problem and the Idea Behind CAS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143000"/>
            <a:ext cx="4023360" cy="1600200"/>
          </a:xfrm>
          <a:prstGeom prst="roundRect">
            <a:avLst>
              <a:gd name="adj" fmla="val 4571"/>
            </a:avLst>
          </a:prstGeom>
          <a:solidFill>
            <a:srgbClr val="EEF2F7"/>
          </a:solidFill>
          <a:ln w="12700">
            <a:solidFill>
              <a:srgbClr val="EEF2F7"/>
            </a:solidFill>
            <a:prstDash val="solid"/>
          </a:ln>
        </p:spPr>
      </p:sp>
      <p:sp>
        <p:nvSpPr>
          <p:cNvPr id="6" name="Text 4"/>
          <p:cNvSpPr txBox="1"/>
          <p:nvPr/>
        </p:nvSpPr>
        <p:spPr>
          <a:xfrm>
            <a:off x="640080" y="1234440"/>
            <a:ext cx="3657600" cy="2743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The problem</a:t>
            </a:r>
            <a:endParaRPr lang="en-US" sz="1400" dirty="0"/>
          </a:p>
        </p:txBody>
      </p:sp>
      <p:sp>
        <p:nvSpPr>
          <p:cNvPr id="7" name="Text 5"/>
          <p:cNvSpPr txBox="1"/>
          <p:nvPr/>
        </p:nvSpPr>
        <p:spPr>
          <a:xfrm>
            <a:off x="640080" y="1554480"/>
            <a:ext cx="370332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 project changes many times; every version of every file must be kept.</a:t>
            </a:r>
            <a:endParaRPr lang="en-US" sz="1150" dirty="0"/>
          </a:p>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Most files do not change, so saving full copies wastes space.</a:t>
            </a:r>
            <a:endParaRPr lang="en-US" sz="1150" dirty="0"/>
          </a:p>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Files can be corrupted or tampered with, and nobody notices.</a:t>
            </a:r>
            <a:endParaRPr lang="en-US" sz="1150" dirty="0"/>
          </a:p>
        </p:txBody>
      </p:sp>
      <p:sp>
        <p:nvSpPr>
          <p:cNvPr id="8" name="Shape 6"/>
          <p:cNvSpPr/>
          <p:nvPr/>
        </p:nvSpPr>
        <p:spPr>
          <a:xfrm>
            <a:off x="4663440" y="1143000"/>
            <a:ext cx="4023360" cy="1600200"/>
          </a:xfrm>
          <a:prstGeom prst="roundRect">
            <a:avLst>
              <a:gd name="adj" fmla="val 4571"/>
            </a:avLst>
          </a:prstGeom>
          <a:solidFill>
            <a:srgbClr val="EEF2F7"/>
          </a:solidFill>
          <a:ln w="12700">
            <a:solidFill>
              <a:srgbClr val="EEF2F7"/>
            </a:solidFill>
            <a:prstDash val="solid"/>
          </a:ln>
        </p:spPr>
      </p:sp>
      <p:sp>
        <p:nvSpPr>
          <p:cNvPr id="9" name="Text 7"/>
          <p:cNvSpPr txBox="1"/>
          <p:nvPr/>
        </p:nvSpPr>
        <p:spPr>
          <a:xfrm>
            <a:off x="4846320" y="1234440"/>
            <a:ext cx="3657600" cy="2743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Why a normal array is not enough</a:t>
            </a:r>
            <a:endParaRPr lang="en-US" sz="1400" dirty="0"/>
          </a:p>
        </p:txBody>
      </p:sp>
      <p:sp>
        <p:nvSpPr>
          <p:cNvPr id="10" name="Text 8"/>
          <p:cNvSpPr txBox="1"/>
          <p:nvPr/>
        </p:nvSpPr>
        <p:spPr>
          <a:xfrm>
            <a:off x="4846320" y="1554480"/>
            <a:ext cx="370332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An array finds items by position, which says nothing about the content.</a:t>
            </a:r>
            <a:endParaRPr lang="en-US" sz="1150" dirty="0"/>
          </a:p>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Checking "is this file already stored?" means comparing with every file: O(n).</a:t>
            </a:r>
            <a:endParaRPr lang="en-US" sz="1150" dirty="0"/>
          </a:p>
          <a:p>
            <a:pPr marL="342900" indent="-3429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It cannot tell whether stored data was changed.</a:t>
            </a:r>
            <a:endParaRPr lang="en-US" sz="1150" dirty="0"/>
          </a:p>
        </p:txBody>
      </p:sp>
      <p:sp>
        <p:nvSpPr>
          <p:cNvPr id="11" name="Text 9"/>
          <p:cNvSpPr txBox="1"/>
          <p:nvPr/>
        </p:nvSpPr>
        <p:spPr>
          <a:xfrm>
            <a:off x="457200" y="2926080"/>
            <a:ext cx="8229600" cy="274320"/>
          </a:xfrm>
          <a:prstGeom prst="rect">
            <a:avLst/>
          </a:prstGeom>
          <a:noFill/>
          <a:ln/>
        </p:spPr>
        <p:txBody>
          <a:bodyPr wrap="square" lIns="0" tIns="0" rIns="0" bIns="0" rtlCol="0" anchor="ctr"/>
          <a:lstStyle/>
          <a:p>
            <a:pPr indent="0" marL="0">
              <a:buNone/>
            </a:pPr>
            <a:r>
              <a:rPr lang="en-US" sz="1400" b="1" dirty="0">
                <a:solidFill>
                  <a:srgbClr val="B26A00"/>
                </a:solidFill>
                <a:latin typeface="Calibri" pitchFamily="34" charset="0"/>
                <a:ea typeface="Calibri" pitchFamily="34" charset="-122"/>
                <a:cs typeface="Calibri" pitchFamily="34" charset="-120"/>
              </a:rPr>
              <a:t>The idea: use the content itself to calculate the address</a:t>
            </a:r>
            <a:endParaRPr lang="en-US" sz="1400" dirty="0"/>
          </a:p>
        </p:txBody>
      </p:sp>
      <p:sp>
        <p:nvSpPr>
          <p:cNvPr id="12" name="Shape 10"/>
          <p:cNvSpPr/>
          <p:nvPr/>
        </p:nvSpPr>
        <p:spPr>
          <a:xfrm>
            <a:off x="457200" y="3246120"/>
            <a:ext cx="1828800" cy="457200"/>
          </a:xfrm>
          <a:prstGeom prst="roundRect">
            <a:avLst>
              <a:gd name="adj" fmla="val 16000"/>
            </a:avLst>
          </a:prstGeom>
          <a:solidFill>
            <a:srgbClr val="FFFFFF"/>
          </a:solidFill>
          <a:ln w="12700">
            <a:solidFill>
              <a:srgbClr val="C9D2DE"/>
            </a:solidFill>
            <a:prstDash val="solid"/>
          </a:ln>
        </p:spPr>
      </p:sp>
      <p:sp>
        <p:nvSpPr>
          <p:cNvPr id="13" name="Text 11"/>
          <p:cNvSpPr txBox="1"/>
          <p:nvPr/>
        </p:nvSpPr>
        <p:spPr>
          <a:xfrm>
            <a:off x="457200" y="3246120"/>
            <a:ext cx="1828800" cy="457200"/>
          </a:xfrm>
          <a:prstGeom prst="rect">
            <a:avLst/>
          </a:prstGeom>
          <a:noFill/>
          <a:ln/>
        </p:spPr>
        <p:txBody>
          <a:bodyPr wrap="square" lIns="0" tIns="0" rIns="0" bIns="0" rtlCol="0" anchor="ctr"/>
          <a:lstStyle/>
          <a:p>
            <a:pPr algn="ctr" indent="0" marL="0">
              <a:buNone/>
            </a:pPr>
            <a:r>
              <a:rPr lang="en-US" sz="1100" dirty="0">
                <a:solidFill>
                  <a:srgbClr val="14213D"/>
                </a:solidFill>
                <a:latin typeface="Courier New" pitchFamily="34" charset="0"/>
                <a:ea typeface="Courier New" pitchFamily="34" charset="-122"/>
                <a:cs typeface="Courier New" pitchFamily="34" charset="-120"/>
              </a:rPr>
              <a:t>"Hello World"</a:t>
            </a:r>
            <a:endParaRPr lang="en-US" sz="1100" dirty="0"/>
          </a:p>
        </p:txBody>
      </p:sp>
      <p:sp>
        <p:nvSpPr>
          <p:cNvPr id="14" name="Shape 12"/>
          <p:cNvSpPr/>
          <p:nvPr/>
        </p:nvSpPr>
        <p:spPr>
          <a:xfrm>
            <a:off x="2313432" y="3474720"/>
            <a:ext cx="274320" cy="0"/>
          </a:xfrm>
          <a:prstGeom prst="line">
            <a:avLst/>
          </a:prstGeom>
          <a:noFill/>
          <a:ln w="19050">
            <a:solidFill>
              <a:srgbClr val="5B6472"/>
            </a:solidFill>
            <a:prstDash val="solid"/>
            <a:tailEnd type="triangle"/>
          </a:ln>
        </p:spPr>
      </p:sp>
      <p:sp>
        <p:nvSpPr>
          <p:cNvPr id="15" name="Shape 13"/>
          <p:cNvSpPr/>
          <p:nvPr/>
        </p:nvSpPr>
        <p:spPr>
          <a:xfrm>
            <a:off x="2606040" y="3246120"/>
            <a:ext cx="1828800" cy="457200"/>
          </a:xfrm>
          <a:prstGeom prst="roundRect">
            <a:avLst>
              <a:gd name="adj" fmla="val 16000"/>
            </a:avLst>
          </a:prstGeom>
          <a:solidFill>
            <a:srgbClr val="FCA311"/>
          </a:solidFill>
          <a:ln w="12700">
            <a:solidFill>
              <a:srgbClr val="FCA311"/>
            </a:solidFill>
            <a:prstDash val="solid"/>
          </a:ln>
        </p:spPr>
      </p:sp>
      <p:sp>
        <p:nvSpPr>
          <p:cNvPr id="16" name="Text 14"/>
          <p:cNvSpPr txBox="1"/>
          <p:nvPr/>
        </p:nvSpPr>
        <p:spPr>
          <a:xfrm>
            <a:off x="2606040" y="3246120"/>
            <a:ext cx="1828800" cy="457200"/>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SHA-1 hash</a:t>
            </a:r>
            <a:endParaRPr lang="en-US" sz="1100" dirty="0"/>
          </a:p>
        </p:txBody>
      </p:sp>
      <p:sp>
        <p:nvSpPr>
          <p:cNvPr id="17" name="Shape 15"/>
          <p:cNvSpPr/>
          <p:nvPr/>
        </p:nvSpPr>
        <p:spPr>
          <a:xfrm>
            <a:off x="4462272" y="3474720"/>
            <a:ext cx="274320" cy="0"/>
          </a:xfrm>
          <a:prstGeom prst="line">
            <a:avLst/>
          </a:prstGeom>
          <a:noFill/>
          <a:ln w="19050">
            <a:solidFill>
              <a:srgbClr val="5B6472"/>
            </a:solidFill>
            <a:prstDash val="solid"/>
            <a:tailEnd type="triangle"/>
          </a:ln>
        </p:spPr>
      </p:sp>
      <p:sp>
        <p:nvSpPr>
          <p:cNvPr id="18" name="Shape 16"/>
          <p:cNvSpPr/>
          <p:nvPr/>
        </p:nvSpPr>
        <p:spPr>
          <a:xfrm>
            <a:off x="4754880" y="3246120"/>
            <a:ext cx="1828800" cy="457200"/>
          </a:xfrm>
          <a:prstGeom prst="roundRect">
            <a:avLst>
              <a:gd name="adj" fmla="val 16000"/>
            </a:avLst>
          </a:prstGeom>
          <a:solidFill>
            <a:srgbClr val="FFFFFF"/>
          </a:solidFill>
          <a:ln w="12700">
            <a:solidFill>
              <a:srgbClr val="C9D2DE"/>
            </a:solidFill>
            <a:prstDash val="solid"/>
          </a:ln>
        </p:spPr>
      </p:sp>
      <p:sp>
        <p:nvSpPr>
          <p:cNvPr id="19" name="Text 17"/>
          <p:cNvSpPr txBox="1"/>
          <p:nvPr/>
        </p:nvSpPr>
        <p:spPr>
          <a:xfrm>
            <a:off x="4754880" y="3246120"/>
            <a:ext cx="1828800" cy="457200"/>
          </a:xfrm>
          <a:prstGeom prst="rect">
            <a:avLst/>
          </a:prstGeom>
          <a:noFill/>
          <a:ln/>
        </p:spPr>
        <p:txBody>
          <a:bodyPr wrap="square" lIns="0" tIns="0" rIns="0" bIns="0" rtlCol="0" anchor="ctr"/>
          <a:lstStyle/>
          <a:p>
            <a:pPr algn="ctr" indent="0" marL="0">
              <a:buNone/>
            </a:pPr>
            <a:r>
              <a:rPr lang="en-US" sz="1100" dirty="0">
                <a:solidFill>
                  <a:srgbClr val="14213D"/>
                </a:solidFill>
                <a:latin typeface="Courier New" pitchFamily="34" charset="0"/>
                <a:ea typeface="Courier New" pitchFamily="34" charset="-122"/>
                <a:cs typeface="Courier New" pitchFamily="34" charset="-120"/>
              </a:rPr>
              <a:t>557db03d…</a:t>
            </a:r>
            <a:endParaRPr lang="en-US" sz="1100" dirty="0"/>
          </a:p>
        </p:txBody>
      </p:sp>
      <p:sp>
        <p:nvSpPr>
          <p:cNvPr id="20" name="Shape 18"/>
          <p:cNvSpPr/>
          <p:nvPr/>
        </p:nvSpPr>
        <p:spPr>
          <a:xfrm>
            <a:off x="6611112" y="3474720"/>
            <a:ext cx="274320" cy="0"/>
          </a:xfrm>
          <a:prstGeom prst="line">
            <a:avLst/>
          </a:prstGeom>
          <a:noFill/>
          <a:ln w="19050">
            <a:solidFill>
              <a:srgbClr val="5B6472"/>
            </a:solidFill>
            <a:prstDash val="solid"/>
            <a:tailEnd type="triangle"/>
          </a:ln>
        </p:spPr>
      </p:sp>
      <p:sp>
        <p:nvSpPr>
          <p:cNvPr id="21" name="Shape 19"/>
          <p:cNvSpPr/>
          <p:nvPr/>
        </p:nvSpPr>
        <p:spPr>
          <a:xfrm>
            <a:off x="6903720" y="3246120"/>
            <a:ext cx="1828800" cy="457200"/>
          </a:xfrm>
          <a:prstGeom prst="roundRect">
            <a:avLst>
              <a:gd name="adj" fmla="val 16000"/>
            </a:avLst>
          </a:prstGeom>
          <a:solidFill>
            <a:srgbClr val="FFFFFF"/>
          </a:solidFill>
          <a:ln w="12700">
            <a:solidFill>
              <a:srgbClr val="C9D2DE"/>
            </a:solidFill>
            <a:prstDash val="solid"/>
          </a:ln>
        </p:spPr>
      </p:sp>
      <p:sp>
        <p:nvSpPr>
          <p:cNvPr id="22" name="Text 20"/>
          <p:cNvSpPr txBox="1"/>
          <p:nvPr/>
        </p:nvSpPr>
        <p:spPr>
          <a:xfrm>
            <a:off x="6903720" y="3246120"/>
            <a:ext cx="1828800" cy="457200"/>
          </a:xfrm>
          <a:prstGeom prst="rect">
            <a:avLst/>
          </a:prstGeom>
          <a:noFill/>
          <a:ln/>
        </p:spPr>
        <p:txBody>
          <a:bodyPr wrap="square" lIns="0" tIns="0" rIns="0" bIns="0" rtlCol="0" anchor="ctr"/>
          <a:lstStyle/>
          <a:p>
            <a:pPr algn="ctr" indent="0" marL="0">
              <a:buNone/>
            </a:pPr>
            <a:r>
              <a:rPr lang="en-US" sz="1100" dirty="0">
                <a:solidFill>
                  <a:srgbClr val="14213D"/>
                </a:solidFill>
                <a:latin typeface="Courier New" pitchFamily="34" charset="0"/>
                <a:ea typeface="Courier New" pitchFamily="34" charset="-122"/>
                <a:cs typeface="Courier New" pitchFamily="34" charset="-120"/>
              </a:rPr>
              <a:t>objects/55/7db03d…</a:t>
            </a:r>
            <a:endParaRPr lang="en-US" sz="1100" dirty="0"/>
          </a:p>
        </p:txBody>
      </p:sp>
      <p:sp>
        <p:nvSpPr>
          <p:cNvPr id="23" name="Shape 21"/>
          <p:cNvSpPr/>
          <p:nvPr/>
        </p:nvSpPr>
        <p:spPr>
          <a:xfrm>
            <a:off x="457200" y="3931920"/>
            <a:ext cx="2651760" cy="731520"/>
          </a:xfrm>
          <a:prstGeom prst="roundRect">
            <a:avLst>
              <a:gd name="adj" fmla="val 10000"/>
            </a:avLst>
          </a:prstGeom>
          <a:solidFill>
            <a:srgbClr val="E3F4F1"/>
          </a:solidFill>
          <a:ln w="12700">
            <a:solidFill>
              <a:srgbClr val="E3F4F1"/>
            </a:solidFill>
            <a:prstDash val="solid"/>
          </a:ln>
        </p:spPr>
      </p:sp>
      <p:sp>
        <p:nvSpPr>
          <p:cNvPr id="24" name="Text 22"/>
          <p:cNvSpPr txBox="1"/>
          <p:nvPr/>
        </p:nvSpPr>
        <p:spPr>
          <a:xfrm>
            <a:off x="594360" y="3931920"/>
            <a:ext cx="2423160" cy="731520"/>
          </a:xfrm>
          <a:prstGeom prst="rect">
            <a:avLst/>
          </a:prstGeom>
          <a:noFill/>
          <a:ln/>
        </p:spPr>
        <p:txBody>
          <a:bodyPr wrap="square" lIns="0" tIns="0" rIns="0" bIns="0" rtlCol="0" anchor="ctr"/>
          <a:lstStyle/>
          <a:p>
            <a:pPr indent="0" marL="0">
              <a:buNone/>
            </a:pPr>
            <a:r>
              <a:rPr lang="en-US" sz="1150" b="1" dirty="0">
                <a:solidFill>
                  <a:srgbClr val="2A9D8F"/>
                </a:solidFill>
                <a:latin typeface="Calibri" pitchFamily="34" charset="0"/>
                <a:ea typeface="Calibri" pitchFamily="34" charset="-122"/>
                <a:cs typeface="Calibri" pitchFamily="34" charset="-120"/>
              </a:rPr>
              <a:t>Find fast: </a:t>
            </a:r>
            <a:pPr indent="0" marL="0">
              <a:buNone/>
            </a:pPr>
            <a:r>
              <a:rPr lang="en-US" sz="1150" dirty="0">
                <a:solidFill>
                  <a:srgbClr val="1F2937"/>
                </a:solidFill>
                <a:latin typeface="Calibri" pitchFamily="34" charset="0"/>
                <a:ea typeface="Calibri" pitchFamily="34" charset="-122"/>
                <a:cs typeface="Calibri" pitchFamily="34" charset="-120"/>
              </a:rPr>
              <a:t>lookup by hash is O(1) on average</a:t>
            </a:r>
            <a:endParaRPr lang="en-US" sz="1150" dirty="0"/>
          </a:p>
        </p:txBody>
      </p:sp>
      <p:sp>
        <p:nvSpPr>
          <p:cNvPr id="25" name="Shape 23"/>
          <p:cNvSpPr/>
          <p:nvPr/>
        </p:nvSpPr>
        <p:spPr>
          <a:xfrm>
            <a:off x="3264408" y="3931920"/>
            <a:ext cx="2651760" cy="731520"/>
          </a:xfrm>
          <a:prstGeom prst="roundRect">
            <a:avLst>
              <a:gd name="adj" fmla="val 10000"/>
            </a:avLst>
          </a:prstGeom>
          <a:solidFill>
            <a:srgbClr val="E3F4F1"/>
          </a:solidFill>
          <a:ln w="12700">
            <a:solidFill>
              <a:srgbClr val="E3F4F1"/>
            </a:solidFill>
            <a:prstDash val="solid"/>
          </a:ln>
        </p:spPr>
      </p:sp>
      <p:sp>
        <p:nvSpPr>
          <p:cNvPr id="26" name="Text 24"/>
          <p:cNvSpPr txBox="1"/>
          <p:nvPr/>
        </p:nvSpPr>
        <p:spPr>
          <a:xfrm>
            <a:off x="3401568" y="3931920"/>
            <a:ext cx="2423160" cy="731520"/>
          </a:xfrm>
          <a:prstGeom prst="rect">
            <a:avLst/>
          </a:prstGeom>
          <a:noFill/>
          <a:ln/>
        </p:spPr>
        <p:txBody>
          <a:bodyPr wrap="square" lIns="0" tIns="0" rIns="0" bIns="0" rtlCol="0" anchor="ctr"/>
          <a:lstStyle/>
          <a:p>
            <a:pPr indent="0" marL="0">
              <a:buNone/>
            </a:pPr>
            <a:r>
              <a:rPr lang="en-US" sz="1150" b="1" dirty="0">
                <a:solidFill>
                  <a:srgbClr val="2A9D8F"/>
                </a:solidFill>
                <a:latin typeface="Calibri" pitchFamily="34" charset="0"/>
                <a:ea typeface="Calibri" pitchFamily="34" charset="-122"/>
                <a:cs typeface="Calibri" pitchFamily="34" charset="-120"/>
              </a:rPr>
              <a:t>Store once: </a:t>
            </a:r>
            <a:pPr indent="0" marL="0">
              <a:buNone/>
            </a:pPr>
            <a:r>
              <a:rPr lang="en-US" sz="1150" dirty="0">
                <a:solidFill>
                  <a:srgbClr val="1F2937"/>
                </a:solidFill>
                <a:latin typeface="Calibri" pitchFamily="34" charset="0"/>
                <a:ea typeface="Calibri" pitchFamily="34" charset="-122"/>
                <a:cs typeface="Calibri" pitchFamily="34" charset="-120"/>
              </a:rPr>
              <a:t>same content → same address</a:t>
            </a:r>
            <a:endParaRPr lang="en-US" sz="1150" dirty="0"/>
          </a:p>
        </p:txBody>
      </p:sp>
      <p:sp>
        <p:nvSpPr>
          <p:cNvPr id="27" name="Shape 25"/>
          <p:cNvSpPr/>
          <p:nvPr/>
        </p:nvSpPr>
        <p:spPr>
          <a:xfrm>
            <a:off x="6071616" y="3931920"/>
            <a:ext cx="2651760" cy="731520"/>
          </a:xfrm>
          <a:prstGeom prst="roundRect">
            <a:avLst>
              <a:gd name="adj" fmla="val 10000"/>
            </a:avLst>
          </a:prstGeom>
          <a:solidFill>
            <a:srgbClr val="E3F4F1"/>
          </a:solidFill>
          <a:ln w="12700">
            <a:solidFill>
              <a:srgbClr val="E3F4F1"/>
            </a:solidFill>
            <a:prstDash val="solid"/>
          </a:ln>
        </p:spPr>
      </p:sp>
      <p:sp>
        <p:nvSpPr>
          <p:cNvPr id="28" name="Text 26"/>
          <p:cNvSpPr txBox="1"/>
          <p:nvPr/>
        </p:nvSpPr>
        <p:spPr>
          <a:xfrm>
            <a:off x="6208776" y="3931920"/>
            <a:ext cx="2423160" cy="731520"/>
          </a:xfrm>
          <a:prstGeom prst="rect">
            <a:avLst/>
          </a:prstGeom>
          <a:noFill/>
          <a:ln/>
        </p:spPr>
        <p:txBody>
          <a:bodyPr wrap="square" lIns="0" tIns="0" rIns="0" bIns="0" rtlCol="0" anchor="ctr"/>
          <a:lstStyle/>
          <a:p>
            <a:pPr indent="0" marL="0">
              <a:buNone/>
            </a:pPr>
            <a:r>
              <a:rPr lang="en-US" sz="1150" b="1" dirty="0">
                <a:solidFill>
                  <a:srgbClr val="2A9D8F"/>
                </a:solidFill>
                <a:latin typeface="Calibri" pitchFamily="34" charset="0"/>
                <a:ea typeface="Calibri" pitchFamily="34" charset="-122"/>
                <a:cs typeface="Calibri" pitchFamily="34" charset="-120"/>
              </a:rPr>
              <a:t>Verify: </a:t>
            </a:r>
            <a:pPr indent="0" marL="0">
              <a:buNone/>
            </a:pPr>
            <a:r>
              <a:rPr lang="en-US" sz="1150" dirty="0">
                <a:solidFill>
                  <a:srgbClr val="1F2937"/>
                </a:solidFill>
                <a:latin typeface="Calibri" pitchFamily="34" charset="0"/>
                <a:ea typeface="Calibri" pitchFamily="34" charset="-122"/>
                <a:cs typeface="Calibri" pitchFamily="34" charset="-120"/>
              </a:rPr>
              <a:t>re-hash; a mismatch means damage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UNDERSTAND THE TOPIC · RESEARCH NOTEBOOK</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Git Uses Content-Addressable Storage</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1051560" y="1188720"/>
            <a:ext cx="2011680" cy="566928"/>
          </a:xfrm>
          <a:prstGeom prst="roundRect">
            <a:avLst>
              <a:gd name="adj" fmla="val 12903"/>
            </a:avLst>
          </a:prstGeom>
          <a:solidFill>
            <a:srgbClr val="14213D"/>
          </a:solidFill>
          <a:ln w="12700">
            <a:solidFill>
              <a:srgbClr val="14213D"/>
            </a:solidFill>
            <a:prstDash val="solid"/>
          </a:ln>
        </p:spPr>
      </p:sp>
      <p:sp>
        <p:nvSpPr>
          <p:cNvPr id="6" name="Text 4"/>
          <p:cNvSpPr txBox="1"/>
          <p:nvPr/>
        </p:nvSpPr>
        <p:spPr>
          <a:xfrm>
            <a:off x="1051560" y="1225296"/>
            <a:ext cx="201168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COMMIT</a:t>
            </a:r>
            <a:endParaRPr lang="en-US" sz="1250" dirty="0"/>
          </a:p>
        </p:txBody>
      </p:sp>
      <p:sp>
        <p:nvSpPr>
          <p:cNvPr id="7" name="Text 5"/>
          <p:cNvSpPr txBox="1"/>
          <p:nvPr/>
        </p:nvSpPr>
        <p:spPr>
          <a:xfrm>
            <a:off x="1051560" y="1481328"/>
            <a:ext cx="201168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alibri" pitchFamily="34" charset="0"/>
                <a:ea typeface="Calibri" pitchFamily="34" charset="-122"/>
                <a:cs typeface="Calibri" pitchFamily="34" charset="-120"/>
              </a:rPr>
              <a:t>snapshot + parent + message</a:t>
            </a:r>
            <a:endParaRPr lang="en-US" sz="950" dirty="0"/>
          </a:p>
        </p:txBody>
      </p:sp>
      <p:sp>
        <p:nvSpPr>
          <p:cNvPr id="8" name="Shape 6"/>
          <p:cNvSpPr/>
          <p:nvPr/>
        </p:nvSpPr>
        <p:spPr>
          <a:xfrm>
            <a:off x="2057400" y="1755648"/>
            <a:ext cx="0" cy="365760"/>
          </a:xfrm>
          <a:prstGeom prst="line">
            <a:avLst/>
          </a:prstGeom>
          <a:noFill/>
          <a:ln w="19050">
            <a:solidFill>
              <a:srgbClr val="5B6472"/>
            </a:solidFill>
            <a:prstDash val="solid"/>
            <a:tailEnd type="triangle"/>
          </a:ln>
        </p:spPr>
      </p:sp>
      <p:sp>
        <p:nvSpPr>
          <p:cNvPr id="9" name="Shape 7"/>
          <p:cNvSpPr/>
          <p:nvPr/>
        </p:nvSpPr>
        <p:spPr>
          <a:xfrm>
            <a:off x="1051560" y="2148840"/>
            <a:ext cx="2011680" cy="566928"/>
          </a:xfrm>
          <a:prstGeom prst="roundRect">
            <a:avLst>
              <a:gd name="adj" fmla="val 12903"/>
            </a:avLst>
          </a:prstGeom>
          <a:solidFill>
            <a:srgbClr val="FCA311"/>
          </a:solidFill>
          <a:ln w="12700">
            <a:solidFill>
              <a:srgbClr val="FCA311"/>
            </a:solidFill>
            <a:prstDash val="solid"/>
          </a:ln>
        </p:spPr>
      </p:sp>
      <p:sp>
        <p:nvSpPr>
          <p:cNvPr id="10" name="Text 8"/>
          <p:cNvSpPr txBox="1"/>
          <p:nvPr/>
        </p:nvSpPr>
        <p:spPr>
          <a:xfrm>
            <a:off x="1051560" y="2185416"/>
            <a:ext cx="201168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TREE</a:t>
            </a:r>
            <a:endParaRPr lang="en-US" sz="1250" dirty="0"/>
          </a:p>
        </p:txBody>
      </p:sp>
      <p:sp>
        <p:nvSpPr>
          <p:cNvPr id="11" name="Text 9"/>
          <p:cNvSpPr txBox="1"/>
          <p:nvPr/>
        </p:nvSpPr>
        <p:spPr>
          <a:xfrm>
            <a:off x="1051560" y="2441448"/>
            <a:ext cx="201168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alibri" pitchFamily="34" charset="0"/>
                <a:ea typeface="Calibri" pitchFamily="34" charset="-122"/>
                <a:cs typeface="Calibri" pitchFamily="34" charset="-120"/>
              </a:rPr>
              <a:t>folder: file names → hashes</a:t>
            </a:r>
            <a:endParaRPr lang="en-US" sz="950" dirty="0"/>
          </a:p>
        </p:txBody>
      </p:sp>
      <p:sp>
        <p:nvSpPr>
          <p:cNvPr id="12" name="Shape 10"/>
          <p:cNvSpPr/>
          <p:nvPr/>
        </p:nvSpPr>
        <p:spPr>
          <a:xfrm flipH="1">
            <a:off x="1280160" y="2715768"/>
            <a:ext cx="457200" cy="411480"/>
          </a:xfrm>
          <a:prstGeom prst="line">
            <a:avLst/>
          </a:prstGeom>
          <a:noFill/>
          <a:ln w="19050">
            <a:solidFill>
              <a:srgbClr val="5B6472"/>
            </a:solidFill>
            <a:prstDash val="solid"/>
            <a:tailEnd type="triangle"/>
          </a:ln>
        </p:spPr>
      </p:sp>
      <p:sp>
        <p:nvSpPr>
          <p:cNvPr id="13" name="Shape 11"/>
          <p:cNvSpPr/>
          <p:nvPr/>
        </p:nvSpPr>
        <p:spPr>
          <a:xfrm>
            <a:off x="2834640" y="2715768"/>
            <a:ext cx="457200" cy="411480"/>
          </a:xfrm>
          <a:prstGeom prst="line">
            <a:avLst/>
          </a:prstGeom>
          <a:noFill/>
          <a:ln w="19050">
            <a:solidFill>
              <a:srgbClr val="5B6472"/>
            </a:solidFill>
            <a:prstDash val="solid"/>
            <a:tailEnd type="triangle"/>
          </a:ln>
        </p:spPr>
      </p:sp>
      <p:sp>
        <p:nvSpPr>
          <p:cNvPr id="14" name="Shape 12"/>
          <p:cNvSpPr/>
          <p:nvPr/>
        </p:nvSpPr>
        <p:spPr>
          <a:xfrm>
            <a:off x="457200" y="3154680"/>
            <a:ext cx="1463040" cy="566928"/>
          </a:xfrm>
          <a:prstGeom prst="roundRect">
            <a:avLst>
              <a:gd name="adj" fmla="val 12903"/>
            </a:avLst>
          </a:prstGeom>
          <a:solidFill>
            <a:srgbClr val="EEF2F7"/>
          </a:solidFill>
          <a:ln w="12700">
            <a:solidFill>
              <a:srgbClr val="EEF2F7"/>
            </a:solidFill>
            <a:prstDash val="solid"/>
          </a:ln>
        </p:spPr>
      </p:sp>
      <p:sp>
        <p:nvSpPr>
          <p:cNvPr id="15" name="Text 13"/>
          <p:cNvSpPr txBox="1"/>
          <p:nvPr/>
        </p:nvSpPr>
        <p:spPr>
          <a:xfrm>
            <a:off x="457200" y="3191256"/>
            <a:ext cx="146304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BLOB</a:t>
            </a:r>
            <a:endParaRPr lang="en-US" sz="1250" dirty="0"/>
          </a:p>
        </p:txBody>
      </p:sp>
      <p:sp>
        <p:nvSpPr>
          <p:cNvPr id="16" name="Text 14"/>
          <p:cNvSpPr txBox="1"/>
          <p:nvPr/>
        </p:nvSpPr>
        <p:spPr>
          <a:xfrm>
            <a:off x="457200" y="3447288"/>
            <a:ext cx="146304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alibri" pitchFamily="34" charset="0"/>
                <a:ea typeface="Calibri" pitchFamily="34" charset="-122"/>
                <a:cs typeface="Calibri" pitchFamily="34" charset="-120"/>
              </a:rPr>
              <a:t>hello.txt content</a:t>
            </a:r>
            <a:endParaRPr lang="en-US" sz="950" dirty="0"/>
          </a:p>
        </p:txBody>
      </p:sp>
      <p:sp>
        <p:nvSpPr>
          <p:cNvPr id="17" name="Shape 15"/>
          <p:cNvSpPr/>
          <p:nvPr/>
        </p:nvSpPr>
        <p:spPr>
          <a:xfrm>
            <a:off x="2651760" y="3154680"/>
            <a:ext cx="1463040" cy="566928"/>
          </a:xfrm>
          <a:prstGeom prst="roundRect">
            <a:avLst>
              <a:gd name="adj" fmla="val 12903"/>
            </a:avLst>
          </a:prstGeom>
          <a:solidFill>
            <a:srgbClr val="EEF2F7"/>
          </a:solidFill>
          <a:ln w="12700">
            <a:solidFill>
              <a:srgbClr val="EEF2F7"/>
            </a:solidFill>
            <a:prstDash val="solid"/>
          </a:ln>
        </p:spPr>
      </p:sp>
      <p:sp>
        <p:nvSpPr>
          <p:cNvPr id="18" name="Text 16"/>
          <p:cNvSpPr txBox="1"/>
          <p:nvPr/>
        </p:nvSpPr>
        <p:spPr>
          <a:xfrm>
            <a:off x="2651760" y="3191256"/>
            <a:ext cx="146304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BLOB</a:t>
            </a:r>
            <a:endParaRPr lang="en-US" sz="1250" dirty="0"/>
          </a:p>
        </p:txBody>
      </p:sp>
      <p:sp>
        <p:nvSpPr>
          <p:cNvPr id="19" name="Text 17"/>
          <p:cNvSpPr txBox="1"/>
          <p:nvPr/>
        </p:nvSpPr>
        <p:spPr>
          <a:xfrm>
            <a:off x="2651760" y="3447288"/>
            <a:ext cx="146304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alibri" pitchFamily="34" charset="0"/>
                <a:ea typeface="Calibri" pitchFamily="34" charset="-122"/>
                <a:cs typeface="Calibri" pitchFamily="34" charset="-120"/>
              </a:rPr>
              <a:t>main.c content</a:t>
            </a:r>
            <a:endParaRPr lang="en-US" sz="950" dirty="0"/>
          </a:p>
        </p:txBody>
      </p:sp>
      <p:sp>
        <p:nvSpPr>
          <p:cNvPr id="20" name="Text 18"/>
          <p:cNvSpPr txBox="1"/>
          <p:nvPr/>
        </p:nvSpPr>
        <p:spPr>
          <a:xfrm>
            <a:off x="457200" y="3931920"/>
            <a:ext cx="3749040" cy="731520"/>
          </a:xfrm>
          <a:prstGeom prst="rect">
            <a:avLst/>
          </a:prstGeom>
          <a:noFill/>
          <a:ln/>
        </p:spPr>
        <p:txBody>
          <a:bodyPr wrap="square" lIns="0" tIns="0" rIns="0" bIns="0" rtlCol="0" anchor="ctr"/>
          <a:lstStyle/>
          <a:p>
            <a:pPr indent="0" marL="0">
              <a:buNone/>
            </a:pPr>
            <a:r>
              <a:rPr lang="en-US" sz="1150" i="1" dirty="0">
                <a:solidFill>
                  <a:srgbClr val="2A9D8F"/>
                </a:solidFill>
                <a:latin typeface="Calibri" pitchFamily="34" charset="0"/>
                <a:ea typeface="Calibri" pitchFamily="34" charset="-122"/>
                <a:cs typeface="Calibri" pitchFamily="34" charset="-120"/>
              </a:rPr>
              <a:t>Each object is hashed and saved under its hash. The file name is kept in the tree, so renaming a file creates no new blob.</a:t>
            </a:r>
            <a:endParaRPr lang="en-US" sz="1150" dirty="0"/>
          </a:p>
        </p:txBody>
      </p:sp>
      <p:sp>
        <p:nvSpPr>
          <p:cNvPr id="21" name="Text 19"/>
          <p:cNvSpPr txBox="1"/>
          <p:nvPr/>
        </p:nvSpPr>
        <p:spPr>
          <a:xfrm>
            <a:off x="4572000" y="1143000"/>
            <a:ext cx="411480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Data structures inside Git</a:t>
            </a:r>
            <a:endParaRPr lang="en-US" sz="1300" dirty="0"/>
          </a:p>
        </p:txBody>
      </p:sp>
      <p:sp>
        <p:nvSpPr>
          <p:cNvPr id="22" name="Shape 20"/>
          <p:cNvSpPr/>
          <p:nvPr/>
        </p:nvSpPr>
        <p:spPr>
          <a:xfrm>
            <a:off x="4572000" y="1463040"/>
            <a:ext cx="4114800" cy="713232"/>
          </a:xfrm>
          <a:prstGeom prst="roundRect">
            <a:avLst>
              <a:gd name="adj" fmla="val 10256"/>
            </a:avLst>
          </a:prstGeom>
          <a:solidFill>
            <a:srgbClr val="EEF2F7"/>
          </a:solidFill>
          <a:ln w="12700">
            <a:solidFill>
              <a:srgbClr val="C9D2DE"/>
            </a:solidFill>
            <a:prstDash val="solid"/>
          </a:ln>
        </p:spPr>
      </p:sp>
      <p:sp>
        <p:nvSpPr>
          <p:cNvPr id="23" name="Text 21"/>
          <p:cNvSpPr txBox="1"/>
          <p:nvPr/>
        </p:nvSpPr>
        <p:spPr>
          <a:xfrm>
            <a:off x="4709160" y="1499616"/>
            <a:ext cx="3886200" cy="658368"/>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Hash table</a:t>
            </a:r>
            <a:pPr indent="0" marL="0">
              <a:buNone/>
            </a:pP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.git/objects maps hash → object, so any object is found in O(1).</a:t>
            </a:r>
            <a:endParaRPr lang="en-US" sz="1250" dirty="0"/>
          </a:p>
        </p:txBody>
      </p:sp>
      <p:sp>
        <p:nvSpPr>
          <p:cNvPr id="24" name="Shape 22"/>
          <p:cNvSpPr/>
          <p:nvPr/>
        </p:nvSpPr>
        <p:spPr>
          <a:xfrm>
            <a:off x="4572000" y="2267712"/>
            <a:ext cx="4114800" cy="713232"/>
          </a:xfrm>
          <a:prstGeom prst="roundRect">
            <a:avLst>
              <a:gd name="adj" fmla="val 10256"/>
            </a:avLst>
          </a:prstGeom>
          <a:solidFill>
            <a:srgbClr val="FFFFFF"/>
          </a:solidFill>
          <a:ln w="12700">
            <a:solidFill>
              <a:srgbClr val="C9D2DE"/>
            </a:solidFill>
            <a:prstDash val="solid"/>
          </a:ln>
        </p:spPr>
      </p:sp>
      <p:sp>
        <p:nvSpPr>
          <p:cNvPr id="25" name="Text 23"/>
          <p:cNvSpPr txBox="1"/>
          <p:nvPr/>
        </p:nvSpPr>
        <p:spPr>
          <a:xfrm>
            <a:off x="4709160" y="2304288"/>
            <a:ext cx="3886200" cy="658368"/>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Tree</a:t>
            </a:r>
            <a:pPr indent="0" marL="0">
              <a:buNone/>
            </a:pP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A tree object is one folder; its children are files or sub-folders.</a:t>
            </a:r>
            <a:endParaRPr lang="en-US" sz="1250" dirty="0"/>
          </a:p>
        </p:txBody>
      </p:sp>
      <p:sp>
        <p:nvSpPr>
          <p:cNvPr id="26" name="Shape 24"/>
          <p:cNvSpPr/>
          <p:nvPr/>
        </p:nvSpPr>
        <p:spPr>
          <a:xfrm>
            <a:off x="4572000" y="3072384"/>
            <a:ext cx="4114800" cy="713232"/>
          </a:xfrm>
          <a:prstGeom prst="roundRect">
            <a:avLst>
              <a:gd name="adj" fmla="val 10256"/>
            </a:avLst>
          </a:prstGeom>
          <a:solidFill>
            <a:srgbClr val="EEF2F7"/>
          </a:solidFill>
          <a:ln w="12700">
            <a:solidFill>
              <a:srgbClr val="C9D2DE"/>
            </a:solidFill>
            <a:prstDash val="solid"/>
          </a:ln>
        </p:spPr>
      </p:sp>
      <p:sp>
        <p:nvSpPr>
          <p:cNvPr id="27" name="Text 25"/>
          <p:cNvSpPr txBox="1"/>
          <p:nvPr/>
        </p:nvSpPr>
        <p:spPr>
          <a:xfrm>
            <a:off x="4709160" y="3108960"/>
            <a:ext cx="3886200" cy="658368"/>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Linked list / DAG</a:t>
            </a:r>
            <a:pPr indent="0" marL="0">
              <a:buNone/>
            </a:pP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Each commit stores its parent's hash. Following parents gives the history; merges make it a DAG.</a:t>
            </a:r>
            <a:endParaRPr lang="en-US" sz="1250" dirty="0"/>
          </a:p>
        </p:txBody>
      </p:sp>
      <p:sp>
        <p:nvSpPr>
          <p:cNvPr id="28" name="Shape 26"/>
          <p:cNvSpPr/>
          <p:nvPr/>
        </p:nvSpPr>
        <p:spPr>
          <a:xfrm>
            <a:off x="4572000" y="3877056"/>
            <a:ext cx="4114800" cy="713232"/>
          </a:xfrm>
          <a:prstGeom prst="roundRect">
            <a:avLst>
              <a:gd name="adj" fmla="val 10256"/>
            </a:avLst>
          </a:prstGeom>
          <a:solidFill>
            <a:srgbClr val="FFFFFF"/>
          </a:solidFill>
          <a:ln w="12700">
            <a:solidFill>
              <a:srgbClr val="C9D2DE"/>
            </a:solidFill>
            <a:prstDash val="solid"/>
          </a:ln>
        </p:spPr>
      </p:sp>
      <p:sp>
        <p:nvSpPr>
          <p:cNvPr id="29" name="Text 27"/>
          <p:cNvSpPr txBox="1"/>
          <p:nvPr/>
        </p:nvSpPr>
        <p:spPr>
          <a:xfrm>
            <a:off x="4709160" y="3913632"/>
            <a:ext cx="3886200" cy="658368"/>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Merkle tree</a:t>
            </a:r>
            <a:pPr indent="0" marL="0">
              <a:buNone/>
            </a:pP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Parents hold their children's hashes, so one commit hash protects the whole project.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ALGORITHM → IMPLEMENTATION</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Algorithm and Implementation in C</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143000"/>
            <a:ext cx="1463040" cy="868680"/>
          </a:xfrm>
          <a:prstGeom prst="roundRect">
            <a:avLst>
              <a:gd name="adj" fmla="val 8421"/>
            </a:avLst>
          </a:prstGeom>
          <a:solidFill>
            <a:srgbClr val="EEF2F7"/>
          </a:solidFill>
          <a:ln w="12700">
            <a:solidFill>
              <a:srgbClr val="EEF2F7"/>
            </a:solidFill>
            <a:prstDash val="solid"/>
          </a:ln>
        </p:spPr>
      </p:sp>
      <p:sp>
        <p:nvSpPr>
          <p:cNvPr id="6" name="Text 4"/>
          <p:cNvSpPr txBox="1"/>
          <p:nvPr/>
        </p:nvSpPr>
        <p:spPr>
          <a:xfrm>
            <a:off x="457200" y="1216152"/>
            <a:ext cx="1463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 Read file</a:t>
            </a:r>
            <a:endParaRPr lang="en-US" sz="1200" dirty="0"/>
          </a:p>
        </p:txBody>
      </p:sp>
      <p:sp>
        <p:nvSpPr>
          <p:cNvPr id="7" name="Text 5"/>
          <p:cNvSpPr txBox="1"/>
          <p:nvPr/>
        </p:nvSpPr>
        <p:spPr>
          <a:xfrm>
            <a:off x="457200" y="1554480"/>
            <a:ext cx="1463040" cy="320040"/>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fopen, fread</a:t>
            </a:r>
            <a:endParaRPr lang="en-US" sz="950" dirty="0"/>
          </a:p>
        </p:txBody>
      </p:sp>
      <p:sp>
        <p:nvSpPr>
          <p:cNvPr id="8" name="Shape 6"/>
          <p:cNvSpPr/>
          <p:nvPr/>
        </p:nvSpPr>
        <p:spPr>
          <a:xfrm>
            <a:off x="1947672" y="1572768"/>
            <a:ext cx="182880" cy="0"/>
          </a:xfrm>
          <a:prstGeom prst="line">
            <a:avLst/>
          </a:prstGeom>
          <a:noFill/>
          <a:ln w="19050">
            <a:solidFill>
              <a:srgbClr val="5B6472"/>
            </a:solidFill>
            <a:prstDash val="solid"/>
            <a:tailEnd type="triangle"/>
          </a:ln>
        </p:spPr>
      </p:sp>
      <p:sp>
        <p:nvSpPr>
          <p:cNvPr id="9" name="Shape 7"/>
          <p:cNvSpPr/>
          <p:nvPr/>
        </p:nvSpPr>
        <p:spPr>
          <a:xfrm>
            <a:off x="2157984" y="1143000"/>
            <a:ext cx="1463040" cy="868680"/>
          </a:xfrm>
          <a:prstGeom prst="roundRect">
            <a:avLst>
              <a:gd name="adj" fmla="val 8421"/>
            </a:avLst>
          </a:prstGeom>
          <a:solidFill>
            <a:srgbClr val="EEF2F7"/>
          </a:solidFill>
          <a:ln w="12700">
            <a:solidFill>
              <a:srgbClr val="EEF2F7"/>
            </a:solidFill>
            <a:prstDash val="solid"/>
          </a:ln>
        </p:spPr>
      </p:sp>
      <p:sp>
        <p:nvSpPr>
          <p:cNvPr id="10" name="Text 8"/>
          <p:cNvSpPr txBox="1"/>
          <p:nvPr/>
        </p:nvSpPr>
        <p:spPr>
          <a:xfrm>
            <a:off x="2157984" y="1216152"/>
            <a:ext cx="1463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 Add header</a:t>
            </a:r>
            <a:endParaRPr lang="en-US" sz="1200" dirty="0"/>
          </a:p>
        </p:txBody>
      </p:sp>
      <p:sp>
        <p:nvSpPr>
          <p:cNvPr id="11" name="Text 9"/>
          <p:cNvSpPr txBox="1"/>
          <p:nvPr/>
        </p:nvSpPr>
        <p:spPr>
          <a:xfrm>
            <a:off x="2157984" y="1554480"/>
            <a:ext cx="1463040" cy="320040"/>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12\0"</a:t>
            </a:r>
            <a:endParaRPr lang="en-US" sz="950" dirty="0"/>
          </a:p>
        </p:txBody>
      </p:sp>
      <p:sp>
        <p:nvSpPr>
          <p:cNvPr id="12" name="Shape 10"/>
          <p:cNvSpPr/>
          <p:nvPr/>
        </p:nvSpPr>
        <p:spPr>
          <a:xfrm>
            <a:off x="3648456" y="1572768"/>
            <a:ext cx="182880" cy="0"/>
          </a:xfrm>
          <a:prstGeom prst="line">
            <a:avLst/>
          </a:prstGeom>
          <a:noFill/>
          <a:ln w="19050">
            <a:solidFill>
              <a:srgbClr val="5B6472"/>
            </a:solidFill>
            <a:prstDash val="solid"/>
            <a:tailEnd type="triangle"/>
          </a:ln>
        </p:spPr>
      </p:sp>
      <p:sp>
        <p:nvSpPr>
          <p:cNvPr id="13" name="Shape 11"/>
          <p:cNvSpPr/>
          <p:nvPr/>
        </p:nvSpPr>
        <p:spPr>
          <a:xfrm>
            <a:off x="3858768" y="1143000"/>
            <a:ext cx="1463040" cy="868680"/>
          </a:xfrm>
          <a:prstGeom prst="roundRect">
            <a:avLst>
              <a:gd name="adj" fmla="val 8421"/>
            </a:avLst>
          </a:prstGeom>
          <a:solidFill>
            <a:srgbClr val="EEF2F7"/>
          </a:solidFill>
          <a:ln w="12700">
            <a:solidFill>
              <a:srgbClr val="EEF2F7"/>
            </a:solidFill>
            <a:prstDash val="solid"/>
          </a:ln>
        </p:spPr>
      </p:sp>
      <p:sp>
        <p:nvSpPr>
          <p:cNvPr id="14" name="Text 12"/>
          <p:cNvSpPr txBox="1"/>
          <p:nvPr/>
        </p:nvSpPr>
        <p:spPr>
          <a:xfrm>
            <a:off x="3858768" y="1216152"/>
            <a:ext cx="1463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 SHA-1 hash</a:t>
            </a:r>
            <a:endParaRPr lang="en-US" sz="1200" dirty="0"/>
          </a:p>
        </p:txBody>
      </p:sp>
      <p:sp>
        <p:nvSpPr>
          <p:cNvPr id="15" name="Text 13"/>
          <p:cNvSpPr txBox="1"/>
          <p:nvPr/>
        </p:nvSpPr>
        <p:spPr>
          <a:xfrm>
            <a:off x="3858768" y="1554480"/>
            <a:ext cx="1463040" cy="320040"/>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557db03d…</a:t>
            </a:r>
            <a:endParaRPr lang="en-US" sz="950" dirty="0"/>
          </a:p>
        </p:txBody>
      </p:sp>
      <p:sp>
        <p:nvSpPr>
          <p:cNvPr id="16" name="Shape 14"/>
          <p:cNvSpPr/>
          <p:nvPr/>
        </p:nvSpPr>
        <p:spPr>
          <a:xfrm>
            <a:off x="5349240" y="1572768"/>
            <a:ext cx="182880" cy="0"/>
          </a:xfrm>
          <a:prstGeom prst="line">
            <a:avLst/>
          </a:prstGeom>
          <a:noFill/>
          <a:ln w="19050">
            <a:solidFill>
              <a:srgbClr val="5B6472"/>
            </a:solidFill>
            <a:prstDash val="solid"/>
            <a:tailEnd type="triangle"/>
          </a:ln>
        </p:spPr>
      </p:sp>
      <p:sp>
        <p:nvSpPr>
          <p:cNvPr id="17" name="Shape 15"/>
          <p:cNvSpPr/>
          <p:nvPr/>
        </p:nvSpPr>
        <p:spPr>
          <a:xfrm>
            <a:off x="5559552" y="1143000"/>
            <a:ext cx="1463040" cy="868680"/>
          </a:xfrm>
          <a:prstGeom prst="roundRect">
            <a:avLst>
              <a:gd name="adj" fmla="val 8421"/>
            </a:avLst>
          </a:prstGeom>
          <a:solidFill>
            <a:srgbClr val="E3F4F1"/>
          </a:solidFill>
          <a:ln w="12700">
            <a:solidFill>
              <a:srgbClr val="E3F4F1"/>
            </a:solidFill>
            <a:prstDash val="solid"/>
          </a:ln>
        </p:spPr>
      </p:sp>
      <p:sp>
        <p:nvSpPr>
          <p:cNvPr id="18" name="Text 16"/>
          <p:cNvSpPr txBox="1"/>
          <p:nvPr/>
        </p:nvSpPr>
        <p:spPr>
          <a:xfrm>
            <a:off x="5559552" y="1216152"/>
            <a:ext cx="1463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 Already stored?</a:t>
            </a:r>
            <a:endParaRPr lang="en-US" sz="1200" dirty="0"/>
          </a:p>
        </p:txBody>
      </p:sp>
      <p:sp>
        <p:nvSpPr>
          <p:cNvPr id="19" name="Text 17"/>
          <p:cNvSpPr txBox="1"/>
          <p:nvPr/>
        </p:nvSpPr>
        <p:spPr>
          <a:xfrm>
            <a:off x="5559552" y="1554480"/>
            <a:ext cx="1463040" cy="320040"/>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yes → skip</a:t>
            </a:r>
            <a:endParaRPr lang="en-US" sz="950" dirty="0"/>
          </a:p>
        </p:txBody>
      </p:sp>
      <p:sp>
        <p:nvSpPr>
          <p:cNvPr id="20" name="Shape 18"/>
          <p:cNvSpPr/>
          <p:nvPr/>
        </p:nvSpPr>
        <p:spPr>
          <a:xfrm>
            <a:off x="7050024" y="1572768"/>
            <a:ext cx="182880" cy="0"/>
          </a:xfrm>
          <a:prstGeom prst="line">
            <a:avLst/>
          </a:prstGeom>
          <a:noFill/>
          <a:ln w="19050">
            <a:solidFill>
              <a:srgbClr val="5B6472"/>
            </a:solidFill>
            <a:prstDash val="solid"/>
            <a:tailEnd type="triangle"/>
          </a:ln>
        </p:spPr>
      </p:sp>
      <p:sp>
        <p:nvSpPr>
          <p:cNvPr id="21" name="Shape 19"/>
          <p:cNvSpPr/>
          <p:nvPr/>
        </p:nvSpPr>
        <p:spPr>
          <a:xfrm>
            <a:off x="7260336" y="1143000"/>
            <a:ext cx="1463040" cy="868680"/>
          </a:xfrm>
          <a:prstGeom prst="roundRect">
            <a:avLst>
              <a:gd name="adj" fmla="val 8421"/>
            </a:avLst>
          </a:prstGeom>
          <a:solidFill>
            <a:srgbClr val="EEF2F7"/>
          </a:solidFill>
          <a:ln w="12700">
            <a:solidFill>
              <a:srgbClr val="EEF2F7"/>
            </a:solidFill>
            <a:prstDash val="solid"/>
          </a:ln>
        </p:spPr>
      </p:sp>
      <p:sp>
        <p:nvSpPr>
          <p:cNvPr id="22" name="Text 20"/>
          <p:cNvSpPr txBox="1"/>
          <p:nvPr/>
        </p:nvSpPr>
        <p:spPr>
          <a:xfrm>
            <a:off x="7260336" y="1216152"/>
            <a:ext cx="1463040" cy="32004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 Write object</a:t>
            </a:r>
            <a:endParaRPr lang="en-US" sz="1200" dirty="0"/>
          </a:p>
        </p:txBody>
      </p:sp>
      <p:sp>
        <p:nvSpPr>
          <p:cNvPr id="23" name="Text 21"/>
          <p:cNvSpPr txBox="1"/>
          <p:nvPr/>
        </p:nvSpPr>
        <p:spPr>
          <a:xfrm>
            <a:off x="7260336" y="1554480"/>
            <a:ext cx="1463040" cy="320040"/>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objects/55/…</a:t>
            </a:r>
            <a:endParaRPr lang="en-US" sz="950" dirty="0"/>
          </a:p>
        </p:txBody>
      </p:sp>
      <p:sp>
        <p:nvSpPr>
          <p:cNvPr id="24" name="Text 22"/>
          <p:cNvSpPr txBox="1"/>
          <p:nvPr/>
        </p:nvSpPr>
        <p:spPr>
          <a:xfrm>
            <a:off x="457200" y="2240280"/>
            <a:ext cx="3931920" cy="274320"/>
          </a:xfrm>
          <a:prstGeom prst="rect">
            <a:avLst/>
          </a:prstGeom>
          <a:noFill/>
          <a:ln/>
        </p:spPr>
        <p:txBody>
          <a:bodyPr wrap="square" lIns="0" tIns="0" rIns="0" bIns="0" rtlCol="0" anchor="ctr"/>
          <a:lstStyle/>
          <a:p>
            <a:pPr indent="0" marL="0">
              <a:buNone/>
            </a:pPr>
            <a:r>
              <a:rPr lang="en-US" sz="1250" b="1" dirty="0">
                <a:solidFill>
                  <a:srgbClr val="B26A00"/>
                </a:solidFill>
                <a:latin typeface="Calibri" pitchFamily="34" charset="0"/>
                <a:ea typeface="Calibri" pitchFamily="34" charset="-122"/>
                <a:cs typeface="Calibri" pitchFamily="34" charset="-120"/>
              </a:rPr>
              <a:t>minigit.c: function → C concept</a:t>
            </a:r>
            <a:endParaRPr lang="en-US" sz="1250" dirty="0"/>
          </a:p>
        </p:txBody>
      </p:sp>
      <p:sp>
        <p:nvSpPr>
          <p:cNvPr id="25" name="Shape 23"/>
          <p:cNvSpPr/>
          <p:nvPr/>
        </p:nvSpPr>
        <p:spPr>
          <a:xfrm>
            <a:off x="457200" y="2560320"/>
            <a:ext cx="3931920" cy="347472"/>
          </a:xfrm>
          <a:prstGeom prst="roundRect">
            <a:avLst>
              <a:gd name="adj" fmla="val 21053"/>
            </a:avLst>
          </a:prstGeom>
          <a:solidFill>
            <a:srgbClr val="EEF2F7"/>
          </a:solidFill>
          <a:ln w="12700">
            <a:solidFill>
              <a:srgbClr val="EEF2F7"/>
            </a:solidFill>
            <a:prstDash val="solid"/>
          </a:ln>
        </p:spPr>
      </p:sp>
      <p:sp>
        <p:nvSpPr>
          <p:cNvPr id="26" name="Text 24"/>
          <p:cNvSpPr txBox="1"/>
          <p:nvPr/>
        </p:nvSpPr>
        <p:spPr>
          <a:xfrm>
            <a:off x="548640" y="2560320"/>
            <a:ext cx="1737360" cy="347472"/>
          </a:xfrm>
          <a:prstGeom prst="rect">
            <a:avLst/>
          </a:prstGeom>
          <a:noFill/>
          <a:ln/>
        </p:spPr>
        <p:txBody>
          <a:bodyPr wrap="square" lIns="0" tIns="0" rIns="0" bIns="0" rtlCol="0" anchor="ctr"/>
          <a:lstStyle/>
          <a:p>
            <a:pPr indent="0" marL="0">
              <a:buNone/>
            </a:pPr>
            <a:r>
              <a:rPr lang="en-US" sz="1000" b="1" dirty="0">
                <a:solidFill>
                  <a:srgbClr val="14213D"/>
                </a:solidFill>
                <a:latin typeface="Courier New" pitchFamily="34" charset="0"/>
                <a:ea typeface="Courier New" pitchFamily="34" charset="-122"/>
                <a:cs typeface="Courier New" pitchFamily="34" charset="-120"/>
              </a:rPr>
              <a:t>sha1()</a:t>
            </a:r>
            <a:endParaRPr lang="en-US" sz="1000" dirty="0"/>
          </a:p>
        </p:txBody>
      </p:sp>
      <p:sp>
        <p:nvSpPr>
          <p:cNvPr id="27" name="Text 25"/>
          <p:cNvSpPr txBox="1"/>
          <p:nvPr/>
        </p:nvSpPr>
        <p:spPr>
          <a:xfrm>
            <a:off x="2286000" y="2560320"/>
            <a:ext cx="2057400" cy="347472"/>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bitwise &lt;&lt; &gt;&gt; ^ &amp;, uint32_t</a:t>
            </a:r>
            <a:endParaRPr lang="en-US" sz="1100" dirty="0"/>
          </a:p>
        </p:txBody>
      </p:sp>
      <p:sp>
        <p:nvSpPr>
          <p:cNvPr id="28" name="Shape 26"/>
          <p:cNvSpPr/>
          <p:nvPr/>
        </p:nvSpPr>
        <p:spPr>
          <a:xfrm>
            <a:off x="457200" y="2962656"/>
            <a:ext cx="3931920" cy="347472"/>
          </a:xfrm>
          <a:prstGeom prst="roundRect">
            <a:avLst>
              <a:gd name="adj" fmla="val 21053"/>
            </a:avLst>
          </a:prstGeom>
          <a:solidFill>
            <a:srgbClr val="FFFFFF"/>
          </a:solidFill>
          <a:ln w="12700">
            <a:solidFill>
              <a:srgbClr val="FFFFFF"/>
            </a:solidFill>
            <a:prstDash val="solid"/>
          </a:ln>
        </p:spPr>
      </p:sp>
      <p:sp>
        <p:nvSpPr>
          <p:cNvPr id="29" name="Text 27"/>
          <p:cNvSpPr txBox="1"/>
          <p:nvPr/>
        </p:nvSpPr>
        <p:spPr>
          <a:xfrm>
            <a:off x="548640" y="2962656"/>
            <a:ext cx="1737360" cy="347472"/>
          </a:xfrm>
          <a:prstGeom prst="rect">
            <a:avLst/>
          </a:prstGeom>
          <a:noFill/>
          <a:ln/>
        </p:spPr>
        <p:txBody>
          <a:bodyPr wrap="square" lIns="0" tIns="0" rIns="0" bIns="0" rtlCol="0" anchor="ctr"/>
          <a:lstStyle/>
          <a:p>
            <a:pPr indent="0" marL="0">
              <a:buNone/>
            </a:pPr>
            <a:r>
              <a:rPr lang="en-US" sz="1000" b="1" dirty="0">
                <a:solidFill>
                  <a:srgbClr val="14213D"/>
                </a:solidFill>
                <a:latin typeface="Courier New" pitchFamily="34" charset="0"/>
                <a:ea typeface="Courier New" pitchFamily="34" charset="-122"/>
                <a:cs typeface="Courier New" pitchFamily="34" charset="-120"/>
              </a:rPr>
              <a:t>cmd_hash_object()</a:t>
            </a:r>
            <a:endParaRPr lang="en-US" sz="1000" dirty="0"/>
          </a:p>
        </p:txBody>
      </p:sp>
      <p:sp>
        <p:nvSpPr>
          <p:cNvPr id="30" name="Text 28"/>
          <p:cNvSpPr txBox="1"/>
          <p:nvPr/>
        </p:nvSpPr>
        <p:spPr>
          <a:xfrm>
            <a:off x="2286000" y="2962656"/>
            <a:ext cx="2057400" cy="347472"/>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malloc, memcpy, sprintf</a:t>
            </a:r>
            <a:endParaRPr lang="en-US" sz="1100" dirty="0"/>
          </a:p>
        </p:txBody>
      </p:sp>
      <p:sp>
        <p:nvSpPr>
          <p:cNvPr id="31" name="Shape 29"/>
          <p:cNvSpPr/>
          <p:nvPr/>
        </p:nvSpPr>
        <p:spPr>
          <a:xfrm>
            <a:off x="457200" y="3364992"/>
            <a:ext cx="3931920" cy="347472"/>
          </a:xfrm>
          <a:prstGeom prst="roundRect">
            <a:avLst>
              <a:gd name="adj" fmla="val 21053"/>
            </a:avLst>
          </a:prstGeom>
          <a:solidFill>
            <a:srgbClr val="EEF2F7"/>
          </a:solidFill>
          <a:ln w="12700">
            <a:solidFill>
              <a:srgbClr val="EEF2F7"/>
            </a:solidFill>
            <a:prstDash val="solid"/>
          </a:ln>
        </p:spPr>
      </p:sp>
      <p:sp>
        <p:nvSpPr>
          <p:cNvPr id="32" name="Text 30"/>
          <p:cNvSpPr txBox="1"/>
          <p:nvPr/>
        </p:nvSpPr>
        <p:spPr>
          <a:xfrm>
            <a:off x="548640" y="3364992"/>
            <a:ext cx="1737360" cy="347472"/>
          </a:xfrm>
          <a:prstGeom prst="rect">
            <a:avLst/>
          </a:prstGeom>
          <a:noFill/>
          <a:ln/>
        </p:spPr>
        <p:txBody>
          <a:bodyPr wrap="square" lIns="0" tIns="0" rIns="0" bIns="0" rtlCol="0" anchor="ctr"/>
          <a:lstStyle/>
          <a:p>
            <a:pPr indent="0" marL="0">
              <a:buNone/>
            </a:pPr>
            <a:r>
              <a:rPr lang="en-US" sz="1000" b="1" dirty="0">
                <a:solidFill>
                  <a:srgbClr val="14213D"/>
                </a:solidFill>
                <a:latin typeface="Courier New" pitchFamily="34" charset="0"/>
                <a:ea typeface="Courier New" pitchFamily="34" charset="-122"/>
                <a:cs typeface="Courier New" pitchFamily="34" charset="-120"/>
              </a:rPr>
              <a:t>cmd_cat_file()</a:t>
            </a:r>
            <a:endParaRPr lang="en-US" sz="1000" dirty="0"/>
          </a:p>
        </p:txBody>
      </p:sp>
      <p:sp>
        <p:nvSpPr>
          <p:cNvPr id="33" name="Text 31"/>
          <p:cNvSpPr txBox="1"/>
          <p:nvPr/>
        </p:nvSpPr>
        <p:spPr>
          <a:xfrm>
            <a:off x="2286000" y="3364992"/>
            <a:ext cx="2057400" cy="347472"/>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read object, skip header</a:t>
            </a:r>
            <a:endParaRPr lang="en-US" sz="1100" dirty="0"/>
          </a:p>
        </p:txBody>
      </p:sp>
      <p:sp>
        <p:nvSpPr>
          <p:cNvPr id="34" name="Shape 32"/>
          <p:cNvSpPr/>
          <p:nvPr/>
        </p:nvSpPr>
        <p:spPr>
          <a:xfrm>
            <a:off x="457200" y="3767328"/>
            <a:ext cx="3931920" cy="347472"/>
          </a:xfrm>
          <a:prstGeom prst="roundRect">
            <a:avLst>
              <a:gd name="adj" fmla="val 21053"/>
            </a:avLst>
          </a:prstGeom>
          <a:solidFill>
            <a:srgbClr val="FFFFFF"/>
          </a:solidFill>
          <a:ln w="12700">
            <a:solidFill>
              <a:srgbClr val="FFFFFF"/>
            </a:solidFill>
            <a:prstDash val="solid"/>
          </a:ln>
        </p:spPr>
      </p:sp>
      <p:sp>
        <p:nvSpPr>
          <p:cNvPr id="35" name="Text 33"/>
          <p:cNvSpPr txBox="1"/>
          <p:nvPr/>
        </p:nvSpPr>
        <p:spPr>
          <a:xfrm>
            <a:off x="548640" y="3767328"/>
            <a:ext cx="1737360" cy="347472"/>
          </a:xfrm>
          <a:prstGeom prst="rect">
            <a:avLst/>
          </a:prstGeom>
          <a:noFill/>
          <a:ln/>
        </p:spPr>
        <p:txBody>
          <a:bodyPr wrap="square" lIns="0" tIns="0" rIns="0" bIns="0" rtlCol="0" anchor="ctr"/>
          <a:lstStyle/>
          <a:p>
            <a:pPr indent="0" marL="0">
              <a:buNone/>
            </a:pPr>
            <a:r>
              <a:rPr lang="en-US" sz="1000" b="1" dirty="0">
                <a:solidFill>
                  <a:srgbClr val="14213D"/>
                </a:solidFill>
                <a:latin typeface="Courier New" pitchFamily="34" charset="0"/>
                <a:ea typeface="Courier New" pitchFamily="34" charset="-122"/>
                <a:cs typeface="Courier New" pitchFamily="34" charset="-120"/>
              </a:rPr>
              <a:t>cmd_verify()</a:t>
            </a:r>
            <a:endParaRPr lang="en-US" sz="1000" dirty="0"/>
          </a:p>
        </p:txBody>
      </p:sp>
      <p:sp>
        <p:nvSpPr>
          <p:cNvPr id="36" name="Text 34"/>
          <p:cNvSpPr txBox="1"/>
          <p:nvPr/>
        </p:nvSpPr>
        <p:spPr>
          <a:xfrm>
            <a:off x="2286000" y="3767328"/>
            <a:ext cx="2057400" cy="347472"/>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re-hash and strcmp</a:t>
            </a:r>
            <a:endParaRPr lang="en-US" sz="1100" dirty="0"/>
          </a:p>
        </p:txBody>
      </p:sp>
      <p:sp>
        <p:nvSpPr>
          <p:cNvPr id="37" name="Shape 35"/>
          <p:cNvSpPr/>
          <p:nvPr/>
        </p:nvSpPr>
        <p:spPr>
          <a:xfrm>
            <a:off x="457200" y="4169664"/>
            <a:ext cx="3931920" cy="347472"/>
          </a:xfrm>
          <a:prstGeom prst="roundRect">
            <a:avLst>
              <a:gd name="adj" fmla="val 21053"/>
            </a:avLst>
          </a:prstGeom>
          <a:solidFill>
            <a:srgbClr val="EEF2F7"/>
          </a:solidFill>
          <a:ln w="12700">
            <a:solidFill>
              <a:srgbClr val="EEF2F7"/>
            </a:solidFill>
            <a:prstDash val="solid"/>
          </a:ln>
        </p:spPr>
      </p:sp>
      <p:sp>
        <p:nvSpPr>
          <p:cNvPr id="38" name="Text 36"/>
          <p:cNvSpPr txBox="1"/>
          <p:nvPr/>
        </p:nvSpPr>
        <p:spPr>
          <a:xfrm>
            <a:off x="548640" y="4169664"/>
            <a:ext cx="1737360" cy="347472"/>
          </a:xfrm>
          <a:prstGeom prst="rect">
            <a:avLst/>
          </a:prstGeom>
          <a:noFill/>
          <a:ln/>
        </p:spPr>
        <p:txBody>
          <a:bodyPr wrap="square" lIns="0" tIns="0" rIns="0" bIns="0" rtlCol="0" anchor="ctr"/>
          <a:lstStyle/>
          <a:p>
            <a:pPr indent="0" marL="0">
              <a:buNone/>
            </a:pPr>
            <a:r>
              <a:rPr lang="en-US" sz="1000" b="1" dirty="0">
                <a:solidFill>
                  <a:srgbClr val="14213D"/>
                </a:solidFill>
                <a:latin typeface="Courier New" pitchFamily="34" charset="0"/>
                <a:ea typeface="Courier New" pitchFamily="34" charset="-122"/>
                <a:cs typeface="Courier New" pitchFamily="34" charset="-120"/>
              </a:rPr>
              <a:t>main()</a:t>
            </a:r>
            <a:endParaRPr lang="en-US" sz="1000" dirty="0"/>
          </a:p>
        </p:txBody>
      </p:sp>
      <p:sp>
        <p:nvSpPr>
          <p:cNvPr id="39" name="Text 37"/>
          <p:cNvSpPr txBox="1"/>
          <p:nvPr/>
        </p:nvSpPr>
        <p:spPr>
          <a:xfrm>
            <a:off x="2286000" y="4169664"/>
            <a:ext cx="2057400" cy="347472"/>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argc / argv commands</a:t>
            </a:r>
            <a:endParaRPr lang="en-US" sz="1100" dirty="0"/>
          </a:p>
        </p:txBody>
      </p:sp>
      <p:sp>
        <p:nvSpPr>
          <p:cNvPr id="40" name="Shape 38"/>
          <p:cNvSpPr/>
          <p:nvPr/>
        </p:nvSpPr>
        <p:spPr>
          <a:xfrm>
            <a:off x="4617720" y="2240280"/>
            <a:ext cx="4069080" cy="2423160"/>
          </a:xfrm>
          <a:prstGeom prst="roundRect">
            <a:avLst>
              <a:gd name="adj" fmla="val 3019"/>
            </a:avLst>
          </a:prstGeom>
          <a:solidFill>
            <a:srgbClr val="0F172A"/>
          </a:solidFill>
          <a:ln w="12700">
            <a:solidFill>
              <a:srgbClr val="0F172A"/>
            </a:solidFill>
            <a:prstDash val="solid"/>
          </a:ln>
        </p:spPr>
      </p:sp>
      <p:sp>
        <p:nvSpPr>
          <p:cNvPr id="41" name="Text 39"/>
          <p:cNvSpPr txBox="1"/>
          <p:nvPr/>
        </p:nvSpPr>
        <p:spPr>
          <a:xfrm>
            <a:off x="4754880" y="2331720"/>
            <a:ext cx="3840480" cy="2286000"/>
          </a:xfrm>
          <a:prstGeom prst="rect">
            <a:avLst/>
          </a:prstGeom>
          <a:noFill/>
          <a:ln/>
        </p:spPr>
        <p:txBody>
          <a:bodyPr wrap="square" lIns="0" tIns="0" rIns="0" bIns="0" rtlCol="0" anchor="t"/>
          <a:lstStyle/>
          <a:p>
            <a:pPr indent="0" marL="0">
              <a:buNone/>
            </a:pPr>
            <a:r>
              <a:rPr lang="en-US" sz="950" dirty="0">
                <a:solidFill>
                  <a:srgbClr val="E5E7EB"/>
                </a:solidFill>
                <a:latin typeface="Courier New" pitchFamily="34" charset="0"/>
                <a:ea typeface="Courier New" pitchFamily="34" charset="-122"/>
                <a:cs typeface="Courier New" pitchFamily="34" charset="-120"/>
              </a:rPr>
              <a:t>$ ./minigit hash-object a.txt</a:t>
            </a:r>
            <a:endParaRPr lang="en-US" sz="950" dirty="0"/>
          </a:p>
          <a:p>
            <a:pPr indent="0" marL="0">
              <a:buNone/>
            </a:pPr>
            <a:r>
              <a:rPr lang="en-US" sz="950" dirty="0">
                <a:solidFill>
                  <a:srgbClr val="FCA311"/>
                </a:solidFill>
                <a:latin typeface="Courier New" pitchFamily="34" charset="0"/>
                <a:ea typeface="Courier New" pitchFamily="34" charset="-122"/>
                <a:cs typeface="Courier New" pitchFamily="34" charset="-120"/>
              </a:rPr>
              <a:t>557db03de997c86a4a028e1ebd3a1ceb225be238</a:t>
            </a:r>
            <a:endParaRPr lang="en-US" sz="950" dirty="0"/>
          </a:p>
          <a:p>
            <a:pPr indent="0" marL="0">
              <a:buNone/>
            </a:pPr>
            <a:r>
              <a:rPr lang="en-US" sz="950" dirty="0">
                <a:solidFill>
                  <a:srgbClr val="E5E7EB"/>
                </a:solidFill>
                <a:latin typeface="Courier New" pitchFamily="34" charset="0"/>
                <a:ea typeface="Courier New" pitchFamily="34" charset="-122"/>
                <a:cs typeface="Courier New" pitchFamily="34" charset="-120"/>
              </a:rPr>
              <a:t>$ git hash-object a.txt   # real Git</a:t>
            </a:r>
            <a:endParaRPr lang="en-US" sz="950" dirty="0"/>
          </a:p>
          <a:p>
            <a:pPr indent="0" marL="0">
              <a:buNone/>
            </a:pPr>
            <a:r>
              <a:rPr lang="en-US" sz="950" dirty="0">
                <a:solidFill>
                  <a:srgbClr val="FCA311"/>
                </a:solidFill>
                <a:latin typeface="Courier New" pitchFamily="34" charset="0"/>
                <a:ea typeface="Courier New" pitchFamily="34" charset="-122"/>
                <a:cs typeface="Courier New" pitchFamily="34" charset="-120"/>
              </a:rPr>
              <a:t>557db03de997c86a4a028e1ebd3a1ceb225be238</a:t>
            </a:r>
            <a:endParaRPr lang="en-US" sz="950" dirty="0"/>
          </a:p>
          <a:p>
            <a:pPr indent="0" marL="0">
              <a:buNone/>
            </a:pPr>
            <a:r>
              <a:rPr lang="en-US" sz="950" dirty="0">
                <a:solidFill>
                  <a:srgbClr val="E5E7EB"/>
                </a:solidFill>
                <a:latin typeface="Courier New" pitchFamily="34" charset="0"/>
                <a:ea typeface="Courier New" pitchFamily="34" charset="-122"/>
                <a:cs typeface="Courier New" pitchFamily="34" charset="-120"/>
              </a:rPr>
              <a:t>$ ./minigit hash-object b.txt  # same text</a:t>
            </a:r>
            <a:endParaRPr lang="en-US" sz="950" dirty="0"/>
          </a:p>
          <a:p>
            <a:pPr indent="0" marL="0">
              <a:buNone/>
            </a:pPr>
            <a:r>
              <a:rPr lang="en-US" sz="950" dirty="0">
                <a:solidFill>
                  <a:srgbClr val="4ADE80"/>
                </a:solidFill>
                <a:latin typeface="Courier New" pitchFamily="34" charset="0"/>
                <a:ea typeface="Courier New" pitchFamily="34" charset="-122"/>
                <a:cs typeface="Courier New" pitchFamily="34" charset="-120"/>
              </a:rPr>
              <a:t>already stored (deduplicated)</a:t>
            </a:r>
            <a:endParaRPr lang="en-US" sz="950" dirty="0"/>
          </a:p>
          <a:p>
            <a:pPr indent="0" marL="0">
              <a:buNone/>
            </a:pPr>
            <a:r>
              <a:rPr lang="en-US" sz="950" dirty="0">
                <a:solidFill>
                  <a:srgbClr val="E5E7EB"/>
                </a:solidFill>
                <a:latin typeface="Courier New" pitchFamily="34" charset="0"/>
                <a:ea typeface="Courier New" pitchFamily="34" charset="-122"/>
                <a:cs typeface="Courier New" pitchFamily="34" charset="-120"/>
              </a:rPr>
              <a:t>$ ./minigit verify 557db03…</a:t>
            </a:r>
            <a:endParaRPr lang="en-US" sz="950" dirty="0"/>
          </a:p>
          <a:p>
            <a:pPr indent="0" marL="0">
              <a:buNone/>
            </a:pPr>
            <a:r>
              <a:rPr lang="en-US" sz="950" dirty="0">
                <a:solidFill>
                  <a:srgbClr val="4ADE80"/>
                </a:solidFill>
                <a:latin typeface="Courier New" pitchFamily="34" charset="0"/>
                <a:ea typeface="Courier New" pitchFamily="34" charset="-122"/>
                <a:cs typeface="Courier New" pitchFamily="34" charset="-120"/>
              </a:rPr>
              <a:t>OK: object is intact</a:t>
            </a:r>
            <a:endParaRPr lang="en-US" sz="950" dirty="0"/>
          </a:p>
          <a:p>
            <a:pPr indent="0" marL="0">
              <a:buNone/>
            </a:pPr>
            <a:r>
              <a:rPr lang="en-US" sz="950" dirty="0">
                <a:solidFill>
                  <a:srgbClr val="9CA3AF"/>
                </a:solidFill>
                <a:latin typeface="Courier New" pitchFamily="34" charset="0"/>
                <a:ea typeface="Courier New" pitchFamily="34" charset="-122"/>
                <a:cs typeface="Courier New" pitchFamily="34" charset="-120"/>
              </a:rPr>
              <a:t># after changing 1 byte of the object:</a:t>
            </a:r>
            <a:endParaRPr lang="en-US" sz="950" dirty="0"/>
          </a:p>
          <a:p>
            <a:pPr indent="0" marL="0">
              <a:buNone/>
            </a:pPr>
            <a:r>
              <a:rPr lang="en-US" sz="950" dirty="0">
                <a:solidFill>
                  <a:srgbClr val="F87171"/>
                </a:solidFill>
                <a:latin typeface="Courier New" pitchFamily="34" charset="0"/>
                <a:ea typeface="Courier New" pitchFamily="34" charset="-122"/>
                <a:cs typeface="Courier New" pitchFamily="34" charset="-120"/>
              </a:rPr>
              <a:t>CORRUPTED! expected 557db03…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ORIGINAL ANALYSIS</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Original Figure: What Happens When One File Changes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822960" y="1097280"/>
            <a:ext cx="1828800" cy="22860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Version 1</a:t>
            </a:r>
            <a:endParaRPr lang="en-US" sz="1100" dirty="0"/>
          </a:p>
        </p:txBody>
      </p:sp>
      <p:sp>
        <p:nvSpPr>
          <p:cNvPr id="6" name="Text 4"/>
          <p:cNvSpPr txBox="1"/>
          <p:nvPr/>
        </p:nvSpPr>
        <p:spPr>
          <a:xfrm>
            <a:off x="4297680" y="1097280"/>
            <a:ext cx="2377440" cy="22860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Version 2 (main.c edited)</a:t>
            </a:r>
            <a:endParaRPr lang="en-US" sz="1100" dirty="0"/>
          </a:p>
        </p:txBody>
      </p:sp>
      <p:sp>
        <p:nvSpPr>
          <p:cNvPr id="7" name="Shape 5"/>
          <p:cNvSpPr/>
          <p:nvPr/>
        </p:nvSpPr>
        <p:spPr>
          <a:xfrm>
            <a:off x="822960" y="1371600"/>
            <a:ext cx="1828800" cy="566928"/>
          </a:xfrm>
          <a:prstGeom prst="roundRect">
            <a:avLst>
              <a:gd name="adj" fmla="val 12903"/>
            </a:avLst>
          </a:prstGeom>
          <a:solidFill>
            <a:srgbClr val="14213D"/>
          </a:solidFill>
          <a:ln w="12700">
            <a:solidFill>
              <a:srgbClr val="14213D"/>
            </a:solidFill>
            <a:prstDash val="solid"/>
          </a:ln>
        </p:spPr>
      </p:sp>
      <p:sp>
        <p:nvSpPr>
          <p:cNvPr id="8" name="Text 6"/>
          <p:cNvSpPr txBox="1"/>
          <p:nvPr/>
        </p:nvSpPr>
        <p:spPr>
          <a:xfrm>
            <a:off x="822960" y="1408176"/>
            <a:ext cx="182880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Commit C1</a:t>
            </a:r>
            <a:endParaRPr lang="en-US" sz="1250" dirty="0"/>
          </a:p>
        </p:txBody>
      </p:sp>
      <p:sp>
        <p:nvSpPr>
          <p:cNvPr id="9" name="Text 7"/>
          <p:cNvSpPr txBox="1"/>
          <p:nvPr/>
        </p:nvSpPr>
        <p:spPr>
          <a:xfrm>
            <a:off x="822960" y="1664208"/>
            <a:ext cx="182880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ourier New" pitchFamily="34" charset="0"/>
                <a:ea typeface="Courier New" pitchFamily="34" charset="-122"/>
                <a:cs typeface="Courier New" pitchFamily="34" charset="-120"/>
              </a:rPr>
              <a:t>a1f3…</a:t>
            </a:r>
            <a:endParaRPr lang="en-US" sz="950" dirty="0"/>
          </a:p>
        </p:txBody>
      </p:sp>
      <p:sp>
        <p:nvSpPr>
          <p:cNvPr id="10" name="Shape 8"/>
          <p:cNvSpPr/>
          <p:nvPr/>
        </p:nvSpPr>
        <p:spPr>
          <a:xfrm>
            <a:off x="4572000" y="1371600"/>
            <a:ext cx="1828800" cy="566928"/>
          </a:xfrm>
          <a:prstGeom prst="roundRect">
            <a:avLst>
              <a:gd name="adj" fmla="val 12903"/>
            </a:avLst>
          </a:prstGeom>
          <a:solidFill>
            <a:srgbClr val="14213D"/>
          </a:solidFill>
          <a:ln w="12700">
            <a:solidFill>
              <a:srgbClr val="14213D"/>
            </a:solidFill>
            <a:prstDash val="solid"/>
          </a:ln>
        </p:spPr>
      </p:sp>
      <p:sp>
        <p:nvSpPr>
          <p:cNvPr id="11" name="Text 9"/>
          <p:cNvSpPr txBox="1"/>
          <p:nvPr/>
        </p:nvSpPr>
        <p:spPr>
          <a:xfrm>
            <a:off x="4572000" y="1408176"/>
            <a:ext cx="182880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Commit C2</a:t>
            </a:r>
            <a:endParaRPr lang="en-US" sz="1250" dirty="0"/>
          </a:p>
        </p:txBody>
      </p:sp>
      <p:sp>
        <p:nvSpPr>
          <p:cNvPr id="12" name="Text 10"/>
          <p:cNvSpPr txBox="1"/>
          <p:nvPr/>
        </p:nvSpPr>
        <p:spPr>
          <a:xfrm>
            <a:off x="4572000" y="1664208"/>
            <a:ext cx="1828800" cy="237744"/>
          </a:xfrm>
          <a:prstGeom prst="rect">
            <a:avLst/>
          </a:prstGeom>
          <a:noFill/>
          <a:ln/>
        </p:spPr>
        <p:txBody>
          <a:bodyPr wrap="square" lIns="0" tIns="0" rIns="0" bIns="0" rtlCol="0" anchor="ctr"/>
          <a:lstStyle/>
          <a:p>
            <a:pPr algn="ctr" indent="0" marL="0">
              <a:buNone/>
            </a:pPr>
            <a:r>
              <a:rPr lang="en-US" sz="950" dirty="0">
                <a:solidFill>
                  <a:srgbClr val="FCA311"/>
                </a:solidFill>
                <a:latin typeface="Courier New" pitchFamily="34" charset="0"/>
                <a:ea typeface="Courier New" pitchFamily="34" charset="-122"/>
                <a:cs typeface="Courier New" pitchFamily="34" charset="-120"/>
              </a:rPr>
              <a:t>c7e2…</a:t>
            </a:r>
            <a:endParaRPr lang="en-US" sz="950" dirty="0"/>
          </a:p>
        </p:txBody>
      </p:sp>
      <p:sp>
        <p:nvSpPr>
          <p:cNvPr id="13" name="Shape 11"/>
          <p:cNvSpPr/>
          <p:nvPr/>
        </p:nvSpPr>
        <p:spPr>
          <a:xfrm flipH="1">
            <a:off x="2697480" y="1655064"/>
            <a:ext cx="1828800" cy="0"/>
          </a:xfrm>
          <a:prstGeom prst="line">
            <a:avLst/>
          </a:prstGeom>
          <a:noFill/>
          <a:ln w="19050">
            <a:solidFill>
              <a:srgbClr val="5B6472"/>
            </a:solidFill>
            <a:prstDash val="solid"/>
            <a:tailEnd type="triangle"/>
          </a:ln>
        </p:spPr>
      </p:sp>
      <p:sp>
        <p:nvSpPr>
          <p:cNvPr id="14" name="Text 12"/>
          <p:cNvSpPr txBox="1"/>
          <p:nvPr/>
        </p:nvSpPr>
        <p:spPr>
          <a:xfrm>
            <a:off x="3154680" y="1389888"/>
            <a:ext cx="914400" cy="22860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parent</a:t>
            </a:r>
            <a:endParaRPr lang="en-US" sz="1000" dirty="0"/>
          </a:p>
        </p:txBody>
      </p:sp>
      <p:sp>
        <p:nvSpPr>
          <p:cNvPr id="15" name="Shape 13"/>
          <p:cNvSpPr/>
          <p:nvPr/>
        </p:nvSpPr>
        <p:spPr>
          <a:xfrm>
            <a:off x="822960" y="2331720"/>
            <a:ext cx="1828800" cy="566928"/>
          </a:xfrm>
          <a:prstGeom prst="roundRect">
            <a:avLst>
              <a:gd name="adj" fmla="val 12903"/>
            </a:avLst>
          </a:prstGeom>
          <a:solidFill>
            <a:srgbClr val="EEF2F7"/>
          </a:solidFill>
          <a:ln w="12700">
            <a:solidFill>
              <a:srgbClr val="EEF2F7"/>
            </a:solidFill>
            <a:prstDash val="solid"/>
          </a:ln>
        </p:spPr>
      </p:sp>
      <p:sp>
        <p:nvSpPr>
          <p:cNvPr id="16" name="Text 14"/>
          <p:cNvSpPr txBox="1"/>
          <p:nvPr/>
        </p:nvSpPr>
        <p:spPr>
          <a:xfrm>
            <a:off x="822960" y="2368296"/>
            <a:ext cx="182880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Tree T1</a:t>
            </a:r>
            <a:endParaRPr lang="en-US" sz="1250" dirty="0"/>
          </a:p>
        </p:txBody>
      </p:sp>
      <p:sp>
        <p:nvSpPr>
          <p:cNvPr id="17" name="Text 15"/>
          <p:cNvSpPr txBox="1"/>
          <p:nvPr/>
        </p:nvSpPr>
        <p:spPr>
          <a:xfrm>
            <a:off x="822960" y="2624328"/>
            <a:ext cx="182880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8f3a…</a:t>
            </a:r>
            <a:endParaRPr lang="en-US" sz="950" dirty="0"/>
          </a:p>
        </p:txBody>
      </p:sp>
      <p:sp>
        <p:nvSpPr>
          <p:cNvPr id="18" name="Shape 16"/>
          <p:cNvSpPr/>
          <p:nvPr/>
        </p:nvSpPr>
        <p:spPr>
          <a:xfrm>
            <a:off x="4572000" y="2331720"/>
            <a:ext cx="1828800" cy="566928"/>
          </a:xfrm>
          <a:prstGeom prst="roundRect">
            <a:avLst>
              <a:gd name="adj" fmla="val 12903"/>
            </a:avLst>
          </a:prstGeom>
          <a:solidFill>
            <a:srgbClr val="EEF2F7"/>
          </a:solidFill>
          <a:ln w="12700">
            <a:solidFill>
              <a:srgbClr val="EEF2F7"/>
            </a:solidFill>
            <a:prstDash val="solid"/>
          </a:ln>
        </p:spPr>
      </p:sp>
      <p:sp>
        <p:nvSpPr>
          <p:cNvPr id="19" name="Text 17"/>
          <p:cNvSpPr txBox="1"/>
          <p:nvPr/>
        </p:nvSpPr>
        <p:spPr>
          <a:xfrm>
            <a:off x="4572000" y="2368296"/>
            <a:ext cx="182880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Tree T2</a:t>
            </a:r>
            <a:endParaRPr lang="en-US" sz="1250" dirty="0"/>
          </a:p>
        </p:txBody>
      </p:sp>
      <p:sp>
        <p:nvSpPr>
          <p:cNvPr id="20" name="Text 18"/>
          <p:cNvSpPr txBox="1"/>
          <p:nvPr/>
        </p:nvSpPr>
        <p:spPr>
          <a:xfrm>
            <a:off x="4572000" y="2624328"/>
            <a:ext cx="182880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d91b…</a:t>
            </a:r>
            <a:endParaRPr lang="en-US" sz="950" dirty="0"/>
          </a:p>
        </p:txBody>
      </p:sp>
      <p:sp>
        <p:nvSpPr>
          <p:cNvPr id="21" name="Shape 19"/>
          <p:cNvSpPr/>
          <p:nvPr/>
        </p:nvSpPr>
        <p:spPr>
          <a:xfrm>
            <a:off x="1737360" y="1938528"/>
            <a:ext cx="0" cy="393192"/>
          </a:xfrm>
          <a:prstGeom prst="line">
            <a:avLst/>
          </a:prstGeom>
          <a:noFill/>
          <a:ln w="19050">
            <a:solidFill>
              <a:srgbClr val="5B6472"/>
            </a:solidFill>
            <a:prstDash val="solid"/>
            <a:tailEnd type="triangle"/>
          </a:ln>
        </p:spPr>
      </p:sp>
      <p:sp>
        <p:nvSpPr>
          <p:cNvPr id="22" name="Shape 20"/>
          <p:cNvSpPr/>
          <p:nvPr/>
        </p:nvSpPr>
        <p:spPr>
          <a:xfrm>
            <a:off x="5486400" y="1938528"/>
            <a:ext cx="0" cy="393192"/>
          </a:xfrm>
          <a:prstGeom prst="line">
            <a:avLst/>
          </a:prstGeom>
          <a:noFill/>
          <a:ln w="19050">
            <a:solidFill>
              <a:srgbClr val="5B6472"/>
            </a:solidFill>
            <a:prstDash val="solid"/>
            <a:tailEnd type="triangle"/>
          </a:ln>
        </p:spPr>
      </p:sp>
      <p:sp>
        <p:nvSpPr>
          <p:cNvPr id="23" name="Shape 21"/>
          <p:cNvSpPr/>
          <p:nvPr/>
        </p:nvSpPr>
        <p:spPr>
          <a:xfrm>
            <a:off x="274320" y="3429000"/>
            <a:ext cx="1554480" cy="566928"/>
          </a:xfrm>
          <a:prstGeom prst="roundRect">
            <a:avLst>
              <a:gd name="adj" fmla="val 12903"/>
            </a:avLst>
          </a:prstGeom>
          <a:solidFill>
            <a:srgbClr val="EEF2F7"/>
          </a:solidFill>
          <a:ln w="12700">
            <a:solidFill>
              <a:srgbClr val="EEF2F7"/>
            </a:solidFill>
            <a:prstDash val="solid"/>
          </a:ln>
        </p:spPr>
      </p:sp>
      <p:sp>
        <p:nvSpPr>
          <p:cNvPr id="24" name="Text 22"/>
          <p:cNvSpPr txBox="1"/>
          <p:nvPr/>
        </p:nvSpPr>
        <p:spPr>
          <a:xfrm>
            <a:off x="274320" y="3465576"/>
            <a:ext cx="155448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main.c</a:t>
            </a:r>
            <a:endParaRPr lang="en-US" sz="1250" dirty="0"/>
          </a:p>
        </p:txBody>
      </p:sp>
      <p:sp>
        <p:nvSpPr>
          <p:cNvPr id="25" name="Text 23"/>
          <p:cNvSpPr txBox="1"/>
          <p:nvPr/>
        </p:nvSpPr>
        <p:spPr>
          <a:xfrm>
            <a:off x="274320" y="3721608"/>
            <a:ext cx="155448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A</a:t>
            </a:r>
            <a:endParaRPr lang="en-US" sz="950" dirty="0"/>
          </a:p>
        </p:txBody>
      </p:sp>
      <p:sp>
        <p:nvSpPr>
          <p:cNvPr id="26" name="Shape 24"/>
          <p:cNvSpPr/>
          <p:nvPr/>
        </p:nvSpPr>
        <p:spPr>
          <a:xfrm>
            <a:off x="2651760" y="3429000"/>
            <a:ext cx="1737360" cy="566928"/>
          </a:xfrm>
          <a:prstGeom prst="roundRect">
            <a:avLst>
              <a:gd name="adj" fmla="val 12903"/>
            </a:avLst>
          </a:prstGeom>
          <a:solidFill>
            <a:srgbClr val="E3F4F1"/>
          </a:solidFill>
          <a:ln w="12700">
            <a:solidFill>
              <a:srgbClr val="E3F4F1"/>
            </a:solidFill>
            <a:prstDash val="solid"/>
          </a:ln>
        </p:spPr>
      </p:sp>
      <p:sp>
        <p:nvSpPr>
          <p:cNvPr id="27" name="Text 25"/>
          <p:cNvSpPr txBox="1"/>
          <p:nvPr/>
        </p:nvSpPr>
        <p:spPr>
          <a:xfrm>
            <a:off x="2651760" y="3465576"/>
            <a:ext cx="1737360" cy="274320"/>
          </a:xfrm>
          <a:prstGeom prst="rect">
            <a:avLst/>
          </a:prstGeom>
          <a:noFill/>
          <a:ln/>
        </p:spPr>
        <p:txBody>
          <a:bodyPr wrap="square" lIns="0" tIns="0" rIns="0" bIns="0" rtlCol="0" anchor="ctr"/>
          <a:lstStyle/>
          <a:p>
            <a:pPr algn="ctr" indent="0" marL="0">
              <a:buNone/>
            </a:pPr>
            <a:r>
              <a:rPr lang="en-US" sz="1250" b="1" dirty="0">
                <a:solidFill>
                  <a:srgbClr val="2A9D8F"/>
                </a:solidFill>
                <a:latin typeface="Calibri" pitchFamily="34" charset="0"/>
                <a:ea typeface="Calibri" pitchFamily="34" charset="-122"/>
                <a:cs typeface="Calibri" pitchFamily="34" charset="-120"/>
              </a:rPr>
              <a:t>README  ✓ reused</a:t>
            </a:r>
            <a:endParaRPr lang="en-US" sz="1250" dirty="0"/>
          </a:p>
        </p:txBody>
      </p:sp>
      <p:sp>
        <p:nvSpPr>
          <p:cNvPr id="28" name="Text 26"/>
          <p:cNvSpPr txBox="1"/>
          <p:nvPr/>
        </p:nvSpPr>
        <p:spPr>
          <a:xfrm>
            <a:off x="2651760" y="3721608"/>
            <a:ext cx="173736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B</a:t>
            </a:r>
            <a:endParaRPr lang="en-US" sz="950" dirty="0"/>
          </a:p>
        </p:txBody>
      </p:sp>
      <p:sp>
        <p:nvSpPr>
          <p:cNvPr id="29" name="Shape 27"/>
          <p:cNvSpPr/>
          <p:nvPr/>
        </p:nvSpPr>
        <p:spPr>
          <a:xfrm>
            <a:off x="5212080" y="3429000"/>
            <a:ext cx="1737360" cy="566928"/>
          </a:xfrm>
          <a:prstGeom prst="roundRect">
            <a:avLst>
              <a:gd name="adj" fmla="val 12903"/>
            </a:avLst>
          </a:prstGeom>
          <a:solidFill>
            <a:srgbClr val="FFF3DC"/>
          </a:solidFill>
          <a:ln w="12700">
            <a:solidFill>
              <a:srgbClr val="FFF3DC"/>
            </a:solidFill>
            <a:prstDash val="solid"/>
          </a:ln>
        </p:spPr>
      </p:sp>
      <p:sp>
        <p:nvSpPr>
          <p:cNvPr id="30" name="Text 28"/>
          <p:cNvSpPr txBox="1"/>
          <p:nvPr/>
        </p:nvSpPr>
        <p:spPr>
          <a:xfrm>
            <a:off x="5212080" y="3465576"/>
            <a:ext cx="1737360" cy="274320"/>
          </a:xfrm>
          <a:prstGeom prst="rect">
            <a:avLst/>
          </a:prstGeom>
          <a:noFill/>
          <a:ln/>
        </p:spPr>
        <p:txBody>
          <a:bodyPr wrap="square" lIns="0" tIns="0" rIns="0" bIns="0" rtlCol="0" anchor="ctr"/>
          <a:lstStyle/>
          <a:p>
            <a:pPr algn="ctr" indent="0" marL="0">
              <a:buNone/>
            </a:pPr>
            <a:r>
              <a:rPr lang="en-US" sz="1250" b="1" dirty="0">
                <a:solidFill>
                  <a:srgbClr val="B26A00"/>
                </a:solidFill>
                <a:latin typeface="Calibri" pitchFamily="34" charset="0"/>
                <a:ea typeface="Calibri" pitchFamily="34" charset="-122"/>
                <a:cs typeface="Calibri" pitchFamily="34" charset="-120"/>
              </a:rPr>
              <a:t>main.c  ★ new</a:t>
            </a:r>
            <a:endParaRPr lang="en-US" sz="1250" dirty="0"/>
          </a:p>
        </p:txBody>
      </p:sp>
      <p:sp>
        <p:nvSpPr>
          <p:cNvPr id="31" name="Text 29"/>
          <p:cNvSpPr txBox="1"/>
          <p:nvPr/>
        </p:nvSpPr>
        <p:spPr>
          <a:xfrm>
            <a:off x="5212080" y="3721608"/>
            <a:ext cx="1737360" cy="237744"/>
          </a:xfrm>
          <a:prstGeom prst="rect">
            <a:avLst/>
          </a:prstGeom>
          <a:noFill/>
          <a:ln/>
        </p:spPr>
        <p:txBody>
          <a:bodyPr wrap="square" lIns="0" tIns="0" rIns="0" bIns="0" rtlCol="0" anchor="ctr"/>
          <a:lstStyle/>
          <a:p>
            <a:pPr algn="ctr" indent="0" marL="0">
              <a:buNone/>
            </a:pPr>
            <a:r>
              <a:rPr lang="en-US" sz="950" dirty="0">
                <a:solidFill>
                  <a:srgbClr val="5B6472"/>
                </a:solidFill>
                <a:latin typeface="Courier New" pitchFamily="34" charset="0"/>
                <a:ea typeface="Courier New" pitchFamily="34" charset="-122"/>
                <a:cs typeface="Courier New" pitchFamily="34" charset="-120"/>
              </a:rPr>
              <a:t>Blob X</a:t>
            </a:r>
            <a:endParaRPr lang="en-US" sz="950" dirty="0"/>
          </a:p>
        </p:txBody>
      </p:sp>
      <p:sp>
        <p:nvSpPr>
          <p:cNvPr id="32" name="Shape 30"/>
          <p:cNvSpPr/>
          <p:nvPr/>
        </p:nvSpPr>
        <p:spPr>
          <a:xfrm flipH="1">
            <a:off x="1051560" y="2898648"/>
            <a:ext cx="685800" cy="530352"/>
          </a:xfrm>
          <a:prstGeom prst="line">
            <a:avLst/>
          </a:prstGeom>
          <a:noFill/>
          <a:ln w="19050">
            <a:solidFill>
              <a:srgbClr val="5B6472"/>
            </a:solidFill>
            <a:prstDash val="solid"/>
            <a:tailEnd type="triangle"/>
          </a:ln>
        </p:spPr>
      </p:sp>
      <p:sp>
        <p:nvSpPr>
          <p:cNvPr id="33" name="Shape 31"/>
          <p:cNvSpPr/>
          <p:nvPr/>
        </p:nvSpPr>
        <p:spPr>
          <a:xfrm>
            <a:off x="1737360" y="2898648"/>
            <a:ext cx="1737360" cy="530352"/>
          </a:xfrm>
          <a:prstGeom prst="line">
            <a:avLst/>
          </a:prstGeom>
          <a:noFill/>
          <a:ln w="19050">
            <a:solidFill>
              <a:srgbClr val="5B6472"/>
            </a:solidFill>
            <a:prstDash val="solid"/>
            <a:tailEnd type="triangle"/>
          </a:ln>
        </p:spPr>
      </p:sp>
      <p:sp>
        <p:nvSpPr>
          <p:cNvPr id="34" name="Shape 32"/>
          <p:cNvSpPr/>
          <p:nvPr/>
        </p:nvSpPr>
        <p:spPr>
          <a:xfrm flipH="1">
            <a:off x="3520440" y="2898648"/>
            <a:ext cx="1965960" cy="530352"/>
          </a:xfrm>
          <a:prstGeom prst="line">
            <a:avLst/>
          </a:prstGeom>
          <a:noFill/>
          <a:ln w="19050">
            <a:solidFill>
              <a:srgbClr val="5B6472"/>
            </a:solidFill>
            <a:prstDash val="solid"/>
            <a:tailEnd type="triangle"/>
          </a:ln>
        </p:spPr>
      </p:sp>
      <p:sp>
        <p:nvSpPr>
          <p:cNvPr id="35" name="Shape 33"/>
          <p:cNvSpPr/>
          <p:nvPr/>
        </p:nvSpPr>
        <p:spPr>
          <a:xfrm>
            <a:off x="5486400" y="2898648"/>
            <a:ext cx="594360" cy="530352"/>
          </a:xfrm>
          <a:prstGeom prst="line">
            <a:avLst/>
          </a:prstGeom>
          <a:noFill/>
          <a:ln w="19050">
            <a:solidFill>
              <a:srgbClr val="5B6472"/>
            </a:solidFill>
            <a:prstDash val="solid"/>
            <a:tailEnd type="triangle"/>
          </a:ln>
        </p:spPr>
      </p:sp>
      <p:sp>
        <p:nvSpPr>
          <p:cNvPr id="36" name="Shape 34"/>
          <p:cNvSpPr/>
          <p:nvPr/>
        </p:nvSpPr>
        <p:spPr>
          <a:xfrm>
            <a:off x="7269480" y="1371600"/>
            <a:ext cx="1417320" cy="2624328"/>
          </a:xfrm>
          <a:prstGeom prst="roundRect">
            <a:avLst>
              <a:gd name="adj" fmla="val 5161"/>
            </a:avLst>
          </a:prstGeom>
          <a:solidFill>
            <a:srgbClr val="EEF2F7"/>
          </a:solidFill>
          <a:ln w="12700">
            <a:solidFill>
              <a:srgbClr val="EEF2F7"/>
            </a:solidFill>
            <a:prstDash val="solid"/>
          </a:ln>
        </p:spPr>
      </p:sp>
      <p:sp>
        <p:nvSpPr>
          <p:cNvPr id="37" name="Text 35"/>
          <p:cNvSpPr txBox="1"/>
          <p:nvPr/>
        </p:nvSpPr>
        <p:spPr>
          <a:xfrm>
            <a:off x="7360920" y="1463040"/>
            <a:ext cx="1280160" cy="24688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New objects for version 2</a:t>
            </a:r>
            <a:endParaRPr lang="en-US" sz="1150" dirty="0"/>
          </a:p>
          <a:p>
            <a:pPr indent="0" marL="0">
              <a:buNone/>
            </a:pPr>
            <a:r>
              <a:rPr lang="en-US" sz="500" dirty="0">
                <a:solidFill>
                  <a:srgbClr val="1F2937"/>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commit</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tree</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1 blob</a:t>
            </a:r>
            <a:endParaRPr lang="en-US" sz="1150" dirty="0"/>
          </a:p>
          <a:p>
            <a:pPr indent="0" marL="0">
              <a:buNone/>
            </a:pPr>
            <a:r>
              <a:rPr lang="en-US" sz="500" dirty="0">
                <a:solidFill>
                  <a:srgbClr val="1F2937"/>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2A9D8F"/>
                </a:solidFill>
                <a:latin typeface="Calibri" pitchFamily="34" charset="0"/>
                <a:ea typeface="Calibri" pitchFamily="34" charset="-122"/>
                <a:cs typeface="Calibri" pitchFamily="34" charset="-120"/>
              </a:rPr>
              <a:t>README: 0 extra bytes</a:t>
            </a:r>
            <a:endParaRPr lang="en-US" sz="1150" dirty="0"/>
          </a:p>
        </p:txBody>
      </p:sp>
      <p:sp>
        <p:nvSpPr>
          <p:cNvPr id="38" name="Text 36"/>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250" i="1" dirty="0">
                <a:solidFill>
                  <a:srgbClr val="14213D"/>
                </a:solidFill>
                <a:latin typeface="Calibri" pitchFamily="34" charset="0"/>
                <a:ea typeface="Calibri" pitchFamily="34" charset="-122"/>
                <a:cs typeface="Calibri" pitchFamily="34" charset="-120"/>
              </a:rPr>
              <a:t>Only the changed file gets a new blob. Unchanged files are shared between versions: this is deduplication in action.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RESEARCH NOTEBOOK · COMPARE ALTERNATIVES</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Complexity and Comparison with Alternatives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651760"/>
                <a:gridCol w="1188720"/>
                <a:gridCol w="1463040"/>
                <a:gridCol w="1463040"/>
                <a:gridCol w="146304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 structure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Find item</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Duplicate check</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Detects corruption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Keeps history</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r>
              <a:tr h="36576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Array</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O(n · k)</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Manual</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6576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Linked list</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O(n · k)</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Manual</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6576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BST / B-tree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O(log 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O(k · log n)</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Manual</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6576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Hash table keyed by file name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O(1)</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Overwrites old</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365760">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CAS: hash table keyed by content hash</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O(1) avg</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O(1) after hashing</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Yes, O(k)</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Yes (immutable)</a:t>
                      </a:r>
                      <a:endParaRPr lang="en-US" sz="11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E3F4F1"/>
                    </a:solidFill>
                  </a:tcPr>
                </a:tc>
              </a:tr>
            </a:tbl>
          </a:graphicData>
        </a:graphic>
      </p:graphicFrame>
      <p:sp>
        <p:nvSpPr>
          <p:cNvPr id="6" name="Text 3"/>
          <p:cNvSpPr txBox="1"/>
          <p:nvPr/>
        </p:nvSpPr>
        <p:spPr>
          <a:xfrm>
            <a:off x="457200" y="3429000"/>
            <a:ext cx="8229600" cy="228600"/>
          </a:xfrm>
          <a:prstGeom prst="rect">
            <a:avLst/>
          </a:prstGeom>
          <a:noFill/>
          <a:ln/>
        </p:spPr>
        <p:txBody>
          <a:bodyPr wrap="square" lIns="0" tIns="0" rIns="0" bIns="0"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n = number of stored objects,  k = file size in bytes</a:t>
            </a:r>
            <a:endParaRPr lang="en-US" sz="1000" dirty="0"/>
          </a:p>
        </p:txBody>
      </p:sp>
      <p:sp>
        <p:nvSpPr>
          <p:cNvPr id="7" name="Shape 4"/>
          <p:cNvSpPr/>
          <p:nvPr/>
        </p:nvSpPr>
        <p:spPr>
          <a:xfrm>
            <a:off x="457200" y="3749040"/>
            <a:ext cx="4023360" cy="914400"/>
          </a:xfrm>
          <a:prstGeom prst="roundRect">
            <a:avLst>
              <a:gd name="adj" fmla="val 8000"/>
            </a:avLst>
          </a:prstGeom>
          <a:solidFill>
            <a:srgbClr val="FFF3DC"/>
          </a:solidFill>
          <a:ln w="12700">
            <a:solidFill>
              <a:srgbClr val="FFF3DC"/>
            </a:solidFill>
            <a:prstDash val="solid"/>
          </a:ln>
        </p:spPr>
      </p:sp>
      <p:sp>
        <p:nvSpPr>
          <p:cNvPr id="8" name="Text 5"/>
          <p:cNvSpPr txBox="1"/>
          <p:nvPr/>
        </p:nvSpPr>
        <p:spPr>
          <a:xfrm>
            <a:off x="594360" y="3749040"/>
            <a:ext cx="3749040" cy="914400"/>
          </a:xfrm>
          <a:prstGeom prst="rect">
            <a:avLst/>
          </a:prstGeom>
          <a:noFill/>
          <a:ln/>
        </p:spPr>
        <p:txBody>
          <a:bodyPr wrap="square" lIns="0" tIns="0" rIns="0" bIns="0" rtlCol="0" anchor="ctr"/>
          <a:lstStyle/>
          <a:p>
            <a:pPr indent="0" marL="0">
              <a:buNone/>
            </a:pPr>
            <a:r>
              <a:rPr lang="en-US" sz="1150" b="1" dirty="0">
                <a:solidFill>
                  <a:srgbClr val="B26A00"/>
                </a:solidFill>
                <a:latin typeface="Calibri" pitchFamily="34" charset="0"/>
                <a:ea typeface="Calibri" pitchFamily="34" charset="-122"/>
                <a:cs typeface="Calibri" pitchFamily="34" charset="-120"/>
              </a:rPr>
              <a:t>Cost: </a:t>
            </a:r>
            <a:pPr indent="0" marL="0">
              <a:buNone/>
            </a:pPr>
            <a:r>
              <a:rPr lang="en-US" sz="1150" dirty="0">
                <a:solidFill>
                  <a:srgbClr val="1F2937"/>
                </a:solidFill>
                <a:latin typeface="Calibri" pitchFamily="34" charset="0"/>
                <a:ea typeface="Calibri" pitchFamily="34" charset="-122"/>
                <a:cs typeface="Calibri" pitchFamily="34" charset="-120"/>
              </a:rPr>
              <a:t>hashing reads the file once, O(k). After that every lookup is O(1), and storage grows only with what changed.</a:t>
            </a:r>
            <a:endParaRPr lang="en-US" sz="1150" dirty="0"/>
          </a:p>
        </p:txBody>
      </p:sp>
      <p:sp>
        <p:nvSpPr>
          <p:cNvPr id="9" name="Shape 6"/>
          <p:cNvSpPr/>
          <p:nvPr/>
        </p:nvSpPr>
        <p:spPr>
          <a:xfrm>
            <a:off x="4663440" y="3749040"/>
            <a:ext cx="4023360" cy="914400"/>
          </a:xfrm>
          <a:prstGeom prst="roundRect">
            <a:avLst>
              <a:gd name="adj" fmla="val 8000"/>
            </a:avLst>
          </a:prstGeom>
          <a:solidFill>
            <a:srgbClr val="EEF2F7"/>
          </a:solidFill>
          <a:ln w="12700">
            <a:solidFill>
              <a:srgbClr val="EEF2F7"/>
            </a:solidFill>
            <a:prstDash val="solid"/>
          </a:ln>
        </p:spPr>
      </p:sp>
      <p:sp>
        <p:nvSpPr>
          <p:cNvPr id="10" name="Text 7"/>
          <p:cNvSpPr txBox="1"/>
          <p:nvPr/>
        </p:nvSpPr>
        <p:spPr>
          <a:xfrm>
            <a:off x="4800600" y="3749040"/>
            <a:ext cx="3749040" cy="914400"/>
          </a:xfrm>
          <a:prstGeom prst="rect">
            <a:avLst/>
          </a:prstGeom>
          <a:noFill/>
          <a:ln/>
        </p:spPr>
        <p:txBody>
          <a:bodyPr wrap="square" lIns="0" tIns="0" rIns="0" bIns="0" rtlCol="0" anchor="ctr"/>
          <a:lstStyle/>
          <a:p>
            <a:pPr indent="0" marL="0">
              <a:buNone/>
            </a:pPr>
            <a:r>
              <a:rPr lang="en-US" sz="1150" b="1" dirty="0">
                <a:solidFill>
                  <a:srgbClr val="B26A00"/>
                </a:solidFill>
                <a:latin typeface="Calibri" pitchFamily="34" charset="0"/>
                <a:ea typeface="Calibri" pitchFamily="34" charset="-122"/>
                <a:cs typeface="Calibri" pitchFamily="34" charset="-120"/>
              </a:rPr>
              <a:t>When not to use CAS: </a:t>
            </a:r>
            <a:pPr indent="0" marL="0">
              <a:buNone/>
            </a:pPr>
            <a:r>
              <a:rPr lang="en-US" sz="1150" dirty="0">
                <a:solidFill>
                  <a:srgbClr val="1F2937"/>
                </a:solidFill>
                <a:latin typeface="Calibri" pitchFamily="34" charset="0"/>
                <a:ea typeface="Calibri" pitchFamily="34" charset="-122"/>
                <a:cs typeface="Calibri" pitchFamily="34" charset="-120"/>
              </a:rPr>
              <a:t>data edited in place all the time (like a bank balance). A normal database with a B-tree is better there.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CONNECT TO INDUSTRY · LIMITATIONS · CONTEMPORARY APPROACH</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Industry Use, Limitations and Today's Solutions</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5" name="Text 3"/>
          <p:cNvSpPr txBox="1"/>
          <p:nvPr/>
        </p:nvSpPr>
        <p:spPr>
          <a:xfrm>
            <a:off x="457200" y="1143000"/>
            <a:ext cx="393192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Where industry uses it, and why</a:t>
            </a:r>
            <a:endParaRPr lang="en-US" sz="1300" dirty="0"/>
          </a:p>
        </p:txBody>
      </p:sp>
      <p:sp>
        <p:nvSpPr>
          <p:cNvPr id="6" name="Shape 4"/>
          <p:cNvSpPr/>
          <p:nvPr/>
        </p:nvSpPr>
        <p:spPr>
          <a:xfrm>
            <a:off x="457200" y="1463040"/>
            <a:ext cx="3931920" cy="457200"/>
          </a:xfrm>
          <a:prstGeom prst="roundRect">
            <a:avLst>
              <a:gd name="adj" fmla="val 16000"/>
            </a:avLst>
          </a:prstGeom>
          <a:solidFill>
            <a:srgbClr val="FFF3DC"/>
          </a:solidFill>
          <a:ln w="12700">
            <a:solidFill>
              <a:srgbClr val="FFF3DC"/>
            </a:solidFill>
            <a:prstDash val="solid"/>
          </a:ln>
        </p:spPr>
      </p:sp>
      <p:sp>
        <p:nvSpPr>
          <p:cNvPr id="7" name="Text 5"/>
          <p:cNvSpPr txBox="1"/>
          <p:nvPr/>
        </p:nvSpPr>
        <p:spPr>
          <a:xfrm>
            <a:off x="566928" y="1463040"/>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Git / GitHub: </a:t>
            </a:r>
            <a:pPr indent="0" marL="0">
              <a:buNone/>
            </a:pPr>
            <a:r>
              <a:rPr lang="en-US" sz="1050" dirty="0">
                <a:solidFill>
                  <a:srgbClr val="1F2937"/>
                </a:solidFill>
                <a:latin typeface="Calibri" pitchFamily="34" charset="0"/>
                <a:ea typeface="Calibri" pitchFamily="34" charset="-122"/>
                <a:cs typeface="Calibri" pitchFamily="34" charset="-120"/>
              </a:rPr>
              <a:t>every file and commit is named by its hash: cheap history, tamper detection</a:t>
            </a:r>
            <a:endParaRPr lang="en-US" sz="1050" dirty="0"/>
          </a:p>
        </p:txBody>
      </p:sp>
      <p:sp>
        <p:nvSpPr>
          <p:cNvPr id="8" name="Shape 6"/>
          <p:cNvSpPr/>
          <p:nvPr/>
        </p:nvSpPr>
        <p:spPr>
          <a:xfrm>
            <a:off x="457200" y="1993392"/>
            <a:ext cx="3931920" cy="457200"/>
          </a:xfrm>
          <a:prstGeom prst="roundRect">
            <a:avLst>
              <a:gd name="adj" fmla="val 16000"/>
            </a:avLst>
          </a:prstGeom>
          <a:solidFill>
            <a:srgbClr val="FFFFFF"/>
          </a:solidFill>
          <a:ln w="12700">
            <a:solidFill>
              <a:srgbClr val="C9D2DE"/>
            </a:solidFill>
            <a:prstDash val="solid"/>
          </a:ln>
        </p:spPr>
      </p:sp>
      <p:sp>
        <p:nvSpPr>
          <p:cNvPr id="9" name="Text 7"/>
          <p:cNvSpPr txBox="1"/>
          <p:nvPr/>
        </p:nvSpPr>
        <p:spPr>
          <a:xfrm>
            <a:off x="566928" y="1993392"/>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Docker: </a:t>
            </a:r>
            <a:pPr indent="0" marL="0">
              <a:buNone/>
            </a:pPr>
            <a:r>
              <a:rPr lang="en-US" sz="1050" dirty="0">
                <a:solidFill>
                  <a:srgbClr val="1F2937"/>
                </a:solidFill>
                <a:latin typeface="Calibri" pitchFamily="34" charset="0"/>
                <a:ea typeface="Calibri" pitchFamily="34" charset="-122"/>
                <a:cs typeface="Calibri" pitchFamily="34" charset="-120"/>
              </a:rPr>
              <a:t>image layers named by sha256: a shared layer is downloaded once</a:t>
            </a:r>
            <a:endParaRPr lang="en-US" sz="1050" dirty="0"/>
          </a:p>
        </p:txBody>
      </p:sp>
      <p:sp>
        <p:nvSpPr>
          <p:cNvPr id="10" name="Shape 8"/>
          <p:cNvSpPr/>
          <p:nvPr/>
        </p:nvSpPr>
        <p:spPr>
          <a:xfrm>
            <a:off x="457200" y="2523744"/>
            <a:ext cx="3931920" cy="457200"/>
          </a:xfrm>
          <a:prstGeom prst="roundRect">
            <a:avLst>
              <a:gd name="adj" fmla="val 16000"/>
            </a:avLst>
          </a:prstGeom>
          <a:solidFill>
            <a:srgbClr val="FFF3DC"/>
          </a:solidFill>
          <a:ln w="12700">
            <a:solidFill>
              <a:srgbClr val="FFF3DC"/>
            </a:solidFill>
            <a:prstDash val="solid"/>
          </a:ln>
        </p:spPr>
      </p:sp>
      <p:sp>
        <p:nvSpPr>
          <p:cNvPr id="11" name="Text 9"/>
          <p:cNvSpPr txBox="1"/>
          <p:nvPr/>
        </p:nvSpPr>
        <p:spPr>
          <a:xfrm>
            <a:off x="566928" y="2523744"/>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IPFS: </a:t>
            </a:r>
            <a:pPr indent="0" marL="0">
              <a:buNone/>
            </a:pPr>
            <a:r>
              <a:rPr lang="en-US" sz="1050" dirty="0">
                <a:solidFill>
                  <a:srgbClr val="1F2937"/>
                </a:solidFill>
                <a:latin typeface="Calibri" pitchFamily="34" charset="0"/>
                <a:ea typeface="Calibri" pitchFamily="34" charset="-122"/>
                <a:cs typeface="Calibri" pitchFamily="34" charset="-120"/>
              </a:rPr>
              <a:t>files found by content hash, not server: any peer can serve them</a:t>
            </a:r>
            <a:endParaRPr lang="en-US" sz="1050" dirty="0"/>
          </a:p>
        </p:txBody>
      </p:sp>
      <p:sp>
        <p:nvSpPr>
          <p:cNvPr id="12" name="Shape 10"/>
          <p:cNvSpPr/>
          <p:nvPr/>
        </p:nvSpPr>
        <p:spPr>
          <a:xfrm>
            <a:off x="457200" y="3054096"/>
            <a:ext cx="3931920" cy="457200"/>
          </a:xfrm>
          <a:prstGeom prst="roundRect">
            <a:avLst>
              <a:gd name="adj" fmla="val 16000"/>
            </a:avLst>
          </a:prstGeom>
          <a:solidFill>
            <a:srgbClr val="FFFFFF"/>
          </a:solidFill>
          <a:ln w="12700">
            <a:solidFill>
              <a:srgbClr val="C9D2DE"/>
            </a:solidFill>
            <a:prstDash val="solid"/>
          </a:ln>
        </p:spPr>
      </p:sp>
      <p:sp>
        <p:nvSpPr>
          <p:cNvPr id="13" name="Text 11"/>
          <p:cNvSpPr txBox="1"/>
          <p:nvPr/>
        </p:nvSpPr>
        <p:spPr>
          <a:xfrm>
            <a:off x="566928" y="3054096"/>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restic, BorgBackup: </a:t>
            </a:r>
            <a:pPr indent="0" marL="0">
              <a:buNone/>
            </a:pPr>
            <a:r>
              <a:rPr lang="en-US" sz="1050" dirty="0">
                <a:solidFill>
                  <a:srgbClr val="1F2937"/>
                </a:solidFill>
                <a:latin typeface="Calibri" pitchFamily="34" charset="0"/>
                <a:ea typeface="Calibri" pitchFamily="34" charset="-122"/>
                <a:cs typeface="Calibri" pitchFamily="34" charset="-120"/>
              </a:rPr>
              <a:t>chunks named by hash: daily backups store only new data</a:t>
            </a:r>
            <a:endParaRPr lang="en-US" sz="1050" dirty="0"/>
          </a:p>
        </p:txBody>
      </p:sp>
      <p:sp>
        <p:nvSpPr>
          <p:cNvPr id="14" name="Shape 12"/>
          <p:cNvSpPr/>
          <p:nvPr/>
        </p:nvSpPr>
        <p:spPr>
          <a:xfrm>
            <a:off x="457200" y="3584448"/>
            <a:ext cx="3931920" cy="457200"/>
          </a:xfrm>
          <a:prstGeom prst="roundRect">
            <a:avLst>
              <a:gd name="adj" fmla="val 16000"/>
            </a:avLst>
          </a:prstGeom>
          <a:solidFill>
            <a:srgbClr val="FFF3DC"/>
          </a:solidFill>
          <a:ln w="12700">
            <a:solidFill>
              <a:srgbClr val="FFF3DC"/>
            </a:solidFill>
            <a:prstDash val="solid"/>
          </a:ln>
        </p:spPr>
      </p:sp>
      <p:sp>
        <p:nvSpPr>
          <p:cNvPr id="15" name="Text 13"/>
          <p:cNvSpPr txBox="1"/>
          <p:nvPr/>
        </p:nvSpPr>
        <p:spPr>
          <a:xfrm>
            <a:off x="566928" y="3584448"/>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Bitcoin: </a:t>
            </a:r>
            <a:pPr indent="0" marL="0">
              <a:buNone/>
            </a:pPr>
            <a:r>
              <a:rPr lang="en-US" sz="1050" dirty="0">
                <a:solidFill>
                  <a:srgbClr val="1F2937"/>
                </a:solidFill>
                <a:latin typeface="Calibri" pitchFamily="34" charset="0"/>
                <a:ea typeface="Calibri" pitchFamily="34" charset="-122"/>
                <a:cs typeface="Calibri" pitchFamily="34" charset="-120"/>
              </a:rPr>
              <a:t>blocks linked by hash: old data cannot be secretly changed</a:t>
            </a:r>
            <a:endParaRPr lang="en-US" sz="1050" dirty="0"/>
          </a:p>
        </p:txBody>
      </p:sp>
      <p:sp>
        <p:nvSpPr>
          <p:cNvPr id="16" name="Shape 14"/>
          <p:cNvSpPr/>
          <p:nvPr/>
        </p:nvSpPr>
        <p:spPr>
          <a:xfrm>
            <a:off x="457200" y="4114800"/>
            <a:ext cx="3931920" cy="457200"/>
          </a:xfrm>
          <a:prstGeom prst="roundRect">
            <a:avLst>
              <a:gd name="adj" fmla="val 16000"/>
            </a:avLst>
          </a:prstGeom>
          <a:solidFill>
            <a:srgbClr val="FFFFFF"/>
          </a:solidFill>
          <a:ln w="12700">
            <a:solidFill>
              <a:srgbClr val="C9D2DE"/>
            </a:solidFill>
            <a:prstDash val="solid"/>
          </a:ln>
        </p:spPr>
      </p:sp>
      <p:sp>
        <p:nvSpPr>
          <p:cNvPr id="17" name="Text 15"/>
          <p:cNvSpPr txBox="1"/>
          <p:nvPr/>
        </p:nvSpPr>
        <p:spPr>
          <a:xfrm>
            <a:off x="566928" y="4114800"/>
            <a:ext cx="37490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pnpm: </a:t>
            </a:r>
            <a:pPr indent="0" marL="0">
              <a:buNone/>
            </a:pPr>
            <a:r>
              <a:rPr lang="en-US" sz="1050" dirty="0">
                <a:solidFill>
                  <a:srgbClr val="1F2937"/>
                </a:solidFill>
                <a:latin typeface="Calibri" pitchFamily="34" charset="0"/>
                <a:ea typeface="Calibri" pitchFamily="34" charset="-122"/>
                <a:cs typeface="Calibri" pitchFamily="34" charset="-120"/>
              </a:rPr>
              <a:t>content-addressable package store: shared across all projects</a:t>
            </a:r>
            <a:endParaRPr lang="en-US" sz="1050" dirty="0"/>
          </a:p>
        </p:txBody>
      </p:sp>
      <p:sp>
        <p:nvSpPr>
          <p:cNvPr id="18" name="Text 16"/>
          <p:cNvSpPr txBox="1"/>
          <p:nvPr/>
        </p:nvSpPr>
        <p:spPr>
          <a:xfrm>
            <a:off x="4663440" y="1143000"/>
            <a:ext cx="402336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Limitations and how they are handled today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63440" y="1463040"/>
          <a:ext cx="4023360" cy="914400"/>
        </p:xfrm>
        <a:graphic>
          <a:graphicData uri="http://schemas.openxmlformats.org/drawingml/2006/table">
            <a:tbl>
              <a:tblPr/>
              <a:tblGrid>
                <a:gridCol w="1874520"/>
                <a:gridCol w="2148840"/>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Limitation</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Contemporary approach</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14213D"/>
                    </a:solidFill>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SHA-1 collisions (shown in 2017)</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Collision detection; Git supports SHA-256</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Storage keeps growing</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"git gc" removes unreachable objects</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Small edit = full new copy</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Packfiles store only differences + zlib</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Huge files (videos, datasets)</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Git LFS stores only a pointer hash</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Hashes are not human-friendly</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Branch and tag names point to hashes</a:t>
                      </a:r>
                      <a:endParaRPr lang="en-US" sz="1050" dirty="0">
                        <a:latin typeface="Calibri" charset="0"/>
                        <a:ea typeface="Calibri" charset="0"/>
                        <a:cs typeface="Calibri" charset="0"/>
                      </a:endParaRPr>
                    </a:p>
                  </a:txBody>
                  <a:tcPr marL="73152" marR="73152" marT="27432" marB="2743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B26A00"/>
                </a:solidFill>
                <a:latin typeface="Calibri" pitchFamily="34" charset="0"/>
                <a:ea typeface="Calibri" pitchFamily="34" charset="-122"/>
                <a:cs typeface="Calibri" pitchFamily="34" charset="-120"/>
              </a:rPr>
              <a:t>FUTURE SCOPE (NEXT 10 YEARS) · REFLECTION</a:t>
            </a:r>
            <a:endParaRPr lang="en-US" sz="105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Future Scope and Reflection</a:t>
            </a:r>
            <a:endParaRPr lang="en-US" sz="2600" dirty="0"/>
          </a:p>
        </p:txBody>
      </p:sp>
      <p:sp>
        <p:nvSpPr>
          <p:cNvPr id="4" name="Text 2"/>
          <p:cNvSpPr txBox="1"/>
          <p:nvPr/>
        </p:nvSpPr>
        <p:spPr>
          <a:xfrm>
            <a:off x="8321040" y="4773168"/>
            <a:ext cx="36576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5" name="Text 3"/>
          <p:cNvSpPr txBox="1"/>
          <p:nvPr/>
        </p:nvSpPr>
        <p:spPr>
          <a:xfrm>
            <a:off x="457200" y="1143000"/>
            <a:ext cx="393192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Future scope</a:t>
            </a:r>
            <a:endParaRPr lang="en-US" sz="1300" dirty="0"/>
          </a:p>
        </p:txBody>
      </p:sp>
      <p:sp>
        <p:nvSpPr>
          <p:cNvPr id="6" name="Shape 4"/>
          <p:cNvSpPr/>
          <p:nvPr/>
        </p:nvSpPr>
        <p:spPr>
          <a:xfrm>
            <a:off x="457200" y="1527048"/>
            <a:ext cx="384048" cy="384048"/>
          </a:xfrm>
          <a:prstGeom prst="ellipse">
            <a:avLst/>
          </a:prstGeom>
          <a:solidFill>
            <a:srgbClr val="FCA311"/>
          </a:solidFill>
          <a:ln w="12700">
            <a:solidFill>
              <a:srgbClr val="FCA311"/>
            </a:solidFill>
            <a:prstDash val="solid"/>
          </a:ln>
        </p:spPr>
      </p:sp>
      <p:sp>
        <p:nvSpPr>
          <p:cNvPr id="7" name="Text 5"/>
          <p:cNvSpPr txBox="1"/>
          <p:nvPr/>
        </p:nvSpPr>
        <p:spPr>
          <a:xfrm>
            <a:off x="457200" y="1527048"/>
            <a:ext cx="384048" cy="38404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960120" y="1481328"/>
            <a:ext cx="3429000" cy="53035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SHA-256 by default</a:t>
            </a:r>
            <a:pPr indent="0" marL="0">
              <a:buNone/>
            </a:pPr>
            <a:endParaRPr lang="en-US" sz="1200" dirty="0"/>
          </a:p>
          <a:p>
            <a:pPr indent="0" marL="0">
              <a:buNone/>
            </a:pPr>
            <a:r>
              <a:rPr lang="en-US" sz="1050" dirty="0">
                <a:solidFill>
                  <a:srgbClr val="1F2937"/>
                </a:solidFill>
                <a:latin typeface="Calibri" pitchFamily="34" charset="0"/>
                <a:ea typeface="Calibri" pitchFamily="34" charset="-122"/>
                <a:cs typeface="Calibri" pitchFamily="34" charset="-120"/>
              </a:rPr>
              <a:t>Git plans SHA-256 for new repositories (Git 3.0).</a:t>
            </a:r>
            <a:endParaRPr lang="en-US" sz="1200" dirty="0"/>
          </a:p>
        </p:txBody>
      </p:sp>
      <p:sp>
        <p:nvSpPr>
          <p:cNvPr id="9" name="Shape 7"/>
          <p:cNvSpPr/>
          <p:nvPr/>
        </p:nvSpPr>
        <p:spPr>
          <a:xfrm>
            <a:off x="457200" y="2130552"/>
            <a:ext cx="384048" cy="384048"/>
          </a:xfrm>
          <a:prstGeom prst="ellipse">
            <a:avLst/>
          </a:prstGeom>
          <a:solidFill>
            <a:srgbClr val="FCA311"/>
          </a:solidFill>
          <a:ln w="12700">
            <a:solidFill>
              <a:srgbClr val="FCA311"/>
            </a:solidFill>
            <a:prstDash val="solid"/>
          </a:ln>
        </p:spPr>
      </p:sp>
      <p:sp>
        <p:nvSpPr>
          <p:cNvPr id="10" name="Text 8"/>
          <p:cNvSpPr txBox="1"/>
          <p:nvPr/>
        </p:nvSpPr>
        <p:spPr>
          <a:xfrm>
            <a:off x="457200" y="2130552"/>
            <a:ext cx="384048" cy="38404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960120" y="2084832"/>
            <a:ext cx="3429000" cy="53035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AI data and models</a:t>
            </a:r>
            <a:pPr indent="0" marL="0">
              <a:buNone/>
            </a:pPr>
            <a:endParaRPr lang="en-US" sz="1200" dirty="0"/>
          </a:p>
          <a:p>
            <a:pPr indent="0" marL="0">
              <a:buNone/>
            </a:pPr>
            <a:r>
              <a:rPr lang="en-US" sz="1050" dirty="0">
                <a:solidFill>
                  <a:srgbClr val="1F2937"/>
                </a:solidFill>
                <a:latin typeface="Calibri" pitchFamily="34" charset="0"/>
                <a:ea typeface="Calibri" pitchFamily="34" charset="-122"/>
                <a:cs typeface="Calibri" pitchFamily="34" charset="-120"/>
              </a:rPr>
              <a:t>Large datasets and models versioned by hash (DVC, Hugging Face).</a:t>
            </a:r>
            <a:endParaRPr lang="en-US" sz="1200" dirty="0"/>
          </a:p>
        </p:txBody>
      </p:sp>
      <p:sp>
        <p:nvSpPr>
          <p:cNvPr id="12" name="Shape 10"/>
          <p:cNvSpPr/>
          <p:nvPr/>
        </p:nvSpPr>
        <p:spPr>
          <a:xfrm>
            <a:off x="457200" y="2734056"/>
            <a:ext cx="384048" cy="384048"/>
          </a:xfrm>
          <a:prstGeom prst="ellipse">
            <a:avLst/>
          </a:prstGeom>
          <a:solidFill>
            <a:srgbClr val="FCA311"/>
          </a:solidFill>
          <a:ln w="12700">
            <a:solidFill>
              <a:srgbClr val="FCA311"/>
            </a:solidFill>
            <a:prstDash val="solid"/>
          </a:ln>
        </p:spPr>
      </p:sp>
      <p:sp>
        <p:nvSpPr>
          <p:cNvPr id="13" name="Text 11"/>
          <p:cNvSpPr txBox="1"/>
          <p:nvPr/>
        </p:nvSpPr>
        <p:spPr>
          <a:xfrm>
            <a:off x="457200" y="2734056"/>
            <a:ext cx="384048" cy="38404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960120" y="2688336"/>
            <a:ext cx="3429000" cy="53035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Secure supply chain</a:t>
            </a:r>
            <a:pPr indent="0" marL="0">
              <a:buNone/>
            </a:pPr>
            <a:endParaRPr lang="en-US" sz="1200" dirty="0"/>
          </a:p>
          <a:p>
            <a:pPr indent="0" marL="0">
              <a:buNone/>
            </a:pPr>
            <a:r>
              <a:rPr lang="en-US" sz="1050" dirty="0">
                <a:solidFill>
                  <a:srgbClr val="1F2937"/>
                </a:solidFill>
                <a:latin typeface="Calibri" pitchFamily="34" charset="0"/>
                <a:ea typeface="Calibri" pitchFamily="34" charset="-122"/>
                <a:cs typeface="Calibri" pitchFamily="34" charset="-120"/>
              </a:rPr>
              <a:t>Packages and containers verified by their digest (Sigstore).</a:t>
            </a:r>
            <a:endParaRPr lang="en-US" sz="1200" dirty="0"/>
          </a:p>
        </p:txBody>
      </p:sp>
      <p:sp>
        <p:nvSpPr>
          <p:cNvPr id="15" name="Shape 13"/>
          <p:cNvSpPr/>
          <p:nvPr/>
        </p:nvSpPr>
        <p:spPr>
          <a:xfrm>
            <a:off x="457200" y="3337560"/>
            <a:ext cx="384048" cy="384048"/>
          </a:xfrm>
          <a:prstGeom prst="ellipse">
            <a:avLst/>
          </a:prstGeom>
          <a:solidFill>
            <a:srgbClr val="FCA311"/>
          </a:solidFill>
          <a:ln w="12700">
            <a:solidFill>
              <a:srgbClr val="FCA311"/>
            </a:solidFill>
            <a:prstDash val="solid"/>
          </a:ln>
        </p:spPr>
      </p:sp>
      <p:sp>
        <p:nvSpPr>
          <p:cNvPr id="16" name="Text 14"/>
          <p:cNvSpPr txBox="1"/>
          <p:nvPr/>
        </p:nvSpPr>
        <p:spPr>
          <a:xfrm>
            <a:off x="457200" y="3337560"/>
            <a:ext cx="384048" cy="38404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960120" y="3291840"/>
            <a:ext cx="3429000" cy="53035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Content-addressed web</a:t>
            </a:r>
            <a:pPr indent="0" marL="0">
              <a:buNone/>
            </a:pPr>
            <a:endParaRPr lang="en-US" sz="1200" dirty="0"/>
          </a:p>
          <a:p>
            <a:pPr indent="0" marL="0">
              <a:buNone/>
            </a:pPr>
            <a:r>
              <a:rPr lang="en-US" sz="1050" dirty="0">
                <a:solidFill>
                  <a:srgbClr val="1F2937"/>
                </a:solidFill>
                <a:latin typeface="Calibri" pitchFamily="34" charset="0"/>
                <a:ea typeface="Calibri" pitchFamily="34" charset="-122"/>
                <a:cs typeface="Calibri" pitchFamily="34" charset="-120"/>
              </a:rPr>
              <a:t>Links point to content, not one server (IPFS).</a:t>
            </a:r>
            <a:endParaRPr lang="en-US" sz="1200" dirty="0"/>
          </a:p>
        </p:txBody>
      </p:sp>
      <p:sp>
        <p:nvSpPr>
          <p:cNvPr id="18" name="Text 16"/>
          <p:cNvSpPr txBox="1"/>
          <p:nvPr/>
        </p:nvSpPr>
        <p:spPr>
          <a:xfrm>
            <a:off x="4663440" y="1143000"/>
            <a:ext cx="4023360" cy="274320"/>
          </a:xfrm>
          <a:prstGeom prst="rect">
            <a:avLst/>
          </a:prstGeom>
          <a:noFill/>
          <a:ln/>
        </p:spPr>
        <p:txBody>
          <a:bodyPr wrap="square" lIns="0" tIns="0" rIns="0" bIns="0" rtlCol="0" anchor="ctr"/>
          <a:lstStyle/>
          <a:p>
            <a:pPr indent="0" marL="0">
              <a:buNone/>
            </a:pPr>
            <a:r>
              <a:rPr lang="en-US" sz="1300" b="1" dirty="0">
                <a:solidFill>
                  <a:srgbClr val="B26A00"/>
                </a:solidFill>
                <a:latin typeface="Calibri" pitchFamily="34" charset="0"/>
                <a:ea typeface="Calibri" pitchFamily="34" charset="-122"/>
                <a:cs typeface="Calibri" pitchFamily="34" charset="-120"/>
              </a:rPr>
              <a:t>Reflection</a:t>
            </a:r>
            <a:endParaRPr lang="en-US" sz="1300" dirty="0"/>
          </a:p>
        </p:txBody>
      </p:sp>
      <p:sp>
        <p:nvSpPr>
          <p:cNvPr id="19" name="Shape 17"/>
          <p:cNvSpPr/>
          <p:nvPr/>
        </p:nvSpPr>
        <p:spPr>
          <a:xfrm>
            <a:off x="4663440" y="1481328"/>
            <a:ext cx="4023360" cy="713232"/>
          </a:xfrm>
          <a:prstGeom prst="roundRect">
            <a:avLst>
              <a:gd name="adj" fmla="val 10256"/>
            </a:avLst>
          </a:prstGeom>
          <a:solidFill>
            <a:srgbClr val="FFF3DC"/>
          </a:solidFill>
          <a:ln w="12700">
            <a:solidFill>
              <a:srgbClr val="FFF3DC"/>
            </a:solidFill>
            <a:prstDash val="solid"/>
          </a:ln>
        </p:spPr>
      </p:sp>
      <p:sp>
        <p:nvSpPr>
          <p:cNvPr id="20" name="Text 18"/>
          <p:cNvSpPr txBox="1"/>
          <p:nvPr/>
        </p:nvSpPr>
        <p:spPr>
          <a:xfrm>
            <a:off x="4800600" y="1481328"/>
            <a:ext cx="3794760" cy="7132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Learned: </a:t>
            </a:r>
            <a:pPr indent="0" marL="0">
              <a:buNone/>
            </a:pPr>
            <a:r>
              <a:rPr lang="en-US" sz="1100" dirty="0">
                <a:solidFill>
                  <a:srgbClr val="1F2937"/>
                </a:solidFill>
                <a:latin typeface="Calibri" pitchFamily="34" charset="0"/>
                <a:ea typeface="Calibri" pitchFamily="34" charset="-122"/>
                <a:cs typeface="Calibri" pitchFamily="34" charset="-120"/>
              </a:rPr>
              <a:t>Git is a key-value store keyed by hashes. Knowing why a structure is used matters more than memorising it.</a:t>
            </a:r>
            <a:endParaRPr lang="en-US" sz="1100" dirty="0"/>
          </a:p>
        </p:txBody>
      </p:sp>
      <p:sp>
        <p:nvSpPr>
          <p:cNvPr id="21" name="Shape 19"/>
          <p:cNvSpPr/>
          <p:nvPr/>
        </p:nvSpPr>
        <p:spPr>
          <a:xfrm>
            <a:off x="4663440" y="2286000"/>
            <a:ext cx="4023360" cy="713232"/>
          </a:xfrm>
          <a:prstGeom prst="roundRect">
            <a:avLst>
              <a:gd name="adj" fmla="val 10256"/>
            </a:avLst>
          </a:prstGeom>
          <a:solidFill>
            <a:srgbClr val="EEF2F7"/>
          </a:solidFill>
          <a:ln w="12700">
            <a:solidFill>
              <a:srgbClr val="EEF2F7"/>
            </a:solidFill>
            <a:prstDash val="solid"/>
          </a:ln>
        </p:spPr>
      </p:sp>
      <p:sp>
        <p:nvSpPr>
          <p:cNvPr id="22" name="Text 20"/>
          <p:cNvSpPr txBox="1"/>
          <p:nvPr/>
        </p:nvSpPr>
        <p:spPr>
          <a:xfrm>
            <a:off x="4800600" y="2286000"/>
            <a:ext cx="3794760" cy="7132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Difficult: </a:t>
            </a:r>
            <a:pPr indent="0" marL="0">
              <a:buNone/>
            </a:pPr>
            <a:r>
              <a:rPr lang="en-US" sz="1100" dirty="0">
                <a:solidFill>
                  <a:srgbClr val="1F2937"/>
                </a:solidFill>
                <a:latin typeface="Calibri" pitchFamily="34" charset="0"/>
                <a:ea typeface="Calibri" pitchFamily="34" charset="-122"/>
                <a:cs typeface="Calibri" pitchFamily="34" charset="-120"/>
              </a:rPr>
              <a:t>SHA-1 bit operations, and binary data: the \0 in the header breaks normal string functions.</a:t>
            </a:r>
            <a:endParaRPr lang="en-US" sz="1100" dirty="0"/>
          </a:p>
        </p:txBody>
      </p:sp>
      <p:sp>
        <p:nvSpPr>
          <p:cNvPr id="23" name="Shape 21"/>
          <p:cNvSpPr/>
          <p:nvPr/>
        </p:nvSpPr>
        <p:spPr>
          <a:xfrm>
            <a:off x="4663440" y="3090672"/>
            <a:ext cx="4023360" cy="713232"/>
          </a:xfrm>
          <a:prstGeom prst="roundRect">
            <a:avLst>
              <a:gd name="adj" fmla="val 10256"/>
            </a:avLst>
          </a:prstGeom>
          <a:solidFill>
            <a:srgbClr val="FFF3DC"/>
          </a:solidFill>
          <a:ln w="12700">
            <a:solidFill>
              <a:srgbClr val="FFF3DC"/>
            </a:solidFill>
            <a:prstDash val="solid"/>
          </a:ln>
        </p:spPr>
      </p:sp>
      <p:sp>
        <p:nvSpPr>
          <p:cNvPr id="24" name="Text 22"/>
          <p:cNvSpPr txBox="1"/>
          <p:nvPr/>
        </p:nvSpPr>
        <p:spPr>
          <a:xfrm>
            <a:off x="4800600" y="3090672"/>
            <a:ext cx="3794760" cy="7132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Next step: </a:t>
            </a:r>
            <a:pPr indent="0" marL="0">
              <a:buNone/>
            </a:pPr>
            <a:r>
              <a:rPr lang="en-US" sz="1100" dirty="0">
                <a:solidFill>
                  <a:srgbClr val="1F2937"/>
                </a:solidFill>
                <a:latin typeface="Calibri" pitchFamily="34" charset="0"/>
                <a:ea typeface="Calibri" pitchFamily="34" charset="-122"/>
                <a:cs typeface="Calibri" pitchFamily="34" charset="-120"/>
              </a:rPr>
              <a:t>Add tree and commit objects, a log command and compression to minigit.</a:t>
            </a:r>
            <a:endParaRPr lang="en-US" sz="1100" dirty="0"/>
          </a:p>
        </p:txBody>
      </p:sp>
      <p:sp>
        <p:nvSpPr>
          <p:cNvPr id="25" name="Text 23"/>
          <p:cNvSpPr txBox="1"/>
          <p:nvPr/>
        </p:nvSpPr>
        <p:spPr>
          <a:xfrm>
            <a:off x="457200" y="4023360"/>
            <a:ext cx="8229600" cy="658368"/>
          </a:xfrm>
          <a:prstGeom prst="rect">
            <a:avLst/>
          </a:prstGeom>
          <a:noFill/>
          <a:ln/>
        </p:spPr>
        <p:txBody>
          <a:bodyPr wrap="square" lIns="0" tIns="0" rIns="0" bIns="0" rtlCol="0" anchor="t"/>
          <a:lstStyle/>
          <a:p>
            <a:pPr indent="0" marL="0">
              <a:buNone/>
            </a:pPr>
            <a:r>
              <a:rPr lang="en-US" sz="950" b="1" dirty="0">
                <a:solidFill>
                  <a:srgbClr val="14213D"/>
                </a:solidFill>
                <a:latin typeface="Calibri" pitchFamily="34" charset="0"/>
                <a:ea typeface="Calibri" pitchFamily="34" charset="-122"/>
                <a:cs typeface="Calibri" pitchFamily="34" charset="-120"/>
              </a:rPr>
              <a:t>References: </a:t>
            </a:r>
            <a:pPr indent="0" marL="0">
              <a:buNone/>
            </a:pPr>
            <a:r>
              <a:rPr lang="en-US" sz="950" dirty="0">
                <a:solidFill>
                  <a:srgbClr val="5B6472"/>
                </a:solidFill>
                <a:latin typeface="Calibri" pitchFamily="34" charset="0"/>
                <a:ea typeface="Calibri" pitchFamily="34" charset="-122"/>
                <a:cs typeface="Calibri" pitchFamily="34" charset="-120"/>
              </a:rPr>
              <a:t>Chacon &amp; Straub, Pro Git, Ch. 10 · Quinlan &amp; Dorward, "Venti", USENIX FAST 2002 · Merkle, CRYPTO '87 · Stevens et al., "First Collision for Full SHA-1", CRYPTO 2017 · NIST FIPS 180-4 · Benet, "IPFS", 2014 · Cormen et al., CLRS Ch. 11 · GeeksforGeeks: Hashing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Content-Addressable Storage &amp; Git Internals</dc:title>
  <dc:subject>PptxGenJS Presentation</dc:subject>
  <dc:creator>PptxGenJS</dc:creator>
  <cp:lastModifiedBy>PptxGenJS</cp:lastModifiedBy>
  <cp:revision>1</cp:revision>
  <dcterms:created xsi:type="dcterms:W3CDTF">2026-09-23T03:38:04Z</dcterms:created>
  <dcterms:modified xsi:type="dcterms:W3CDTF">2026-09-23T03:38:04Z</dcterms:modified>
</cp:coreProperties>
</file>