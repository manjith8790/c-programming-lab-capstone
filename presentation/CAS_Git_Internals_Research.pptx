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topic is Content-Addressable Storage and how Git uses it internally. The whole presentation answers one question: why does this data structure exist, and why does industry still use it today? The line in the box is a real example: the text Hello World always gets this same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asks one question. My answer: because the address comes from the content, we get three things for free. Fast lookup, storing duplicates only once, and checking whether data was damaged. These three are why Git, Docker and backup tools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storage finds a file by its location, like a path. CAS turns this around: we run the content through a hash function such as SHA-1, and the result becomes the name. A hash works like a fingerprint. Same content always gives the same hash, and changing even one character gives a completely different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searching, I asked the questions from the template. Q1: the problem is storing many versions without wasting space, while still being able to detect damage and get old versions back. Q2: an array only knows positions. To find a duplicate we would compare with every file, which is slow, and an array cannot tell us whether a file was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using the hash of the content as the key gives O(1) lookup, automatic deduplication, and integrity checking. Q4: only five operations are needed: hash, put, get, contains and verify. Q5: a tree-based index can search in log n, but it does not give deduplication or integrity by itself. Those come from the hash, so the idea cannot simply be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is not one data structure but four simple ones working together. The object store is a hash table. Folders are trees. The history is a linked list of commits, which becomes a DAG when branches merge. Because each parent contains the hashes of its children, the whole thing is a Merkle tree: the top hash depends on every byte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has only three main object types. A blob is just the file content, with no name. A tree is a folder: a list of names and the hashes of their blobs. A commit points to one tree, which is the snapshot, and to its parent commit, which gives history. All three are stored the same way: build the text, hash it, save it under the hash. Short hashes like 8f3a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algorithm. Read the file, add a small header with the type and size, hash everything with SHA-1. If an object with that hash already exists, we skip it: that is deduplication. Otherwise we write it into a folder named after the first two characters. To read, we turn the hash into a path. To verify, we hash the stored bytes again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implemented the storage part in C, in about 200 lines with no external libraries. On the left are the functions and the C concepts each one uses. SHA-1 uses bitwise operations. Storing uses file I/O and dynamic memory. On the right is real output: my program gives exactly the same hash as real Git. The same content is stored only once, and changing a single byte is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 time complexity. Hashing costs O(k), where k is the file size, because every byte is read once. After that, finding, checking duplicates and inserting are O(1) on average. An array needs O(n), and a tree needs log n. Only CAS can verify integrity. For space, unchanged files are shared, so storage grows only with what actually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data structure is perfect. The biggest one is hash collision: in 2017 researchers created two different PDFs with the same SHA-1. Git now detects that attack and is moving to SHA-256. Storage grows because nothing is deleted, so Git has garbage collection. Small edits create full copies, so Git packs objects as differences. Big files use Git LFS. Branch names solve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industry still uses it. Git and GitHub name everything by hash. Docker names image layers by sha256, so shared layers are downloaded only once. IPFS finds files by content instead of by server. Backup tools like restic store only new chunks each day. Bitcoin links blocks by hash, so old data cannot be changed secretly. pnpm shares packages across projects. Same idea, different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five options. Only the hash table keyed by the content hash gives all four features: fast lookup, no duplicates, corruption detection and history. A hash table keyed by file name is fast but overwrites old versions. My own conclusion: CAS is not always best. For data that changes constantly, like a bank balance, a normal database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own diagram. Version 1 has main.c and README. I edit only main.c and commit again. Git creates a new blob for main.c, a new tree and a new commit. README has the same content, so the new tree just points to the old blob B. Nothing is copied. Commit C2 points back to C1 as its parent, which is how history works. Hashes shown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follows the research cycle from the template, filled in for my topic, from the problem all the way to future scope. Row one is the idea, row two is how it becomes a real product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ten years I expect four things. Git moving to SHA-256 by default. AI teams versioning huge datasets and models by hash. Software security, where every package and container is identified by its hash, so modified code is detected. And a web where links point to content instead of a single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reflection. I learned that Git is really a key-value store keyed by hashes. It surprised me that my small C program matches real Git exactly. The hardest part was the SHA-1 bit operations and handling binary data in C. Next I would add trees, commits and compression.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viva. These are the questions I expect, with short answers in my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viva. These are the questions I expect, with short answers in my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sources: the Pro Git book for Git internals, the Venti paper which introduced content-addressable archival storage, Merkle's paper for hash trees, the SHAttered paper for SHA-1 collisions, the NIST hash standard, the IPFS paper, and documentation from Git and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if we name data by its content, we get fast lookup, deduplication and integrity checking for free. That is why this idea is still used everywhere today.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RESEARCH EXPLORATION ASSIGNMENT  ·  C PROGRAMMING LAB</a:t>
            </a:r>
            <a:endParaRPr lang="en-US" sz="1100" dirty="0"/>
          </a:p>
        </p:txBody>
      </p:sp>
      <p:sp>
        <p:nvSpPr>
          <p:cNvPr id="3" name="Text 1"/>
          <p:cNvSpPr txBox="1"/>
          <p:nvPr/>
        </p:nvSpPr>
        <p:spPr>
          <a:xfrm>
            <a:off x="548640" y="1051560"/>
            <a:ext cx="8046720" cy="13716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Content-Addressable Storage</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&amp; Git Internals</a:t>
            </a:r>
            <a:endParaRPr lang="en-US" sz="3800" dirty="0"/>
          </a:p>
        </p:txBody>
      </p:sp>
      <p:sp>
        <p:nvSpPr>
          <p:cNvPr id="4" name="Text 2"/>
          <p:cNvSpPr txBox="1"/>
          <p:nvPr/>
        </p:nvSpPr>
        <p:spPr>
          <a:xfrm>
            <a:off x="548640" y="2514600"/>
            <a:ext cx="8046720" cy="3657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Why does this data structure exist, and why does industry still use it today?</a:t>
            </a:r>
            <a:endParaRPr lang="en-US" sz="1600" dirty="0"/>
          </a:p>
        </p:txBody>
      </p:sp>
      <p:sp>
        <p:nvSpPr>
          <p:cNvPr id="5" name="Shape 3"/>
          <p:cNvSpPr/>
          <p:nvPr/>
        </p:nvSpPr>
        <p:spPr>
          <a:xfrm>
            <a:off x="548640" y="3154680"/>
            <a:ext cx="4846320" cy="411480"/>
          </a:xfrm>
          <a:prstGeom prst="roundRect">
            <a:avLst>
              <a:gd name="adj" fmla="val 17778"/>
            </a:avLst>
          </a:prstGeom>
          <a:solidFill>
            <a:srgbClr val="22325A"/>
          </a:solidFill>
          <a:ln w="12700">
            <a:solidFill>
              <a:srgbClr val="22325A"/>
            </a:solidFill>
            <a:prstDash val="solid"/>
          </a:ln>
        </p:spPr>
      </p:sp>
      <p:sp>
        <p:nvSpPr>
          <p:cNvPr id="6" name="Text 4"/>
          <p:cNvSpPr txBox="1"/>
          <p:nvPr/>
        </p:nvSpPr>
        <p:spPr>
          <a:xfrm>
            <a:off x="685800" y="3154680"/>
            <a:ext cx="4663440" cy="411480"/>
          </a:xfrm>
          <a:prstGeom prst="rect">
            <a:avLst/>
          </a:prstGeom>
          <a:noFill/>
          <a:ln/>
        </p:spPr>
        <p:txBody>
          <a:bodyPr wrap="square" lIns="0" tIns="0" rIns="0" bIns="0" rtlCol="0" anchor="ctr"/>
          <a:lstStyle/>
          <a:p>
            <a:pPr indent="0" marL="0">
              <a:buNone/>
            </a:pPr>
            <a:r>
              <a:rPr lang="en-US" sz="1300" dirty="0">
                <a:solidFill>
                  <a:srgbClr val="FCA311"/>
                </a:solidFill>
                <a:latin typeface="Courier New" pitchFamily="34" charset="0"/>
                <a:ea typeface="Courier New" pitchFamily="34" charset="-122"/>
                <a:cs typeface="Courier New" pitchFamily="34" charset="-120"/>
              </a:rPr>
              <a:t>"Hello World" → 557db03de997c86a4a028e1e…</a:t>
            </a:r>
            <a:endParaRPr lang="en-US" sz="1300" dirty="0"/>
          </a:p>
        </p:txBody>
      </p:sp>
      <p:sp>
        <p:nvSpPr>
          <p:cNvPr id="7" name="Text 5"/>
          <p:cNvSpPr txBox="1"/>
          <p:nvPr/>
        </p:nvSpPr>
        <p:spPr>
          <a:xfrm>
            <a:off x="548640" y="4114800"/>
            <a:ext cx="804672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Presented by: ______________________     Roll No: ____________</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HOW TO APPROACH</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One Question This Research Answers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188720"/>
            <a:ext cx="8229600" cy="914400"/>
          </a:xfrm>
          <a:prstGeom prst="roundRect">
            <a:avLst>
              <a:gd name="adj" fmla="val 8000"/>
            </a:avLst>
          </a:prstGeom>
          <a:solidFill>
            <a:srgbClr val="EEF2F7"/>
          </a:solidFill>
          <a:ln w="12700">
            <a:solidFill>
              <a:srgbClr val="EEF2F7"/>
            </a:solidFill>
            <a:prstDash val="solid"/>
          </a:ln>
        </p:spPr>
      </p:sp>
      <p:sp>
        <p:nvSpPr>
          <p:cNvPr id="6" name="Text 4"/>
          <p:cNvSpPr txBox="1"/>
          <p:nvPr/>
        </p:nvSpPr>
        <p:spPr>
          <a:xfrm>
            <a:off x="685800" y="1188720"/>
            <a:ext cx="7772400" cy="914400"/>
          </a:xfrm>
          <a:prstGeom prst="rect">
            <a:avLst/>
          </a:prstGeom>
          <a:noFill/>
          <a:ln/>
        </p:spPr>
        <p:txBody>
          <a:bodyPr wrap="square" lIns="0" tIns="0" rIns="0" bIns="0" rtlCol="0" anchor="ctr"/>
          <a:lstStyle/>
          <a:p>
            <a:pPr indent="0" marL="0">
              <a:buNone/>
            </a:pPr>
            <a:r>
              <a:rPr lang="en-US" sz="1900" i="1" dirty="0">
                <a:solidFill>
                  <a:srgbClr val="14213D"/>
                </a:solidFill>
                <a:latin typeface="Cambria" pitchFamily="34" charset="0"/>
                <a:ea typeface="Cambria" pitchFamily="34" charset="-122"/>
                <a:cs typeface="Cambria" pitchFamily="34" charset="-120"/>
              </a:rPr>
              <a:t>"Why does this data structure exist, and why does industry still use it today?"</a:t>
            </a:r>
            <a:endParaRPr lang="en-US" sz="1900" dirty="0"/>
          </a:p>
        </p:txBody>
      </p:sp>
      <p:sp>
        <p:nvSpPr>
          <p:cNvPr id="7" name="Text 5"/>
          <p:cNvSpPr txBox="1"/>
          <p:nvPr/>
        </p:nvSpPr>
        <p:spPr>
          <a:xfrm>
            <a:off x="457200" y="2331720"/>
            <a:ext cx="8229600" cy="274320"/>
          </a:xfrm>
          <a:prstGeom prst="rect">
            <a:avLst/>
          </a:prstGeom>
          <a:noFill/>
          <a:ln/>
        </p:spPr>
        <p:txBody>
          <a:bodyPr wrap="square" lIns="0" tIns="0" rIns="0" bIns="0" rtlCol="0" anchor="ctr"/>
          <a:lstStyle/>
          <a:p>
            <a:pPr indent="0" marL="0">
              <a:buNone/>
            </a:pPr>
            <a:r>
              <a:rPr lang="en-US" sz="1400" b="1" dirty="0">
                <a:solidFill>
                  <a:srgbClr val="B26A00"/>
                </a:solidFill>
                <a:latin typeface="Calibri" pitchFamily="34" charset="0"/>
                <a:ea typeface="Calibri" pitchFamily="34" charset="-122"/>
                <a:cs typeface="Calibri" pitchFamily="34" charset="-120"/>
              </a:rPr>
              <a:t>My short answer</a:t>
            </a:r>
            <a:endParaRPr lang="en-US" sz="1400" dirty="0"/>
          </a:p>
        </p:txBody>
      </p:sp>
      <p:sp>
        <p:nvSpPr>
          <p:cNvPr id="8" name="Text 6"/>
          <p:cNvSpPr txBox="1"/>
          <p:nvPr/>
        </p:nvSpPr>
        <p:spPr>
          <a:xfrm>
            <a:off x="457200" y="2606040"/>
            <a:ext cx="822960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It lets a computer find, de-duplicate and verify data using only the data itself. Version control, containers, backups and blockchains all need exactly these three things.</a:t>
            </a:r>
            <a:endParaRPr lang="en-US" sz="1400" dirty="0"/>
          </a:p>
        </p:txBody>
      </p:sp>
      <p:sp>
        <p:nvSpPr>
          <p:cNvPr id="9" name="Shape 7"/>
          <p:cNvSpPr/>
          <p:nvPr/>
        </p:nvSpPr>
        <p:spPr>
          <a:xfrm>
            <a:off x="457200" y="3337560"/>
            <a:ext cx="2606040" cy="1280160"/>
          </a:xfrm>
          <a:prstGeom prst="roundRect">
            <a:avLst>
              <a:gd name="adj" fmla="val 5714"/>
            </a:avLst>
          </a:prstGeom>
          <a:solidFill>
            <a:srgbClr val="FFFFFF"/>
          </a:solidFill>
          <a:ln w="12700">
            <a:solidFill>
              <a:srgbClr val="C9D2DE"/>
            </a:solidFill>
            <a:prstDash val="solid"/>
          </a:ln>
        </p:spPr>
      </p:sp>
      <p:sp>
        <p:nvSpPr>
          <p:cNvPr id="10" name="Shape 8"/>
          <p:cNvSpPr/>
          <p:nvPr/>
        </p:nvSpPr>
        <p:spPr>
          <a:xfrm>
            <a:off x="594360" y="3474720"/>
            <a:ext cx="411480" cy="411480"/>
          </a:xfrm>
          <a:prstGeom prst="ellipse">
            <a:avLst/>
          </a:prstGeom>
          <a:solidFill>
            <a:srgbClr val="FCA311"/>
          </a:solidFill>
          <a:ln w="12700">
            <a:solidFill>
              <a:srgbClr val="FCA311"/>
            </a:solidFill>
            <a:prstDash val="solid"/>
          </a:ln>
        </p:spPr>
      </p:sp>
      <p:sp>
        <p:nvSpPr>
          <p:cNvPr id="11" name="Text 9"/>
          <p:cNvSpPr txBox="1"/>
          <p:nvPr/>
        </p:nvSpPr>
        <p:spPr>
          <a:xfrm>
            <a:off x="594360" y="3474720"/>
            <a:ext cx="41148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1097280" y="3474720"/>
            <a:ext cx="18288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Find fast</a:t>
            </a:r>
            <a:endParaRPr lang="en-US" sz="1500" dirty="0"/>
          </a:p>
        </p:txBody>
      </p:sp>
      <p:sp>
        <p:nvSpPr>
          <p:cNvPr id="13" name="Text 11"/>
          <p:cNvSpPr txBox="1"/>
          <p:nvPr/>
        </p:nvSpPr>
        <p:spPr>
          <a:xfrm>
            <a:off x="594360" y="3931920"/>
            <a:ext cx="2331720" cy="6400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The address is calculated from the content, so lookup is O(1) on average.</a:t>
            </a:r>
            <a:endParaRPr lang="en-US" sz="1200" dirty="0"/>
          </a:p>
        </p:txBody>
      </p:sp>
      <p:sp>
        <p:nvSpPr>
          <p:cNvPr id="14" name="Shape 12"/>
          <p:cNvSpPr/>
          <p:nvPr/>
        </p:nvSpPr>
        <p:spPr>
          <a:xfrm>
            <a:off x="3291840" y="3337560"/>
            <a:ext cx="2606040" cy="1280160"/>
          </a:xfrm>
          <a:prstGeom prst="roundRect">
            <a:avLst>
              <a:gd name="adj" fmla="val 5714"/>
            </a:avLst>
          </a:prstGeom>
          <a:solidFill>
            <a:srgbClr val="FFFFFF"/>
          </a:solidFill>
          <a:ln w="12700">
            <a:solidFill>
              <a:srgbClr val="C9D2DE"/>
            </a:solidFill>
            <a:prstDash val="solid"/>
          </a:ln>
        </p:spPr>
      </p:sp>
      <p:sp>
        <p:nvSpPr>
          <p:cNvPr id="15" name="Shape 13"/>
          <p:cNvSpPr/>
          <p:nvPr/>
        </p:nvSpPr>
        <p:spPr>
          <a:xfrm>
            <a:off x="3429000" y="3474720"/>
            <a:ext cx="411480" cy="411480"/>
          </a:xfrm>
          <a:prstGeom prst="ellipse">
            <a:avLst/>
          </a:prstGeom>
          <a:solidFill>
            <a:srgbClr val="FCA311"/>
          </a:solidFill>
          <a:ln w="12700">
            <a:solidFill>
              <a:srgbClr val="FCA311"/>
            </a:solidFill>
            <a:prstDash val="solid"/>
          </a:ln>
        </p:spPr>
      </p:sp>
      <p:sp>
        <p:nvSpPr>
          <p:cNvPr id="16" name="Text 14"/>
          <p:cNvSpPr txBox="1"/>
          <p:nvPr/>
        </p:nvSpPr>
        <p:spPr>
          <a:xfrm>
            <a:off x="3429000" y="3474720"/>
            <a:ext cx="41148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3931920" y="3474720"/>
            <a:ext cx="18288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Store once</a:t>
            </a:r>
            <a:endParaRPr lang="en-US" sz="1500" dirty="0"/>
          </a:p>
        </p:txBody>
      </p:sp>
      <p:sp>
        <p:nvSpPr>
          <p:cNvPr id="18" name="Text 16"/>
          <p:cNvSpPr txBox="1"/>
          <p:nvPr/>
        </p:nvSpPr>
        <p:spPr>
          <a:xfrm>
            <a:off x="3429000" y="3931920"/>
            <a:ext cx="2331720" cy="6400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Same content → same address, so duplicates are stored only one time.</a:t>
            </a:r>
            <a:endParaRPr lang="en-US" sz="1200" dirty="0"/>
          </a:p>
        </p:txBody>
      </p:sp>
      <p:sp>
        <p:nvSpPr>
          <p:cNvPr id="19" name="Shape 17"/>
          <p:cNvSpPr/>
          <p:nvPr/>
        </p:nvSpPr>
        <p:spPr>
          <a:xfrm>
            <a:off x="6126480" y="3337560"/>
            <a:ext cx="2606040" cy="1280160"/>
          </a:xfrm>
          <a:prstGeom prst="roundRect">
            <a:avLst>
              <a:gd name="adj" fmla="val 5714"/>
            </a:avLst>
          </a:prstGeom>
          <a:solidFill>
            <a:srgbClr val="FFFFFF"/>
          </a:solidFill>
          <a:ln w="12700">
            <a:solidFill>
              <a:srgbClr val="C9D2DE"/>
            </a:solidFill>
            <a:prstDash val="solid"/>
          </a:ln>
        </p:spPr>
      </p:sp>
      <p:sp>
        <p:nvSpPr>
          <p:cNvPr id="20" name="Shape 18"/>
          <p:cNvSpPr/>
          <p:nvPr/>
        </p:nvSpPr>
        <p:spPr>
          <a:xfrm>
            <a:off x="6263640" y="3474720"/>
            <a:ext cx="411480" cy="411480"/>
          </a:xfrm>
          <a:prstGeom prst="ellipse">
            <a:avLst/>
          </a:prstGeom>
          <a:solidFill>
            <a:srgbClr val="FCA311"/>
          </a:solidFill>
          <a:ln w="12700">
            <a:solidFill>
              <a:srgbClr val="FCA311"/>
            </a:solidFill>
            <a:prstDash val="solid"/>
          </a:ln>
        </p:spPr>
      </p:sp>
      <p:sp>
        <p:nvSpPr>
          <p:cNvPr id="21" name="Text 19"/>
          <p:cNvSpPr txBox="1"/>
          <p:nvPr/>
        </p:nvSpPr>
        <p:spPr>
          <a:xfrm>
            <a:off x="6263640" y="3474720"/>
            <a:ext cx="41148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6766560" y="3474720"/>
            <a:ext cx="18288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Verify</a:t>
            </a:r>
            <a:endParaRPr lang="en-US" sz="1500" dirty="0"/>
          </a:p>
        </p:txBody>
      </p:sp>
      <p:sp>
        <p:nvSpPr>
          <p:cNvPr id="23" name="Text 21"/>
          <p:cNvSpPr txBox="1"/>
          <p:nvPr/>
        </p:nvSpPr>
        <p:spPr>
          <a:xfrm>
            <a:off x="6263640" y="3931920"/>
            <a:ext cx="2331720" cy="6400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Hash the data again. If the hash differs, the data was changed or corrupted.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UNDERSTAND THE TOPIC</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What Is Content-Addressable Storage?</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457200" y="1188720"/>
            <a:ext cx="3977640" cy="3063240"/>
          </a:xfrm>
          <a:prstGeom prst="roundRect">
            <a:avLst>
              <a:gd name="adj" fmla="val 2388"/>
            </a:avLst>
          </a:prstGeom>
          <a:solidFill>
            <a:srgbClr val="EEF2F7"/>
          </a:solidFill>
          <a:ln w="12700">
            <a:solidFill>
              <a:srgbClr val="EEF2F7"/>
            </a:solidFill>
            <a:prstDash val="solid"/>
          </a:ln>
        </p:spPr>
      </p:sp>
      <p:sp>
        <p:nvSpPr>
          <p:cNvPr id="6" name="Text 4"/>
          <p:cNvSpPr txBox="1"/>
          <p:nvPr/>
        </p:nvSpPr>
        <p:spPr>
          <a:xfrm>
            <a:off x="685800" y="1298448"/>
            <a:ext cx="356616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Normal storage (location-addressed)</a:t>
            </a:r>
            <a:endParaRPr lang="en-US" sz="1500" dirty="0"/>
          </a:p>
        </p:txBody>
      </p:sp>
      <p:sp>
        <p:nvSpPr>
          <p:cNvPr id="7" name="Text 5"/>
          <p:cNvSpPr txBox="1"/>
          <p:nvPr/>
        </p:nvSpPr>
        <p:spPr>
          <a:xfrm>
            <a:off x="685800" y="1618488"/>
            <a:ext cx="3566160" cy="27432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Asks: WHERE is the file?</a:t>
            </a:r>
            <a:endParaRPr lang="en-US" sz="1250" dirty="0"/>
          </a:p>
        </p:txBody>
      </p:sp>
      <p:sp>
        <p:nvSpPr>
          <p:cNvPr id="8" name="Shape 6"/>
          <p:cNvSpPr/>
          <p:nvPr/>
        </p:nvSpPr>
        <p:spPr>
          <a:xfrm>
            <a:off x="685800" y="2011680"/>
            <a:ext cx="1417320" cy="457200"/>
          </a:xfrm>
          <a:prstGeom prst="roundRect">
            <a:avLst>
              <a:gd name="adj" fmla="val 16000"/>
            </a:avLst>
          </a:prstGeom>
          <a:solidFill>
            <a:srgbClr val="FFFFFF"/>
          </a:solidFill>
          <a:ln w="12700">
            <a:solidFill>
              <a:srgbClr val="C9D2DE"/>
            </a:solidFill>
            <a:prstDash val="solid"/>
          </a:ln>
        </p:spPr>
      </p:sp>
      <p:sp>
        <p:nvSpPr>
          <p:cNvPr id="9" name="Text 7"/>
          <p:cNvSpPr txBox="1"/>
          <p:nvPr/>
        </p:nvSpPr>
        <p:spPr>
          <a:xfrm>
            <a:off x="685800" y="2011680"/>
            <a:ext cx="141732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ourier New" pitchFamily="34" charset="0"/>
                <a:ea typeface="Courier New" pitchFamily="34" charset="-122"/>
                <a:cs typeface="Courier New" pitchFamily="34" charset="-120"/>
              </a:rPr>
              <a:t>D:/notes.txt</a:t>
            </a:r>
            <a:endParaRPr lang="en-US" sz="1000" dirty="0"/>
          </a:p>
        </p:txBody>
      </p:sp>
      <p:sp>
        <p:nvSpPr>
          <p:cNvPr id="10" name="Shape 8"/>
          <p:cNvSpPr/>
          <p:nvPr/>
        </p:nvSpPr>
        <p:spPr>
          <a:xfrm>
            <a:off x="2148840" y="2240280"/>
            <a:ext cx="548640" cy="0"/>
          </a:xfrm>
          <a:prstGeom prst="line">
            <a:avLst/>
          </a:prstGeom>
          <a:noFill/>
          <a:ln w="19050">
            <a:solidFill>
              <a:srgbClr val="5B6472"/>
            </a:solidFill>
            <a:prstDash val="solid"/>
            <a:tailEnd type="triangle"/>
          </a:ln>
        </p:spPr>
      </p:sp>
      <p:sp>
        <p:nvSpPr>
          <p:cNvPr id="11" name="Text 9"/>
          <p:cNvSpPr txBox="1"/>
          <p:nvPr/>
        </p:nvSpPr>
        <p:spPr>
          <a:xfrm>
            <a:off x="2103120" y="1874520"/>
            <a:ext cx="64008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path</a:t>
            </a:r>
            <a:endParaRPr lang="en-US" sz="900" dirty="0"/>
          </a:p>
        </p:txBody>
      </p:sp>
      <p:sp>
        <p:nvSpPr>
          <p:cNvPr id="12" name="Shape 10"/>
          <p:cNvSpPr/>
          <p:nvPr/>
        </p:nvSpPr>
        <p:spPr>
          <a:xfrm>
            <a:off x="2743200" y="2011680"/>
            <a:ext cx="1463040" cy="457200"/>
          </a:xfrm>
          <a:prstGeom prst="roundRect">
            <a:avLst>
              <a:gd name="adj" fmla="val 16000"/>
            </a:avLst>
          </a:prstGeom>
          <a:solidFill>
            <a:srgbClr val="FFFFFF"/>
          </a:solidFill>
          <a:ln w="12700">
            <a:solidFill>
              <a:srgbClr val="C9D2DE"/>
            </a:solidFill>
            <a:prstDash val="solid"/>
          </a:ln>
        </p:spPr>
      </p:sp>
      <p:sp>
        <p:nvSpPr>
          <p:cNvPr id="13" name="Text 11"/>
          <p:cNvSpPr txBox="1"/>
          <p:nvPr/>
        </p:nvSpPr>
        <p:spPr>
          <a:xfrm>
            <a:off x="2743200" y="2011680"/>
            <a:ext cx="146304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ourier New" pitchFamily="34" charset="0"/>
                <a:ea typeface="Courier New" pitchFamily="34" charset="-122"/>
                <a:cs typeface="Courier New" pitchFamily="34" charset="-120"/>
              </a:rPr>
              <a:t>"Hello World"</a:t>
            </a:r>
            <a:endParaRPr lang="en-US" sz="1000" dirty="0"/>
          </a:p>
        </p:txBody>
      </p:sp>
      <p:sp>
        <p:nvSpPr>
          <p:cNvPr id="14" name="Text 12"/>
          <p:cNvSpPr txBox="1"/>
          <p:nvPr/>
        </p:nvSpPr>
        <p:spPr>
          <a:xfrm>
            <a:off x="685800" y="2651760"/>
            <a:ext cx="3566160" cy="15087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You choose the name / path</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Same content saved twice = 2 copies</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If the file is silently damaged, nobody knows</a:t>
            </a:r>
            <a:endParaRPr lang="en-US" sz="1250" dirty="0"/>
          </a:p>
        </p:txBody>
      </p:sp>
      <p:sp>
        <p:nvSpPr>
          <p:cNvPr id="15" name="Shape 13"/>
          <p:cNvSpPr/>
          <p:nvPr/>
        </p:nvSpPr>
        <p:spPr>
          <a:xfrm>
            <a:off x="4709160" y="1188720"/>
            <a:ext cx="3977640" cy="3063240"/>
          </a:xfrm>
          <a:prstGeom prst="roundRect">
            <a:avLst>
              <a:gd name="adj" fmla="val 2388"/>
            </a:avLst>
          </a:prstGeom>
          <a:solidFill>
            <a:srgbClr val="E3F4F1"/>
          </a:solidFill>
          <a:ln w="12700">
            <a:solidFill>
              <a:srgbClr val="E3F4F1"/>
            </a:solidFill>
            <a:prstDash val="solid"/>
          </a:ln>
        </p:spPr>
      </p:sp>
      <p:sp>
        <p:nvSpPr>
          <p:cNvPr id="16" name="Text 14"/>
          <p:cNvSpPr txBox="1"/>
          <p:nvPr/>
        </p:nvSpPr>
        <p:spPr>
          <a:xfrm>
            <a:off x="4937760" y="1298448"/>
            <a:ext cx="356616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CAS (content-addressed)</a:t>
            </a:r>
            <a:endParaRPr lang="en-US" sz="1500" dirty="0"/>
          </a:p>
        </p:txBody>
      </p:sp>
      <p:sp>
        <p:nvSpPr>
          <p:cNvPr id="17" name="Text 15"/>
          <p:cNvSpPr txBox="1"/>
          <p:nvPr/>
        </p:nvSpPr>
        <p:spPr>
          <a:xfrm>
            <a:off x="4937760" y="1618488"/>
            <a:ext cx="3566160" cy="2743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Asks: WHAT is the content?</a:t>
            </a:r>
            <a:endParaRPr lang="en-US" sz="1250" dirty="0"/>
          </a:p>
        </p:txBody>
      </p:sp>
      <p:sp>
        <p:nvSpPr>
          <p:cNvPr id="18" name="Shape 16"/>
          <p:cNvSpPr/>
          <p:nvPr/>
        </p:nvSpPr>
        <p:spPr>
          <a:xfrm>
            <a:off x="4937760" y="2011680"/>
            <a:ext cx="1417320" cy="457200"/>
          </a:xfrm>
          <a:prstGeom prst="roundRect">
            <a:avLst>
              <a:gd name="adj" fmla="val 16000"/>
            </a:avLst>
          </a:prstGeom>
          <a:solidFill>
            <a:srgbClr val="FFFFFF"/>
          </a:solidFill>
          <a:ln w="12700">
            <a:solidFill>
              <a:srgbClr val="C9D2DE"/>
            </a:solidFill>
            <a:prstDash val="solid"/>
          </a:ln>
        </p:spPr>
      </p:sp>
      <p:sp>
        <p:nvSpPr>
          <p:cNvPr id="19" name="Text 17"/>
          <p:cNvSpPr txBox="1"/>
          <p:nvPr/>
        </p:nvSpPr>
        <p:spPr>
          <a:xfrm>
            <a:off x="4937760" y="2011680"/>
            <a:ext cx="141732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ourier New" pitchFamily="34" charset="0"/>
                <a:ea typeface="Courier New" pitchFamily="34" charset="-122"/>
                <a:cs typeface="Courier New" pitchFamily="34" charset="-120"/>
              </a:rPr>
              <a:t>"Hello World"</a:t>
            </a:r>
            <a:endParaRPr lang="en-US" sz="1000" dirty="0"/>
          </a:p>
        </p:txBody>
      </p:sp>
      <p:sp>
        <p:nvSpPr>
          <p:cNvPr id="20" name="Shape 18"/>
          <p:cNvSpPr/>
          <p:nvPr/>
        </p:nvSpPr>
        <p:spPr>
          <a:xfrm>
            <a:off x="6400800" y="2240280"/>
            <a:ext cx="548640" cy="0"/>
          </a:xfrm>
          <a:prstGeom prst="line">
            <a:avLst/>
          </a:prstGeom>
          <a:noFill/>
          <a:ln w="19050">
            <a:solidFill>
              <a:srgbClr val="5B6472"/>
            </a:solidFill>
            <a:prstDash val="solid"/>
            <a:tailEnd type="triangle"/>
          </a:ln>
        </p:spPr>
      </p:sp>
      <p:sp>
        <p:nvSpPr>
          <p:cNvPr id="21" name="Text 19"/>
          <p:cNvSpPr txBox="1"/>
          <p:nvPr/>
        </p:nvSpPr>
        <p:spPr>
          <a:xfrm>
            <a:off x="6355080" y="1874520"/>
            <a:ext cx="64008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SHA-1</a:t>
            </a:r>
            <a:endParaRPr lang="en-US" sz="900" dirty="0"/>
          </a:p>
        </p:txBody>
      </p:sp>
      <p:sp>
        <p:nvSpPr>
          <p:cNvPr id="22" name="Shape 20"/>
          <p:cNvSpPr/>
          <p:nvPr/>
        </p:nvSpPr>
        <p:spPr>
          <a:xfrm>
            <a:off x="6995160" y="2011680"/>
            <a:ext cx="1463040" cy="457200"/>
          </a:xfrm>
          <a:prstGeom prst="roundRect">
            <a:avLst>
              <a:gd name="adj" fmla="val 16000"/>
            </a:avLst>
          </a:prstGeom>
          <a:solidFill>
            <a:srgbClr val="FFFFFF"/>
          </a:solidFill>
          <a:ln w="12700">
            <a:solidFill>
              <a:srgbClr val="C9D2DE"/>
            </a:solidFill>
            <a:prstDash val="solid"/>
          </a:ln>
        </p:spPr>
      </p:sp>
      <p:sp>
        <p:nvSpPr>
          <p:cNvPr id="23" name="Text 21"/>
          <p:cNvSpPr txBox="1"/>
          <p:nvPr/>
        </p:nvSpPr>
        <p:spPr>
          <a:xfrm>
            <a:off x="6995160" y="2011680"/>
            <a:ext cx="146304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ourier New" pitchFamily="34" charset="0"/>
                <a:ea typeface="Courier New" pitchFamily="34" charset="-122"/>
                <a:cs typeface="Courier New" pitchFamily="34" charset="-120"/>
              </a:rPr>
              <a:t>557db03d…</a:t>
            </a:r>
            <a:endParaRPr lang="en-US" sz="1000" dirty="0"/>
          </a:p>
        </p:txBody>
      </p:sp>
      <p:sp>
        <p:nvSpPr>
          <p:cNvPr id="24" name="Text 22"/>
          <p:cNvSpPr txBox="1"/>
          <p:nvPr/>
        </p:nvSpPr>
        <p:spPr>
          <a:xfrm>
            <a:off x="4937760" y="2651760"/>
            <a:ext cx="3566160" cy="15087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Computer calculates the name from the content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Same content = same address = 1 copy</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Any change gives a new address → damage is detected</a:t>
            </a:r>
            <a:endParaRPr lang="en-US" sz="1250" dirty="0"/>
          </a:p>
        </p:txBody>
      </p:sp>
      <p:sp>
        <p:nvSpPr>
          <p:cNvPr id="25" name="Text 23"/>
          <p:cNvSpPr txBox="1"/>
          <p:nvPr/>
        </p:nvSpPr>
        <p:spPr>
          <a:xfrm>
            <a:off x="457200" y="4389120"/>
            <a:ext cx="8229600" cy="320040"/>
          </a:xfrm>
          <a:prstGeom prst="rect">
            <a:avLst/>
          </a:prstGeom>
          <a:noFill/>
          <a:ln/>
        </p:spPr>
        <p:txBody>
          <a:bodyPr wrap="square" lIns="0" tIns="0" rIns="0" bIns="0" rtlCol="0" anchor="ctr"/>
          <a:lstStyle/>
          <a:p>
            <a:pPr algn="ctr" indent="0" marL="0">
              <a:buNone/>
            </a:pPr>
            <a:r>
              <a:rPr lang="en-US" sz="1500" i="1" dirty="0">
                <a:solidFill>
                  <a:srgbClr val="14213D"/>
                </a:solidFill>
                <a:latin typeface="Cambria" pitchFamily="34" charset="0"/>
                <a:ea typeface="Cambria" pitchFamily="34" charset="-122"/>
                <a:cs typeface="Cambria" pitchFamily="34" charset="-120"/>
              </a:rPr>
              <a:t>Instead of asking where a file is stored, we identify data by what it contains.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UNDERSTAND THE TOPIC</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Understanding the Problem (Q1 &amp; Q2)</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188720"/>
            <a:ext cx="457200" cy="457200"/>
          </a:xfrm>
          <a:prstGeom prst="ellipse">
            <a:avLst/>
          </a:prstGeom>
          <a:solidFill>
            <a:srgbClr val="14213D"/>
          </a:solidFill>
          <a:ln w="12700">
            <a:solidFill>
              <a:srgbClr val="14213D"/>
            </a:solidFill>
            <a:prstDash val="solid"/>
          </a:ln>
        </p:spPr>
      </p:sp>
      <p:sp>
        <p:nvSpPr>
          <p:cNvPr id="6" name="Text 4"/>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7" name="Text 5"/>
          <p:cNvSpPr txBox="1"/>
          <p:nvPr/>
        </p:nvSpPr>
        <p:spPr>
          <a:xfrm>
            <a:off x="1097280" y="1188720"/>
            <a:ext cx="7589520" cy="45720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What problem exists?</a:t>
            </a:r>
            <a:endParaRPr lang="en-US" sz="1700" dirty="0"/>
          </a:p>
        </p:txBody>
      </p:sp>
      <p:sp>
        <p:nvSpPr>
          <p:cNvPr id="8" name="Text 6"/>
          <p:cNvSpPr txBox="1"/>
          <p:nvPr/>
        </p:nvSpPr>
        <p:spPr>
          <a:xfrm>
            <a:off x="1097280" y="1691640"/>
            <a:ext cx="758952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project changes many times, and we must keep every version of every file.</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Most files do not change between versions, so saving full copies wastes a lot of space.</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Files can be corrupted (disk error) or tampered with, and we must be able to notice.</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We must be able to fetch any old version quickly.</a:t>
            </a:r>
            <a:endParaRPr lang="en-US" sz="1300" dirty="0"/>
          </a:p>
        </p:txBody>
      </p:sp>
      <p:sp>
        <p:nvSpPr>
          <p:cNvPr id="9" name="Shape 7"/>
          <p:cNvSpPr/>
          <p:nvPr/>
        </p:nvSpPr>
        <p:spPr>
          <a:xfrm>
            <a:off x="457200" y="2971800"/>
            <a:ext cx="457200" cy="457200"/>
          </a:xfrm>
          <a:prstGeom prst="ellipse">
            <a:avLst/>
          </a:prstGeom>
          <a:solidFill>
            <a:srgbClr val="14213D"/>
          </a:solidFill>
          <a:ln w="12700">
            <a:solidFill>
              <a:srgbClr val="14213D"/>
            </a:solidFill>
            <a:prstDash val="solid"/>
          </a:ln>
        </p:spPr>
      </p:sp>
      <p:sp>
        <p:nvSpPr>
          <p:cNvPr id="10" name="Text 8"/>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1" name="Text 9"/>
          <p:cNvSpPr txBox="1"/>
          <p:nvPr/>
        </p:nvSpPr>
        <p:spPr>
          <a:xfrm>
            <a:off x="1097280" y="2971800"/>
            <a:ext cx="7589520" cy="45720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Why can't an array solve it?</a:t>
            </a:r>
            <a:endParaRPr lang="en-US" sz="1700" dirty="0"/>
          </a:p>
        </p:txBody>
      </p:sp>
      <p:sp>
        <p:nvSpPr>
          <p:cNvPr id="12" name="Text 10"/>
          <p:cNvSpPr txBox="1"/>
          <p:nvPr/>
        </p:nvSpPr>
        <p:spPr>
          <a:xfrm>
            <a:off x="1097280" y="3474720"/>
            <a:ext cx="758952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 array finds items by position (index 0, 1, 2…). The position says nothing about the content.</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 check "is this file already stored?" we compare with every element: O(n) comparisons of whole files.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Fixed size; inserting in the middle shifts elements; there is no built-in way to detect corruption.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UNDERSTAND THE TOPIC</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This Data Structure? (Q3, Q4, Q5)</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457200" y="1188720"/>
            <a:ext cx="2606040" cy="3474720"/>
          </a:xfrm>
          <a:prstGeom prst="roundRect">
            <a:avLst>
              <a:gd name="adj" fmla="val 2807"/>
            </a:avLst>
          </a:prstGeom>
          <a:solidFill>
            <a:srgbClr val="EEF2F7"/>
          </a:solidFill>
          <a:ln w="12700">
            <a:solidFill>
              <a:srgbClr val="EEF2F7"/>
            </a:solidFill>
            <a:prstDash val="solid"/>
          </a:ln>
        </p:spPr>
      </p:sp>
      <p:sp>
        <p:nvSpPr>
          <p:cNvPr id="6" name="Shape 4"/>
          <p:cNvSpPr/>
          <p:nvPr/>
        </p:nvSpPr>
        <p:spPr>
          <a:xfrm>
            <a:off x="594360" y="1325880"/>
            <a:ext cx="457200" cy="457200"/>
          </a:xfrm>
          <a:prstGeom prst="ellipse">
            <a:avLst/>
          </a:prstGeom>
          <a:solidFill>
            <a:srgbClr val="14213D"/>
          </a:solidFill>
          <a:ln w="12700">
            <a:solidFill>
              <a:srgbClr val="14213D"/>
            </a:solidFill>
            <a:prstDash val="solid"/>
          </a:ln>
        </p:spPr>
      </p:sp>
      <p:sp>
        <p:nvSpPr>
          <p:cNvPr id="7" name="Text 5"/>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6"/>
          <p:cNvSpPr txBox="1"/>
          <p:nvPr/>
        </p:nvSpPr>
        <p:spPr>
          <a:xfrm>
            <a:off x="1143000" y="1298448"/>
            <a:ext cx="182880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Why is hash-based CAS suitable?</a:t>
            </a:r>
            <a:endParaRPr lang="en-US" sz="1300" dirty="0"/>
          </a:p>
        </p:txBody>
      </p:sp>
      <p:sp>
        <p:nvSpPr>
          <p:cNvPr id="9" name="Text 7"/>
          <p:cNvSpPr txBox="1"/>
          <p:nvPr/>
        </p:nvSpPr>
        <p:spPr>
          <a:xfrm>
            <a:off x="640080" y="2011680"/>
            <a:ext cx="228600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Key = hash(content)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Same content → same key → stored once</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Lookup by key: O(1) average</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Re-hash to verify integrity</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Objects never change → history is safe</a:t>
            </a:r>
            <a:endParaRPr lang="en-US" sz="1250" dirty="0"/>
          </a:p>
        </p:txBody>
      </p:sp>
      <p:sp>
        <p:nvSpPr>
          <p:cNvPr id="10" name="Shape 8"/>
          <p:cNvSpPr/>
          <p:nvPr/>
        </p:nvSpPr>
        <p:spPr>
          <a:xfrm>
            <a:off x="3291840" y="1188720"/>
            <a:ext cx="2606040" cy="3474720"/>
          </a:xfrm>
          <a:prstGeom prst="roundRect">
            <a:avLst>
              <a:gd name="adj" fmla="val 2807"/>
            </a:avLst>
          </a:prstGeom>
          <a:solidFill>
            <a:srgbClr val="FFF3DC"/>
          </a:solidFill>
          <a:ln w="12700">
            <a:solidFill>
              <a:srgbClr val="FFF3DC"/>
            </a:solidFill>
            <a:prstDash val="solid"/>
          </a:ln>
        </p:spPr>
      </p:sp>
      <p:sp>
        <p:nvSpPr>
          <p:cNvPr id="11" name="Shape 9"/>
          <p:cNvSpPr/>
          <p:nvPr/>
        </p:nvSpPr>
        <p:spPr>
          <a:xfrm>
            <a:off x="3429000" y="1325880"/>
            <a:ext cx="457200" cy="457200"/>
          </a:xfrm>
          <a:prstGeom prst="ellipse">
            <a:avLst/>
          </a:prstGeom>
          <a:solidFill>
            <a:srgbClr val="FCA311"/>
          </a:solidFill>
          <a:ln w="12700">
            <a:solidFill>
              <a:srgbClr val="FCA311"/>
            </a:solidFill>
            <a:prstDash val="solid"/>
          </a:ln>
        </p:spPr>
      </p:sp>
      <p:sp>
        <p:nvSpPr>
          <p:cNvPr id="12" name="Text 10"/>
          <p:cNvSpPr txBox="1"/>
          <p:nvPr/>
        </p:nvSpPr>
        <p:spPr>
          <a:xfrm>
            <a:off x="3429000" y="132588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Q4</a:t>
            </a:r>
            <a:endParaRPr lang="en-US" sz="1300" dirty="0"/>
          </a:p>
        </p:txBody>
      </p:sp>
      <p:sp>
        <p:nvSpPr>
          <p:cNvPr id="13" name="Text 11"/>
          <p:cNvSpPr txBox="1"/>
          <p:nvPr/>
        </p:nvSpPr>
        <p:spPr>
          <a:xfrm>
            <a:off x="3977640" y="1298448"/>
            <a:ext cx="182880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Which operations are used?</a:t>
            </a:r>
            <a:endParaRPr lang="en-US" sz="1300" dirty="0"/>
          </a:p>
        </p:txBody>
      </p:sp>
      <p:sp>
        <p:nvSpPr>
          <p:cNvPr id="14" name="Shape 12"/>
          <p:cNvSpPr/>
          <p:nvPr/>
        </p:nvSpPr>
        <p:spPr>
          <a:xfrm>
            <a:off x="6126480" y="1188720"/>
            <a:ext cx="2606040" cy="3474720"/>
          </a:xfrm>
          <a:prstGeom prst="roundRect">
            <a:avLst>
              <a:gd name="adj" fmla="val 2807"/>
            </a:avLst>
          </a:prstGeom>
          <a:solidFill>
            <a:srgbClr val="EEF2F7"/>
          </a:solidFill>
          <a:ln w="12700">
            <a:solidFill>
              <a:srgbClr val="EEF2F7"/>
            </a:solidFill>
            <a:prstDash val="solid"/>
          </a:ln>
        </p:spPr>
      </p:sp>
      <p:sp>
        <p:nvSpPr>
          <p:cNvPr id="15" name="Shape 13"/>
          <p:cNvSpPr/>
          <p:nvPr/>
        </p:nvSpPr>
        <p:spPr>
          <a:xfrm>
            <a:off x="6263640" y="1325880"/>
            <a:ext cx="457200" cy="457200"/>
          </a:xfrm>
          <a:prstGeom prst="ellipse">
            <a:avLst/>
          </a:prstGeom>
          <a:solidFill>
            <a:srgbClr val="14213D"/>
          </a:solidFill>
          <a:ln w="12700">
            <a:solidFill>
              <a:srgbClr val="14213D"/>
            </a:solidFill>
            <a:prstDash val="solid"/>
          </a:ln>
        </p:spPr>
      </p:sp>
      <p:sp>
        <p:nvSpPr>
          <p:cNvPr id="16" name="Text 14"/>
          <p:cNvSpPr txBox="1"/>
          <p:nvPr/>
        </p:nvSpPr>
        <p:spPr>
          <a:xfrm>
            <a:off x="6263640"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Q5</a:t>
            </a:r>
            <a:endParaRPr lang="en-US" sz="1300" dirty="0"/>
          </a:p>
        </p:txBody>
      </p:sp>
      <p:sp>
        <p:nvSpPr>
          <p:cNvPr id="17" name="Text 15"/>
          <p:cNvSpPr txBox="1"/>
          <p:nvPr/>
        </p:nvSpPr>
        <p:spPr>
          <a:xfrm>
            <a:off x="6812280" y="1298448"/>
            <a:ext cx="182880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Can another structure replace it?</a:t>
            </a:r>
            <a:endParaRPr lang="en-US" sz="1300" dirty="0"/>
          </a:p>
        </p:txBody>
      </p:sp>
      <p:sp>
        <p:nvSpPr>
          <p:cNvPr id="18" name="Text 16"/>
          <p:cNvSpPr txBox="1"/>
          <p:nvPr/>
        </p:nvSpPr>
        <p:spPr>
          <a:xfrm>
            <a:off x="6309360" y="2011680"/>
            <a:ext cx="2286000" cy="25603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Only partly. A BST or B-tree (database index) finds items in O(log n), a linked list in O(n).</a:t>
            </a:r>
            <a:endParaRPr lang="en-US" sz="1250" dirty="0"/>
          </a:p>
          <a:p>
            <a:pPr indent="0" marL="0">
              <a:buNone/>
            </a:pP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But deduplication and the integrity check come from using the content hash as the key, so the hashing idea stays.</a:t>
            </a:r>
            <a:endParaRPr lang="en-US" sz="1250" dirty="0"/>
          </a:p>
        </p:txBody>
      </p:sp>
      <p:sp>
        <p:nvSpPr>
          <p:cNvPr id="19" name="Shape 17"/>
          <p:cNvSpPr/>
          <p:nvPr/>
        </p:nvSpPr>
        <p:spPr>
          <a:xfrm>
            <a:off x="3474720" y="2011680"/>
            <a:ext cx="2240280" cy="438912"/>
          </a:xfrm>
          <a:prstGeom prst="roundRect">
            <a:avLst>
              <a:gd name="adj" fmla="val 16667"/>
            </a:avLst>
          </a:prstGeom>
          <a:solidFill>
            <a:srgbClr val="FFFFFF"/>
          </a:solidFill>
          <a:ln w="12700">
            <a:solidFill>
              <a:srgbClr val="C9D2DE"/>
            </a:solidFill>
            <a:prstDash val="solid"/>
          </a:ln>
        </p:spPr>
      </p:sp>
      <p:sp>
        <p:nvSpPr>
          <p:cNvPr id="20" name="Text 18"/>
          <p:cNvSpPr txBox="1"/>
          <p:nvPr/>
        </p:nvSpPr>
        <p:spPr>
          <a:xfrm>
            <a:off x="3566160" y="2029968"/>
            <a:ext cx="2103120" cy="21945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hash(data)</a:t>
            </a:r>
            <a:endParaRPr lang="en-US" sz="1050" dirty="0"/>
          </a:p>
        </p:txBody>
      </p:sp>
      <p:sp>
        <p:nvSpPr>
          <p:cNvPr id="21" name="Text 19"/>
          <p:cNvSpPr txBox="1"/>
          <p:nvPr/>
        </p:nvSpPr>
        <p:spPr>
          <a:xfrm>
            <a:off x="3566160" y="2231136"/>
            <a:ext cx="210312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make the address</a:t>
            </a:r>
            <a:endParaRPr lang="en-US" sz="1000" dirty="0"/>
          </a:p>
        </p:txBody>
      </p:sp>
      <p:sp>
        <p:nvSpPr>
          <p:cNvPr id="22" name="Shape 20"/>
          <p:cNvSpPr/>
          <p:nvPr/>
        </p:nvSpPr>
        <p:spPr>
          <a:xfrm>
            <a:off x="3474720" y="2523744"/>
            <a:ext cx="2240280" cy="438912"/>
          </a:xfrm>
          <a:prstGeom prst="roundRect">
            <a:avLst>
              <a:gd name="adj" fmla="val 16667"/>
            </a:avLst>
          </a:prstGeom>
          <a:solidFill>
            <a:srgbClr val="FFFFFF"/>
          </a:solidFill>
          <a:ln w="12700">
            <a:solidFill>
              <a:srgbClr val="C9D2DE"/>
            </a:solidFill>
            <a:prstDash val="solid"/>
          </a:ln>
        </p:spPr>
      </p:sp>
      <p:sp>
        <p:nvSpPr>
          <p:cNvPr id="23" name="Text 21"/>
          <p:cNvSpPr txBox="1"/>
          <p:nvPr/>
        </p:nvSpPr>
        <p:spPr>
          <a:xfrm>
            <a:off x="3566160" y="2542032"/>
            <a:ext cx="2103120" cy="21945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put(hash, obj)</a:t>
            </a:r>
            <a:endParaRPr lang="en-US" sz="1050" dirty="0"/>
          </a:p>
        </p:txBody>
      </p:sp>
      <p:sp>
        <p:nvSpPr>
          <p:cNvPr id="24" name="Text 22"/>
          <p:cNvSpPr txBox="1"/>
          <p:nvPr/>
        </p:nvSpPr>
        <p:spPr>
          <a:xfrm>
            <a:off x="3566160" y="2743200"/>
            <a:ext cx="210312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store object</a:t>
            </a:r>
            <a:endParaRPr lang="en-US" sz="1000" dirty="0"/>
          </a:p>
        </p:txBody>
      </p:sp>
      <p:sp>
        <p:nvSpPr>
          <p:cNvPr id="25" name="Shape 23"/>
          <p:cNvSpPr/>
          <p:nvPr/>
        </p:nvSpPr>
        <p:spPr>
          <a:xfrm>
            <a:off x="3474720" y="3035808"/>
            <a:ext cx="2240280" cy="438912"/>
          </a:xfrm>
          <a:prstGeom prst="roundRect">
            <a:avLst>
              <a:gd name="adj" fmla="val 16667"/>
            </a:avLst>
          </a:prstGeom>
          <a:solidFill>
            <a:srgbClr val="FFFFFF"/>
          </a:solidFill>
          <a:ln w="12700">
            <a:solidFill>
              <a:srgbClr val="C9D2DE"/>
            </a:solidFill>
            <a:prstDash val="solid"/>
          </a:ln>
        </p:spPr>
      </p:sp>
      <p:sp>
        <p:nvSpPr>
          <p:cNvPr id="26" name="Text 24"/>
          <p:cNvSpPr txBox="1"/>
          <p:nvPr/>
        </p:nvSpPr>
        <p:spPr>
          <a:xfrm>
            <a:off x="3566160" y="3054096"/>
            <a:ext cx="2103120" cy="21945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get(hash)</a:t>
            </a:r>
            <a:endParaRPr lang="en-US" sz="1050" dirty="0"/>
          </a:p>
        </p:txBody>
      </p:sp>
      <p:sp>
        <p:nvSpPr>
          <p:cNvPr id="27" name="Text 25"/>
          <p:cNvSpPr txBox="1"/>
          <p:nvPr/>
        </p:nvSpPr>
        <p:spPr>
          <a:xfrm>
            <a:off x="3566160" y="3255264"/>
            <a:ext cx="210312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read object</a:t>
            </a:r>
            <a:endParaRPr lang="en-US" sz="1000" dirty="0"/>
          </a:p>
        </p:txBody>
      </p:sp>
      <p:sp>
        <p:nvSpPr>
          <p:cNvPr id="28" name="Shape 26"/>
          <p:cNvSpPr/>
          <p:nvPr/>
        </p:nvSpPr>
        <p:spPr>
          <a:xfrm>
            <a:off x="3474720" y="3547872"/>
            <a:ext cx="2240280" cy="438912"/>
          </a:xfrm>
          <a:prstGeom prst="roundRect">
            <a:avLst>
              <a:gd name="adj" fmla="val 16667"/>
            </a:avLst>
          </a:prstGeom>
          <a:solidFill>
            <a:srgbClr val="FFFFFF"/>
          </a:solidFill>
          <a:ln w="12700">
            <a:solidFill>
              <a:srgbClr val="C9D2DE"/>
            </a:solidFill>
            <a:prstDash val="solid"/>
          </a:ln>
        </p:spPr>
      </p:sp>
      <p:sp>
        <p:nvSpPr>
          <p:cNvPr id="29" name="Text 27"/>
          <p:cNvSpPr txBox="1"/>
          <p:nvPr/>
        </p:nvSpPr>
        <p:spPr>
          <a:xfrm>
            <a:off x="3566160" y="3566160"/>
            <a:ext cx="2103120" cy="21945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contains(hash)</a:t>
            </a:r>
            <a:endParaRPr lang="en-US" sz="1050" dirty="0"/>
          </a:p>
        </p:txBody>
      </p:sp>
      <p:sp>
        <p:nvSpPr>
          <p:cNvPr id="30" name="Text 28"/>
          <p:cNvSpPr txBox="1"/>
          <p:nvPr/>
        </p:nvSpPr>
        <p:spPr>
          <a:xfrm>
            <a:off x="3566160" y="3767328"/>
            <a:ext cx="210312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already stored?</a:t>
            </a:r>
            <a:endParaRPr lang="en-US" sz="1000" dirty="0"/>
          </a:p>
        </p:txBody>
      </p:sp>
      <p:sp>
        <p:nvSpPr>
          <p:cNvPr id="31" name="Shape 29"/>
          <p:cNvSpPr/>
          <p:nvPr/>
        </p:nvSpPr>
        <p:spPr>
          <a:xfrm>
            <a:off x="3474720" y="4059936"/>
            <a:ext cx="2240280" cy="438912"/>
          </a:xfrm>
          <a:prstGeom prst="roundRect">
            <a:avLst>
              <a:gd name="adj" fmla="val 16667"/>
            </a:avLst>
          </a:prstGeom>
          <a:solidFill>
            <a:srgbClr val="FFFFFF"/>
          </a:solidFill>
          <a:ln w="12700">
            <a:solidFill>
              <a:srgbClr val="C9D2DE"/>
            </a:solidFill>
            <a:prstDash val="solid"/>
          </a:ln>
        </p:spPr>
      </p:sp>
      <p:sp>
        <p:nvSpPr>
          <p:cNvPr id="32" name="Text 30"/>
          <p:cNvSpPr txBox="1"/>
          <p:nvPr/>
        </p:nvSpPr>
        <p:spPr>
          <a:xfrm>
            <a:off x="3566160" y="4078224"/>
            <a:ext cx="2103120" cy="21945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verify(hash)</a:t>
            </a:r>
            <a:endParaRPr lang="en-US" sz="1050" dirty="0"/>
          </a:p>
        </p:txBody>
      </p:sp>
      <p:sp>
        <p:nvSpPr>
          <p:cNvPr id="33" name="Text 31"/>
          <p:cNvSpPr txBox="1"/>
          <p:nvPr/>
        </p:nvSpPr>
        <p:spPr>
          <a:xfrm>
            <a:off x="3566160" y="4279392"/>
            <a:ext cx="2103120" cy="201168"/>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re-hash &amp; compare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RESEARCH NOTEBOOK</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Structures Hidden Inside Git</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188720"/>
            <a:ext cx="4023360" cy="1554480"/>
          </a:xfrm>
          <a:prstGeom prst="roundRect">
            <a:avLst>
              <a:gd name="adj" fmla="val 4706"/>
            </a:avLst>
          </a:prstGeom>
          <a:solidFill>
            <a:srgbClr val="EEF2F7"/>
          </a:solidFill>
          <a:ln w="12700">
            <a:solidFill>
              <a:srgbClr val="EEF2F7"/>
            </a:solidFill>
            <a:prstDash val="solid"/>
          </a:ln>
        </p:spPr>
      </p:sp>
      <p:sp>
        <p:nvSpPr>
          <p:cNvPr id="6" name="Shape 4"/>
          <p:cNvSpPr/>
          <p:nvPr/>
        </p:nvSpPr>
        <p:spPr>
          <a:xfrm>
            <a:off x="640080" y="1371600"/>
            <a:ext cx="457200" cy="457200"/>
          </a:xfrm>
          <a:prstGeom prst="ellipse">
            <a:avLst/>
          </a:prstGeom>
          <a:solidFill>
            <a:srgbClr val="14213D"/>
          </a:solidFill>
          <a:ln w="12700">
            <a:solidFill>
              <a:srgbClr val="14213D"/>
            </a:solidFill>
            <a:prstDash val="solid"/>
          </a:ln>
        </p:spPr>
      </p:sp>
      <p:sp>
        <p:nvSpPr>
          <p:cNvPr id="7" name="Text 5"/>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34440" y="1353312"/>
            <a:ext cx="201168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Hash table</a:t>
            </a:r>
            <a:endParaRPr lang="en-US" sz="1600" dirty="0"/>
          </a:p>
        </p:txBody>
      </p:sp>
      <p:sp>
        <p:nvSpPr>
          <p:cNvPr id="9" name="Text 7"/>
          <p:cNvSpPr txBox="1"/>
          <p:nvPr/>
        </p:nvSpPr>
        <p:spPr>
          <a:xfrm>
            <a:off x="1234440" y="1645920"/>
            <a:ext cx="2286000" cy="228600"/>
          </a:xfrm>
          <a:prstGeom prst="rect">
            <a:avLst/>
          </a:prstGeom>
          <a:noFill/>
          <a:ln/>
        </p:spPr>
        <p:txBody>
          <a:bodyPr wrap="square" lIns="0" tIns="0" rIns="0" bIns="0" rtlCol="0" anchor="ctr"/>
          <a:lstStyle/>
          <a:p>
            <a:pPr indent="0" marL="0">
              <a:buNone/>
            </a:pPr>
            <a:r>
              <a:rPr lang="en-US" sz="1100" i="1" dirty="0">
                <a:solidFill>
                  <a:srgbClr val="B26A00"/>
                </a:solidFill>
                <a:latin typeface="Calibri" pitchFamily="34" charset="0"/>
                <a:ea typeface="Calibri" pitchFamily="34" charset="-122"/>
                <a:cs typeface="Calibri" pitchFamily="34" charset="-120"/>
              </a:rPr>
              <a:t>key → value</a:t>
            </a:r>
            <a:endParaRPr lang="en-US" sz="1100" dirty="0"/>
          </a:p>
        </p:txBody>
      </p:sp>
      <p:sp>
        <p:nvSpPr>
          <p:cNvPr id="10" name="Text 8"/>
          <p:cNvSpPr txBox="1"/>
          <p:nvPr/>
        </p:nvSpPr>
        <p:spPr>
          <a:xfrm>
            <a:off x="640080" y="1965960"/>
            <a:ext cx="36576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.git/objects folder: key = hash, value = object. Finding any object is O(1) on average.</a:t>
            </a:r>
            <a:endParaRPr lang="en-US" sz="1200" dirty="0"/>
          </a:p>
        </p:txBody>
      </p:sp>
      <p:sp>
        <p:nvSpPr>
          <p:cNvPr id="11" name="Shape 9"/>
          <p:cNvSpPr/>
          <p:nvPr/>
        </p:nvSpPr>
        <p:spPr>
          <a:xfrm>
            <a:off x="4663440" y="1188720"/>
            <a:ext cx="4023360" cy="1554480"/>
          </a:xfrm>
          <a:prstGeom prst="roundRect">
            <a:avLst>
              <a:gd name="adj" fmla="val 4706"/>
            </a:avLst>
          </a:prstGeom>
          <a:solidFill>
            <a:srgbClr val="EEF2F7"/>
          </a:solidFill>
          <a:ln w="12700">
            <a:solidFill>
              <a:srgbClr val="EEF2F7"/>
            </a:solidFill>
            <a:prstDash val="solid"/>
          </a:ln>
        </p:spPr>
      </p:sp>
      <p:sp>
        <p:nvSpPr>
          <p:cNvPr id="12" name="Shape 10"/>
          <p:cNvSpPr/>
          <p:nvPr/>
        </p:nvSpPr>
        <p:spPr>
          <a:xfrm>
            <a:off x="4846320" y="1371600"/>
            <a:ext cx="457200" cy="457200"/>
          </a:xfrm>
          <a:prstGeom prst="ellipse">
            <a:avLst/>
          </a:prstGeom>
          <a:solidFill>
            <a:srgbClr val="14213D"/>
          </a:solidFill>
          <a:ln w="12700">
            <a:solidFill>
              <a:srgbClr val="14213D"/>
            </a:solidFill>
            <a:prstDash val="solid"/>
          </a:ln>
        </p:spPr>
      </p:sp>
      <p:sp>
        <p:nvSpPr>
          <p:cNvPr id="13" name="Text 11"/>
          <p:cNvSpPr txBox="1"/>
          <p:nvPr/>
        </p:nvSpPr>
        <p:spPr>
          <a:xfrm>
            <a:off x="484632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440680" y="1353312"/>
            <a:ext cx="201168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Tree</a:t>
            </a:r>
            <a:endParaRPr lang="en-US" sz="1600" dirty="0"/>
          </a:p>
        </p:txBody>
      </p:sp>
      <p:sp>
        <p:nvSpPr>
          <p:cNvPr id="15" name="Text 13"/>
          <p:cNvSpPr txBox="1"/>
          <p:nvPr/>
        </p:nvSpPr>
        <p:spPr>
          <a:xfrm>
            <a:off x="5440680" y="1645920"/>
            <a:ext cx="2286000" cy="228600"/>
          </a:xfrm>
          <a:prstGeom prst="rect">
            <a:avLst/>
          </a:prstGeom>
          <a:noFill/>
          <a:ln/>
        </p:spPr>
        <p:txBody>
          <a:bodyPr wrap="square" lIns="0" tIns="0" rIns="0" bIns="0" rtlCol="0" anchor="ctr"/>
          <a:lstStyle/>
          <a:p>
            <a:pPr indent="0" marL="0">
              <a:buNone/>
            </a:pPr>
            <a:r>
              <a:rPr lang="en-US" sz="1100" i="1" dirty="0">
                <a:solidFill>
                  <a:srgbClr val="B26A00"/>
                </a:solidFill>
                <a:latin typeface="Calibri" pitchFamily="34" charset="0"/>
                <a:ea typeface="Calibri" pitchFamily="34" charset="-122"/>
                <a:cs typeface="Calibri" pitchFamily="34" charset="-120"/>
              </a:rPr>
              <a:t>folders</a:t>
            </a:r>
            <a:endParaRPr lang="en-US" sz="1100" dirty="0"/>
          </a:p>
        </p:txBody>
      </p:sp>
      <p:sp>
        <p:nvSpPr>
          <p:cNvPr id="16" name="Text 14"/>
          <p:cNvSpPr txBox="1"/>
          <p:nvPr/>
        </p:nvSpPr>
        <p:spPr>
          <a:xfrm>
            <a:off x="4846320" y="1965960"/>
            <a:ext cx="36576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"tree" object is one folder. Its children are files (blobs) or sub-folders (trees).</a:t>
            </a:r>
            <a:endParaRPr lang="en-US" sz="1200" dirty="0"/>
          </a:p>
        </p:txBody>
      </p:sp>
      <p:sp>
        <p:nvSpPr>
          <p:cNvPr id="17" name="Shape 15"/>
          <p:cNvSpPr/>
          <p:nvPr/>
        </p:nvSpPr>
        <p:spPr>
          <a:xfrm>
            <a:off x="457200" y="2926080"/>
            <a:ext cx="4023360" cy="1554480"/>
          </a:xfrm>
          <a:prstGeom prst="roundRect">
            <a:avLst>
              <a:gd name="adj" fmla="val 4706"/>
            </a:avLst>
          </a:prstGeom>
          <a:solidFill>
            <a:srgbClr val="EEF2F7"/>
          </a:solidFill>
          <a:ln w="12700">
            <a:solidFill>
              <a:srgbClr val="EEF2F7"/>
            </a:solidFill>
            <a:prstDash val="solid"/>
          </a:ln>
        </p:spPr>
      </p:sp>
      <p:sp>
        <p:nvSpPr>
          <p:cNvPr id="18" name="Shape 16"/>
          <p:cNvSpPr/>
          <p:nvPr/>
        </p:nvSpPr>
        <p:spPr>
          <a:xfrm>
            <a:off x="640080" y="3108960"/>
            <a:ext cx="457200" cy="457200"/>
          </a:xfrm>
          <a:prstGeom prst="ellipse">
            <a:avLst/>
          </a:prstGeom>
          <a:solidFill>
            <a:srgbClr val="14213D"/>
          </a:solidFill>
          <a:ln w="12700">
            <a:solidFill>
              <a:srgbClr val="14213D"/>
            </a:solidFill>
            <a:prstDash val="solid"/>
          </a:ln>
        </p:spPr>
      </p:sp>
      <p:sp>
        <p:nvSpPr>
          <p:cNvPr id="19" name="Text 17"/>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234440" y="3090672"/>
            <a:ext cx="201168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Linked list → DAG</a:t>
            </a:r>
            <a:endParaRPr lang="en-US" sz="1600" dirty="0"/>
          </a:p>
        </p:txBody>
      </p:sp>
      <p:sp>
        <p:nvSpPr>
          <p:cNvPr id="21" name="Text 19"/>
          <p:cNvSpPr txBox="1"/>
          <p:nvPr/>
        </p:nvSpPr>
        <p:spPr>
          <a:xfrm>
            <a:off x="1234440" y="3383280"/>
            <a:ext cx="2286000" cy="228600"/>
          </a:xfrm>
          <a:prstGeom prst="rect">
            <a:avLst/>
          </a:prstGeom>
          <a:noFill/>
          <a:ln/>
        </p:spPr>
        <p:txBody>
          <a:bodyPr wrap="square" lIns="0" tIns="0" rIns="0" bIns="0" rtlCol="0" anchor="ctr"/>
          <a:lstStyle/>
          <a:p>
            <a:pPr indent="0" marL="0">
              <a:buNone/>
            </a:pPr>
            <a:r>
              <a:rPr lang="en-US" sz="1100" i="1" dirty="0">
                <a:solidFill>
                  <a:srgbClr val="B26A00"/>
                </a:solidFill>
                <a:latin typeface="Calibri" pitchFamily="34" charset="0"/>
                <a:ea typeface="Calibri" pitchFamily="34" charset="-122"/>
                <a:cs typeface="Calibri" pitchFamily="34" charset="-120"/>
              </a:rPr>
              <a:t>history</a:t>
            </a:r>
            <a:endParaRPr lang="en-US" sz="1100" dirty="0"/>
          </a:p>
        </p:txBody>
      </p:sp>
      <p:sp>
        <p:nvSpPr>
          <p:cNvPr id="22" name="Text 20"/>
          <p:cNvSpPr txBox="1"/>
          <p:nvPr/>
        </p:nvSpPr>
        <p:spPr>
          <a:xfrm>
            <a:off x="640080" y="3703320"/>
            <a:ext cx="36576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Each commit stores its parent's hash. Following parents gives history. A merge has 2 parents, so it becomes a DAG.</a:t>
            </a:r>
            <a:endParaRPr lang="en-US" sz="1200" dirty="0"/>
          </a:p>
        </p:txBody>
      </p:sp>
      <p:sp>
        <p:nvSpPr>
          <p:cNvPr id="23" name="Shape 21"/>
          <p:cNvSpPr/>
          <p:nvPr/>
        </p:nvSpPr>
        <p:spPr>
          <a:xfrm>
            <a:off x="4663440" y="2926080"/>
            <a:ext cx="4023360" cy="1554480"/>
          </a:xfrm>
          <a:prstGeom prst="roundRect">
            <a:avLst>
              <a:gd name="adj" fmla="val 4706"/>
            </a:avLst>
          </a:prstGeom>
          <a:solidFill>
            <a:srgbClr val="EEF2F7"/>
          </a:solidFill>
          <a:ln w="12700">
            <a:solidFill>
              <a:srgbClr val="EEF2F7"/>
            </a:solidFill>
            <a:prstDash val="solid"/>
          </a:ln>
        </p:spPr>
      </p:sp>
      <p:sp>
        <p:nvSpPr>
          <p:cNvPr id="24" name="Shape 22"/>
          <p:cNvSpPr/>
          <p:nvPr/>
        </p:nvSpPr>
        <p:spPr>
          <a:xfrm>
            <a:off x="4846320" y="3108960"/>
            <a:ext cx="457200" cy="457200"/>
          </a:xfrm>
          <a:prstGeom prst="ellipse">
            <a:avLst/>
          </a:prstGeom>
          <a:solidFill>
            <a:srgbClr val="14213D"/>
          </a:solidFill>
          <a:ln w="12700">
            <a:solidFill>
              <a:srgbClr val="14213D"/>
            </a:solidFill>
            <a:prstDash val="solid"/>
          </a:ln>
        </p:spPr>
      </p:sp>
      <p:sp>
        <p:nvSpPr>
          <p:cNvPr id="25" name="Text 23"/>
          <p:cNvSpPr txBox="1"/>
          <p:nvPr/>
        </p:nvSpPr>
        <p:spPr>
          <a:xfrm>
            <a:off x="4846320" y="3108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5440680" y="3090672"/>
            <a:ext cx="201168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Merkle tree</a:t>
            </a:r>
            <a:endParaRPr lang="en-US" sz="1600" dirty="0"/>
          </a:p>
        </p:txBody>
      </p:sp>
      <p:sp>
        <p:nvSpPr>
          <p:cNvPr id="27" name="Text 25"/>
          <p:cNvSpPr txBox="1"/>
          <p:nvPr/>
        </p:nvSpPr>
        <p:spPr>
          <a:xfrm>
            <a:off x="5440680" y="3383280"/>
            <a:ext cx="2286000" cy="228600"/>
          </a:xfrm>
          <a:prstGeom prst="rect">
            <a:avLst/>
          </a:prstGeom>
          <a:noFill/>
          <a:ln/>
        </p:spPr>
        <p:txBody>
          <a:bodyPr wrap="square" lIns="0" tIns="0" rIns="0" bIns="0" rtlCol="0" anchor="ctr"/>
          <a:lstStyle/>
          <a:p>
            <a:pPr indent="0" marL="0">
              <a:buNone/>
            </a:pPr>
            <a:r>
              <a:rPr lang="en-US" sz="1100" i="1" dirty="0">
                <a:solidFill>
                  <a:srgbClr val="B26A00"/>
                </a:solidFill>
                <a:latin typeface="Calibri" pitchFamily="34" charset="0"/>
                <a:ea typeface="Calibri" pitchFamily="34" charset="-122"/>
                <a:cs typeface="Calibri" pitchFamily="34" charset="-120"/>
              </a:rPr>
              <a:t>hash of hashes</a:t>
            </a:r>
            <a:endParaRPr lang="en-US" sz="1100" dirty="0"/>
          </a:p>
        </p:txBody>
      </p:sp>
      <p:sp>
        <p:nvSpPr>
          <p:cNvPr id="28" name="Text 26"/>
          <p:cNvSpPr txBox="1"/>
          <p:nvPr/>
        </p:nvSpPr>
        <p:spPr>
          <a:xfrm>
            <a:off x="4846320" y="3703320"/>
            <a:ext cx="36576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parent holds its children's hashes, so the commit ID "locks" the whole project. Change 1 byte → commit ID changes.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UNDERSTAND THE TOPIC</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Git Stores Only Three Kinds of Objects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1188720" y="1234440"/>
            <a:ext cx="1737360" cy="566928"/>
          </a:xfrm>
          <a:prstGeom prst="roundRect">
            <a:avLst>
              <a:gd name="adj" fmla="val 12903"/>
            </a:avLst>
          </a:prstGeom>
          <a:solidFill>
            <a:srgbClr val="14213D"/>
          </a:solidFill>
          <a:ln w="12700">
            <a:solidFill>
              <a:srgbClr val="14213D"/>
            </a:solidFill>
            <a:prstDash val="solid"/>
          </a:ln>
        </p:spPr>
      </p:sp>
      <p:sp>
        <p:nvSpPr>
          <p:cNvPr id="6" name="Text 4"/>
          <p:cNvSpPr txBox="1"/>
          <p:nvPr/>
        </p:nvSpPr>
        <p:spPr>
          <a:xfrm>
            <a:off x="1188720" y="1271016"/>
            <a:ext cx="17373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COMMIT</a:t>
            </a:r>
            <a:endParaRPr lang="en-US" sz="1300" dirty="0"/>
          </a:p>
        </p:txBody>
      </p:sp>
      <p:sp>
        <p:nvSpPr>
          <p:cNvPr id="7" name="Text 5"/>
          <p:cNvSpPr txBox="1"/>
          <p:nvPr/>
        </p:nvSpPr>
        <p:spPr>
          <a:xfrm>
            <a:off x="1188720" y="1527048"/>
            <a:ext cx="1737360" cy="237744"/>
          </a:xfrm>
          <a:prstGeom prst="rect">
            <a:avLst/>
          </a:prstGeom>
          <a:noFill/>
          <a:ln/>
        </p:spPr>
        <p:txBody>
          <a:bodyPr wrap="square" lIns="0" tIns="0" rIns="0" bIns="0" rtlCol="0" anchor="ctr"/>
          <a:lstStyle/>
          <a:p>
            <a:pPr algn="ctr" indent="0" marL="0">
              <a:buNone/>
            </a:pPr>
            <a:r>
              <a:rPr lang="en-US" sz="950" dirty="0">
                <a:solidFill>
                  <a:srgbClr val="FCA311"/>
                </a:solidFill>
                <a:latin typeface="Courier New" pitchFamily="34" charset="0"/>
                <a:ea typeface="Courier New" pitchFamily="34" charset="-122"/>
                <a:cs typeface="Courier New" pitchFamily="34" charset="-120"/>
              </a:rPr>
              <a:t>c7e2…</a:t>
            </a:r>
            <a:endParaRPr lang="en-US" sz="950" dirty="0"/>
          </a:p>
        </p:txBody>
      </p:sp>
      <p:sp>
        <p:nvSpPr>
          <p:cNvPr id="8" name="Shape 6"/>
          <p:cNvSpPr/>
          <p:nvPr/>
        </p:nvSpPr>
        <p:spPr>
          <a:xfrm>
            <a:off x="2057400" y="1801368"/>
            <a:ext cx="0" cy="411480"/>
          </a:xfrm>
          <a:prstGeom prst="line">
            <a:avLst/>
          </a:prstGeom>
          <a:noFill/>
          <a:ln w="19050">
            <a:solidFill>
              <a:srgbClr val="5B6472"/>
            </a:solidFill>
            <a:prstDash val="solid"/>
            <a:tailEnd type="triangle"/>
          </a:ln>
        </p:spPr>
      </p:sp>
      <p:sp>
        <p:nvSpPr>
          <p:cNvPr id="9" name="Shape 7"/>
          <p:cNvSpPr/>
          <p:nvPr/>
        </p:nvSpPr>
        <p:spPr>
          <a:xfrm>
            <a:off x="1188720" y="2240280"/>
            <a:ext cx="1737360" cy="566928"/>
          </a:xfrm>
          <a:prstGeom prst="roundRect">
            <a:avLst>
              <a:gd name="adj" fmla="val 12903"/>
            </a:avLst>
          </a:prstGeom>
          <a:solidFill>
            <a:srgbClr val="FCA311"/>
          </a:solidFill>
          <a:ln w="12700">
            <a:solidFill>
              <a:srgbClr val="FCA311"/>
            </a:solidFill>
            <a:prstDash val="solid"/>
          </a:ln>
        </p:spPr>
      </p:sp>
      <p:sp>
        <p:nvSpPr>
          <p:cNvPr id="10" name="Text 8"/>
          <p:cNvSpPr txBox="1"/>
          <p:nvPr/>
        </p:nvSpPr>
        <p:spPr>
          <a:xfrm>
            <a:off x="1188720" y="2276856"/>
            <a:ext cx="1737360" cy="2743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TREE</a:t>
            </a:r>
            <a:endParaRPr lang="en-US" sz="1300" dirty="0"/>
          </a:p>
        </p:txBody>
      </p:sp>
      <p:sp>
        <p:nvSpPr>
          <p:cNvPr id="11" name="Text 9"/>
          <p:cNvSpPr txBox="1"/>
          <p:nvPr/>
        </p:nvSpPr>
        <p:spPr>
          <a:xfrm>
            <a:off x="1188720" y="2532888"/>
            <a:ext cx="173736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8f3a…</a:t>
            </a:r>
            <a:endParaRPr lang="en-US" sz="950" dirty="0"/>
          </a:p>
        </p:txBody>
      </p:sp>
      <p:sp>
        <p:nvSpPr>
          <p:cNvPr id="12" name="Shape 10"/>
          <p:cNvSpPr/>
          <p:nvPr/>
        </p:nvSpPr>
        <p:spPr>
          <a:xfrm flipH="1">
            <a:off x="1371600" y="2807208"/>
            <a:ext cx="502920" cy="457200"/>
          </a:xfrm>
          <a:prstGeom prst="line">
            <a:avLst/>
          </a:prstGeom>
          <a:noFill/>
          <a:ln w="19050">
            <a:solidFill>
              <a:srgbClr val="5B6472"/>
            </a:solidFill>
            <a:prstDash val="solid"/>
            <a:tailEnd type="triangle"/>
          </a:ln>
        </p:spPr>
      </p:sp>
      <p:sp>
        <p:nvSpPr>
          <p:cNvPr id="13" name="Shape 11"/>
          <p:cNvSpPr/>
          <p:nvPr/>
        </p:nvSpPr>
        <p:spPr>
          <a:xfrm>
            <a:off x="2743200" y="2807208"/>
            <a:ext cx="502920" cy="457200"/>
          </a:xfrm>
          <a:prstGeom prst="line">
            <a:avLst/>
          </a:prstGeom>
          <a:noFill/>
          <a:ln w="19050">
            <a:solidFill>
              <a:srgbClr val="5B6472"/>
            </a:solidFill>
            <a:prstDash val="solid"/>
            <a:tailEnd type="triangle"/>
          </a:ln>
        </p:spPr>
      </p:sp>
      <p:sp>
        <p:nvSpPr>
          <p:cNvPr id="14" name="Shape 12"/>
          <p:cNvSpPr/>
          <p:nvPr/>
        </p:nvSpPr>
        <p:spPr>
          <a:xfrm>
            <a:off x="457200" y="3291840"/>
            <a:ext cx="1417320" cy="566928"/>
          </a:xfrm>
          <a:prstGeom prst="roundRect">
            <a:avLst>
              <a:gd name="adj" fmla="val 12903"/>
            </a:avLst>
          </a:prstGeom>
          <a:solidFill>
            <a:srgbClr val="EEF2F7"/>
          </a:solidFill>
          <a:ln w="12700">
            <a:solidFill>
              <a:srgbClr val="EEF2F7"/>
            </a:solidFill>
            <a:prstDash val="solid"/>
          </a:ln>
        </p:spPr>
      </p:sp>
      <p:sp>
        <p:nvSpPr>
          <p:cNvPr id="15" name="Text 13"/>
          <p:cNvSpPr txBox="1"/>
          <p:nvPr/>
        </p:nvSpPr>
        <p:spPr>
          <a:xfrm>
            <a:off x="457200" y="3328416"/>
            <a:ext cx="1417320" cy="2743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BLOB</a:t>
            </a:r>
            <a:endParaRPr lang="en-US" sz="1300" dirty="0"/>
          </a:p>
        </p:txBody>
      </p:sp>
      <p:sp>
        <p:nvSpPr>
          <p:cNvPr id="16" name="Text 14"/>
          <p:cNvSpPr txBox="1"/>
          <p:nvPr/>
        </p:nvSpPr>
        <p:spPr>
          <a:xfrm>
            <a:off x="457200" y="3584448"/>
            <a:ext cx="141732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hello.txt</a:t>
            </a:r>
            <a:endParaRPr lang="en-US" sz="950" dirty="0"/>
          </a:p>
        </p:txBody>
      </p:sp>
      <p:sp>
        <p:nvSpPr>
          <p:cNvPr id="17" name="Shape 15"/>
          <p:cNvSpPr/>
          <p:nvPr/>
        </p:nvSpPr>
        <p:spPr>
          <a:xfrm>
            <a:off x="2697480" y="3291840"/>
            <a:ext cx="1417320" cy="566928"/>
          </a:xfrm>
          <a:prstGeom prst="roundRect">
            <a:avLst>
              <a:gd name="adj" fmla="val 12903"/>
            </a:avLst>
          </a:prstGeom>
          <a:solidFill>
            <a:srgbClr val="EEF2F7"/>
          </a:solidFill>
          <a:ln w="12700">
            <a:solidFill>
              <a:srgbClr val="EEF2F7"/>
            </a:solidFill>
            <a:prstDash val="solid"/>
          </a:ln>
        </p:spPr>
      </p:sp>
      <p:sp>
        <p:nvSpPr>
          <p:cNvPr id="18" name="Text 16"/>
          <p:cNvSpPr txBox="1"/>
          <p:nvPr/>
        </p:nvSpPr>
        <p:spPr>
          <a:xfrm>
            <a:off x="2697480" y="3328416"/>
            <a:ext cx="1417320" cy="2743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BLOB</a:t>
            </a:r>
            <a:endParaRPr lang="en-US" sz="1300" dirty="0"/>
          </a:p>
        </p:txBody>
      </p:sp>
      <p:sp>
        <p:nvSpPr>
          <p:cNvPr id="19" name="Text 17"/>
          <p:cNvSpPr txBox="1"/>
          <p:nvPr/>
        </p:nvSpPr>
        <p:spPr>
          <a:xfrm>
            <a:off x="2697480" y="3584448"/>
            <a:ext cx="141732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main.c</a:t>
            </a:r>
            <a:endParaRPr lang="en-US" sz="950" dirty="0"/>
          </a:p>
        </p:txBody>
      </p:sp>
      <p:sp>
        <p:nvSpPr>
          <p:cNvPr id="20" name="Text 18"/>
          <p:cNvSpPr txBox="1"/>
          <p:nvPr/>
        </p:nvSpPr>
        <p:spPr>
          <a:xfrm>
            <a:off x="4572000" y="1234440"/>
            <a:ext cx="4114800" cy="2743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Blob</a:t>
            </a:r>
            <a:endParaRPr lang="en-US" sz="1500" dirty="0"/>
          </a:p>
        </p:txBody>
      </p:sp>
      <p:sp>
        <p:nvSpPr>
          <p:cNvPr id="21" name="Text 19"/>
          <p:cNvSpPr txBox="1"/>
          <p:nvPr/>
        </p:nvSpPr>
        <p:spPr>
          <a:xfrm>
            <a:off x="4572000" y="1508760"/>
            <a:ext cx="4114800" cy="2743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Content of one file. No file name inside.</a:t>
            </a:r>
            <a:endParaRPr lang="en-US" sz="1250" dirty="0"/>
          </a:p>
        </p:txBody>
      </p:sp>
      <p:sp>
        <p:nvSpPr>
          <p:cNvPr id="22" name="Shape 20"/>
          <p:cNvSpPr/>
          <p:nvPr/>
        </p:nvSpPr>
        <p:spPr>
          <a:xfrm>
            <a:off x="4572000" y="1819656"/>
            <a:ext cx="4114800" cy="329184"/>
          </a:xfrm>
          <a:prstGeom prst="roundRect">
            <a:avLst>
              <a:gd name="adj" fmla="val 22222"/>
            </a:avLst>
          </a:prstGeom>
          <a:solidFill>
            <a:srgbClr val="EEF2F7"/>
          </a:solidFill>
          <a:ln w="12700">
            <a:solidFill>
              <a:srgbClr val="EEF2F7"/>
            </a:solidFill>
            <a:prstDash val="solid"/>
          </a:ln>
        </p:spPr>
      </p:sp>
      <p:sp>
        <p:nvSpPr>
          <p:cNvPr id="23" name="Text 21"/>
          <p:cNvSpPr txBox="1"/>
          <p:nvPr/>
        </p:nvSpPr>
        <p:spPr>
          <a:xfrm>
            <a:off x="4663440" y="1819656"/>
            <a:ext cx="3977640" cy="329184"/>
          </a:xfrm>
          <a:prstGeom prst="rect">
            <a:avLst/>
          </a:prstGeom>
          <a:noFill/>
          <a:ln/>
        </p:spPr>
        <p:txBody>
          <a:bodyPr wrap="square" lIns="0" tIns="0" rIns="0" bIns="0" rtlCol="0" anchor="ctr"/>
          <a:lstStyle/>
          <a:p>
            <a:pPr indent="0" marL="0">
              <a:buNone/>
            </a:pPr>
            <a:r>
              <a:rPr lang="en-US" sz="1000" dirty="0">
                <a:solidFill>
                  <a:srgbClr val="14213D"/>
                </a:solidFill>
                <a:latin typeface="Courier New" pitchFamily="34" charset="0"/>
                <a:ea typeface="Courier New" pitchFamily="34" charset="-122"/>
                <a:cs typeface="Courier New" pitchFamily="34" charset="-120"/>
              </a:rPr>
              <a:t>blob 12\0Hello World</a:t>
            </a:r>
            <a:endParaRPr lang="en-US" sz="1000" dirty="0"/>
          </a:p>
        </p:txBody>
      </p:sp>
      <p:sp>
        <p:nvSpPr>
          <p:cNvPr id="24" name="Text 22"/>
          <p:cNvSpPr txBox="1"/>
          <p:nvPr/>
        </p:nvSpPr>
        <p:spPr>
          <a:xfrm>
            <a:off x="4572000" y="2258568"/>
            <a:ext cx="4114800" cy="2743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Tree</a:t>
            </a:r>
            <a:endParaRPr lang="en-US" sz="1500" dirty="0"/>
          </a:p>
        </p:txBody>
      </p:sp>
      <p:sp>
        <p:nvSpPr>
          <p:cNvPr id="25" name="Text 23"/>
          <p:cNvSpPr txBox="1"/>
          <p:nvPr/>
        </p:nvSpPr>
        <p:spPr>
          <a:xfrm>
            <a:off x="4572000" y="2532888"/>
            <a:ext cx="4114800" cy="2743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One folder: file names + their blob hashes.</a:t>
            </a:r>
            <a:endParaRPr lang="en-US" sz="1250" dirty="0"/>
          </a:p>
        </p:txBody>
      </p:sp>
      <p:sp>
        <p:nvSpPr>
          <p:cNvPr id="26" name="Shape 24"/>
          <p:cNvSpPr/>
          <p:nvPr/>
        </p:nvSpPr>
        <p:spPr>
          <a:xfrm>
            <a:off x="4572000" y="2843784"/>
            <a:ext cx="4114800" cy="329184"/>
          </a:xfrm>
          <a:prstGeom prst="roundRect">
            <a:avLst>
              <a:gd name="adj" fmla="val 22222"/>
            </a:avLst>
          </a:prstGeom>
          <a:solidFill>
            <a:srgbClr val="EEF2F7"/>
          </a:solidFill>
          <a:ln w="12700">
            <a:solidFill>
              <a:srgbClr val="EEF2F7"/>
            </a:solidFill>
            <a:prstDash val="solid"/>
          </a:ln>
        </p:spPr>
      </p:sp>
      <p:sp>
        <p:nvSpPr>
          <p:cNvPr id="27" name="Text 25"/>
          <p:cNvSpPr txBox="1"/>
          <p:nvPr/>
        </p:nvSpPr>
        <p:spPr>
          <a:xfrm>
            <a:off x="4663440" y="2843784"/>
            <a:ext cx="3977640" cy="329184"/>
          </a:xfrm>
          <a:prstGeom prst="rect">
            <a:avLst/>
          </a:prstGeom>
          <a:noFill/>
          <a:ln/>
        </p:spPr>
        <p:txBody>
          <a:bodyPr wrap="square" lIns="0" tIns="0" rIns="0" bIns="0" rtlCol="0" anchor="ctr"/>
          <a:lstStyle/>
          <a:p>
            <a:pPr indent="0" marL="0">
              <a:buNone/>
            </a:pPr>
            <a:r>
              <a:rPr lang="en-US" sz="1000" dirty="0">
                <a:solidFill>
                  <a:srgbClr val="14213D"/>
                </a:solidFill>
                <a:latin typeface="Courier New" pitchFamily="34" charset="0"/>
                <a:ea typeface="Courier New" pitchFamily="34" charset="-122"/>
                <a:cs typeface="Courier New" pitchFamily="34" charset="-120"/>
              </a:rPr>
              <a:t>100644 blob 557db03… hello.txt</a:t>
            </a:r>
            <a:endParaRPr lang="en-US" sz="1000" dirty="0"/>
          </a:p>
        </p:txBody>
      </p:sp>
      <p:sp>
        <p:nvSpPr>
          <p:cNvPr id="28" name="Text 26"/>
          <p:cNvSpPr txBox="1"/>
          <p:nvPr/>
        </p:nvSpPr>
        <p:spPr>
          <a:xfrm>
            <a:off x="4572000" y="3282696"/>
            <a:ext cx="4114800" cy="2743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Commit</a:t>
            </a:r>
            <a:endParaRPr lang="en-US" sz="1500" dirty="0"/>
          </a:p>
        </p:txBody>
      </p:sp>
      <p:sp>
        <p:nvSpPr>
          <p:cNvPr id="29" name="Text 27"/>
          <p:cNvSpPr txBox="1"/>
          <p:nvPr/>
        </p:nvSpPr>
        <p:spPr>
          <a:xfrm>
            <a:off x="4572000" y="3557016"/>
            <a:ext cx="4114800" cy="2743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Snapshot: points to a tree + parent commit.</a:t>
            </a:r>
            <a:endParaRPr lang="en-US" sz="1250" dirty="0"/>
          </a:p>
        </p:txBody>
      </p:sp>
      <p:sp>
        <p:nvSpPr>
          <p:cNvPr id="30" name="Shape 28"/>
          <p:cNvSpPr/>
          <p:nvPr/>
        </p:nvSpPr>
        <p:spPr>
          <a:xfrm>
            <a:off x="4572000" y="3867912"/>
            <a:ext cx="4114800" cy="329184"/>
          </a:xfrm>
          <a:prstGeom prst="roundRect">
            <a:avLst>
              <a:gd name="adj" fmla="val 22222"/>
            </a:avLst>
          </a:prstGeom>
          <a:solidFill>
            <a:srgbClr val="EEF2F7"/>
          </a:solidFill>
          <a:ln w="12700">
            <a:solidFill>
              <a:srgbClr val="EEF2F7"/>
            </a:solidFill>
            <a:prstDash val="solid"/>
          </a:ln>
        </p:spPr>
      </p:sp>
      <p:sp>
        <p:nvSpPr>
          <p:cNvPr id="31" name="Text 29"/>
          <p:cNvSpPr txBox="1"/>
          <p:nvPr/>
        </p:nvSpPr>
        <p:spPr>
          <a:xfrm>
            <a:off x="4663440" y="3867912"/>
            <a:ext cx="3977640" cy="329184"/>
          </a:xfrm>
          <a:prstGeom prst="rect">
            <a:avLst/>
          </a:prstGeom>
          <a:noFill/>
          <a:ln/>
        </p:spPr>
        <p:txBody>
          <a:bodyPr wrap="square" lIns="0" tIns="0" rIns="0" bIns="0" rtlCol="0" anchor="ctr"/>
          <a:lstStyle/>
          <a:p>
            <a:pPr indent="0" marL="0">
              <a:buNone/>
            </a:pPr>
            <a:r>
              <a:rPr lang="en-US" sz="1000" dirty="0">
                <a:solidFill>
                  <a:srgbClr val="14213D"/>
                </a:solidFill>
                <a:latin typeface="Courier New" pitchFamily="34" charset="0"/>
                <a:ea typeface="Courier New" pitchFamily="34" charset="-122"/>
                <a:cs typeface="Courier New" pitchFamily="34" charset="-120"/>
              </a:rPr>
              <a:t>tree 8f3a… parent 1c2d… author… msg</a:t>
            </a:r>
            <a:endParaRPr lang="en-US" sz="1000" dirty="0"/>
          </a:p>
        </p:txBody>
      </p:sp>
      <p:sp>
        <p:nvSpPr>
          <p:cNvPr id="32" name="Text 30"/>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300" b="1" i="1" dirty="0">
                <a:solidFill>
                  <a:srgbClr val="2A9D8F"/>
                </a:solidFill>
                <a:latin typeface="Calibri" pitchFamily="34" charset="0"/>
                <a:ea typeface="Calibri" pitchFamily="34" charset="-122"/>
                <a:cs typeface="Calibri" pitchFamily="34" charset="-120"/>
              </a:rPr>
              <a:t>Because the file name lives in the tree, renaming a file creates no new blob.</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PROBLEM → NEED → DATA STRUCTURE → ALGORITHM</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Algorithm: How an Object Is Stored</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234440"/>
            <a:ext cx="1463040" cy="1508760"/>
          </a:xfrm>
          <a:prstGeom prst="roundRect">
            <a:avLst>
              <a:gd name="adj" fmla="val 5000"/>
            </a:avLst>
          </a:prstGeom>
          <a:solidFill>
            <a:srgbClr val="EEF2F7"/>
          </a:solidFill>
          <a:ln w="12700">
            <a:solidFill>
              <a:srgbClr val="EEF2F7"/>
            </a:solidFill>
            <a:prstDash val="solid"/>
          </a:ln>
        </p:spPr>
      </p:sp>
      <p:sp>
        <p:nvSpPr>
          <p:cNvPr id="6" name="Shape 4"/>
          <p:cNvSpPr/>
          <p:nvPr/>
        </p:nvSpPr>
        <p:spPr>
          <a:xfrm>
            <a:off x="960120" y="1325880"/>
            <a:ext cx="457200" cy="457200"/>
          </a:xfrm>
          <a:prstGeom prst="ellipse">
            <a:avLst/>
          </a:prstGeom>
          <a:solidFill>
            <a:srgbClr val="14213D"/>
          </a:solidFill>
          <a:ln w="12700">
            <a:solidFill>
              <a:srgbClr val="14213D"/>
            </a:solidFill>
            <a:prstDash val="solid"/>
          </a:ln>
        </p:spPr>
      </p:sp>
      <p:sp>
        <p:nvSpPr>
          <p:cNvPr id="7" name="Text 5"/>
          <p:cNvSpPr txBox="1"/>
          <p:nvPr/>
        </p:nvSpPr>
        <p:spPr>
          <a:xfrm>
            <a:off x="960120"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457200" y="1828800"/>
            <a:ext cx="1463040" cy="27432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Read file</a:t>
            </a:r>
            <a:endParaRPr lang="en-US" sz="1400" dirty="0"/>
          </a:p>
        </p:txBody>
      </p:sp>
      <p:sp>
        <p:nvSpPr>
          <p:cNvPr id="9" name="Text 7"/>
          <p:cNvSpPr txBox="1"/>
          <p:nvPr/>
        </p:nvSpPr>
        <p:spPr>
          <a:xfrm>
            <a:off x="502920" y="2103120"/>
            <a:ext cx="1371600" cy="594360"/>
          </a:xfrm>
          <a:prstGeom prst="rect">
            <a:avLst/>
          </a:prstGeom>
          <a:noFill/>
          <a:ln/>
        </p:spPr>
        <p:txBody>
          <a:bodyPr wrap="square" lIns="0" tIns="0" rIns="0" bIns="0" rtlCol="0" anchor="t"/>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bytes of hello.txt</a:t>
            </a:r>
            <a:endParaRPr lang="en-US" sz="950" dirty="0"/>
          </a:p>
          <a:p>
            <a:pPr algn="ctr" indent="0" marL="0">
              <a:buNone/>
            </a:pPr>
            <a:r>
              <a:rPr lang="en-US" sz="950" dirty="0">
                <a:solidFill>
                  <a:srgbClr val="1F2937"/>
                </a:solidFill>
                <a:latin typeface="Courier New" pitchFamily="34" charset="0"/>
                <a:ea typeface="Courier New" pitchFamily="34" charset="-122"/>
                <a:cs typeface="Courier New" pitchFamily="34" charset="-120"/>
              </a:rPr>
              <a:t>"Hello World\n"</a:t>
            </a:r>
            <a:endParaRPr lang="en-US" sz="950" dirty="0"/>
          </a:p>
        </p:txBody>
      </p:sp>
      <p:sp>
        <p:nvSpPr>
          <p:cNvPr id="10" name="Shape 8"/>
          <p:cNvSpPr/>
          <p:nvPr/>
        </p:nvSpPr>
        <p:spPr>
          <a:xfrm>
            <a:off x="1947672" y="1984248"/>
            <a:ext cx="182880" cy="0"/>
          </a:xfrm>
          <a:prstGeom prst="line">
            <a:avLst/>
          </a:prstGeom>
          <a:noFill/>
          <a:ln w="19050">
            <a:solidFill>
              <a:srgbClr val="5B6472"/>
            </a:solidFill>
            <a:prstDash val="solid"/>
            <a:tailEnd type="triangle"/>
          </a:ln>
        </p:spPr>
      </p:sp>
      <p:sp>
        <p:nvSpPr>
          <p:cNvPr id="11" name="Shape 9"/>
          <p:cNvSpPr/>
          <p:nvPr/>
        </p:nvSpPr>
        <p:spPr>
          <a:xfrm>
            <a:off x="2157984" y="1234440"/>
            <a:ext cx="1463040" cy="1508760"/>
          </a:xfrm>
          <a:prstGeom prst="roundRect">
            <a:avLst>
              <a:gd name="adj" fmla="val 5000"/>
            </a:avLst>
          </a:prstGeom>
          <a:solidFill>
            <a:srgbClr val="EEF2F7"/>
          </a:solidFill>
          <a:ln w="12700">
            <a:solidFill>
              <a:srgbClr val="EEF2F7"/>
            </a:solidFill>
            <a:prstDash val="solid"/>
          </a:ln>
        </p:spPr>
      </p:sp>
      <p:sp>
        <p:nvSpPr>
          <p:cNvPr id="12" name="Shape 10"/>
          <p:cNvSpPr/>
          <p:nvPr/>
        </p:nvSpPr>
        <p:spPr>
          <a:xfrm>
            <a:off x="2660904" y="1325880"/>
            <a:ext cx="457200" cy="457200"/>
          </a:xfrm>
          <a:prstGeom prst="ellipse">
            <a:avLst/>
          </a:prstGeom>
          <a:solidFill>
            <a:srgbClr val="14213D"/>
          </a:solidFill>
          <a:ln w="12700">
            <a:solidFill>
              <a:srgbClr val="14213D"/>
            </a:solidFill>
            <a:prstDash val="solid"/>
          </a:ln>
        </p:spPr>
      </p:sp>
      <p:sp>
        <p:nvSpPr>
          <p:cNvPr id="13" name="Text 11"/>
          <p:cNvSpPr txBox="1"/>
          <p:nvPr/>
        </p:nvSpPr>
        <p:spPr>
          <a:xfrm>
            <a:off x="2660904"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2157984" y="1828800"/>
            <a:ext cx="1463040" cy="27432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Add header</a:t>
            </a:r>
            <a:endParaRPr lang="en-US" sz="1400" dirty="0"/>
          </a:p>
        </p:txBody>
      </p:sp>
      <p:sp>
        <p:nvSpPr>
          <p:cNvPr id="15" name="Text 13"/>
          <p:cNvSpPr txBox="1"/>
          <p:nvPr/>
        </p:nvSpPr>
        <p:spPr>
          <a:xfrm>
            <a:off x="2203704" y="2103120"/>
            <a:ext cx="1371600" cy="594360"/>
          </a:xfrm>
          <a:prstGeom prst="rect">
            <a:avLst/>
          </a:prstGeom>
          <a:noFill/>
          <a:ln/>
        </p:spPr>
        <p:txBody>
          <a:bodyPr wrap="square" lIns="0" tIns="0" rIns="0" bIns="0" rtlCol="0" anchor="t"/>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"blob 12\0" + content</a:t>
            </a:r>
            <a:endParaRPr lang="en-US" sz="950" dirty="0"/>
          </a:p>
        </p:txBody>
      </p:sp>
      <p:sp>
        <p:nvSpPr>
          <p:cNvPr id="16" name="Shape 14"/>
          <p:cNvSpPr/>
          <p:nvPr/>
        </p:nvSpPr>
        <p:spPr>
          <a:xfrm>
            <a:off x="3648456" y="1984248"/>
            <a:ext cx="182880" cy="0"/>
          </a:xfrm>
          <a:prstGeom prst="line">
            <a:avLst/>
          </a:prstGeom>
          <a:noFill/>
          <a:ln w="19050">
            <a:solidFill>
              <a:srgbClr val="5B6472"/>
            </a:solidFill>
            <a:prstDash val="solid"/>
            <a:tailEnd type="triangle"/>
          </a:ln>
        </p:spPr>
      </p:sp>
      <p:sp>
        <p:nvSpPr>
          <p:cNvPr id="17" name="Shape 15"/>
          <p:cNvSpPr/>
          <p:nvPr/>
        </p:nvSpPr>
        <p:spPr>
          <a:xfrm>
            <a:off x="3858768" y="1234440"/>
            <a:ext cx="1463040" cy="1508760"/>
          </a:xfrm>
          <a:prstGeom prst="roundRect">
            <a:avLst>
              <a:gd name="adj" fmla="val 5000"/>
            </a:avLst>
          </a:prstGeom>
          <a:solidFill>
            <a:srgbClr val="EEF2F7"/>
          </a:solidFill>
          <a:ln w="12700">
            <a:solidFill>
              <a:srgbClr val="EEF2F7"/>
            </a:solidFill>
            <a:prstDash val="solid"/>
          </a:ln>
        </p:spPr>
      </p:sp>
      <p:sp>
        <p:nvSpPr>
          <p:cNvPr id="18" name="Shape 16"/>
          <p:cNvSpPr/>
          <p:nvPr/>
        </p:nvSpPr>
        <p:spPr>
          <a:xfrm>
            <a:off x="4361688" y="1325880"/>
            <a:ext cx="457200" cy="457200"/>
          </a:xfrm>
          <a:prstGeom prst="ellipse">
            <a:avLst/>
          </a:prstGeom>
          <a:solidFill>
            <a:srgbClr val="14213D"/>
          </a:solidFill>
          <a:ln w="12700">
            <a:solidFill>
              <a:srgbClr val="14213D"/>
            </a:solidFill>
            <a:prstDash val="solid"/>
          </a:ln>
        </p:spPr>
      </p:sp>
      <p:sp>
        <p:nvSpPr>
          <p:cNvPr id="19" name="Text 17"/>
          <p:cNvSpPr txBox="1"/>
          <p:nvPr/>
        </p:nvSpPr>
        <p:spPr>
          <a:xfrm>
            <a:off x="4361688"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3858768" y="1828800"/>
            <a:ext cx="1463040" cy="27432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Hash</a:t>
            </a:r>
            <a:endParaRPr lang="en-US" sz="1400" dirty="0"/>
          </a:p>
        </p:txBody>
      </p:sp>
      <p:sp>
        <p:nvSpPr>
          <p:cNvPr id="21" name="Text 19"/>
          <p:cNvSpPr txBox="1"/>
          <p:nvPr/>
        </p:nvSpPr>
        <p:spPr>
          <a:xfrm>
            <a:off x="3904488" y="2103120"/>
            <a:ext cx="1371600" cy="594360"/>
          </a:xfrm>
          <a:prstGeom prst="rect">
            <a:avLst/>
          </a:prstGeom>
          <a:noFill/>
          <a:ln/>
        </p:spPr>
        <p:txBody>
          <a:bodyPr wrap="square" lIns="0" tIns="0" rIns="0" bIns="0" rtlCol="0" anchor="t"/>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SHA-1 →</a:t>
            </a:r>
            <a:endParaRPr lang="en-US" sz="950" dirty="0"/>
          </a:p>
          <a:p>
            <a:pPr algn="ctr" indent="0" marL="0">
              <a:buNone/>
            </a:pPr>
            <a:r>
              <a:rPr lang="en-US" sz="950" dirty="0">
                <a:solidFill>
                  <a:srgbClr val="1F2937"/>
                </a:solidFill>
                <a:latin typeface="Courier New" pitchFamily="34" charset="0"/>
                <a:ea typeface="Courier New" pitchFamily="34" charset="-122"/>
                <a:cs typeface="Courier New" pitchFamily="34" charset="-120"/>
              </a:rPr>
              <a:t>557db03d…</a:t>
            </a:r>
            <a:endParaRPr lang="en-US" sz="950" dirty="0"/>
          </a:p>
        </p:txBody>
      </p:sp>
      <p:sp>
        <p:nvSpPr>
          <p:cNvPr id="22" name="Shape 20"/>
          <p:cNvSpPr/>
          <p:nvPr/>
        </p:nvSpPr>
        <p:spPr>
          <a:xfrm>
            <a:off x="5349240" y="1984248"/>
            <a:ext cx="182880" cy="0"/>
          </a:xfrm>
          <a:prstGeom prst="line">
            <a:avLst/>
          </a:prstGeom>
          <a:noFill/>
          <a:ln w="19050">
            <a:solidFill>
              <a:srgbClr val="5B6472"/>
            </a:solidFill>
            <a:prstDash val="solid"/>
            <a:tailEnd type="triangle"/>
          </a:ln>
        </p:spPr>
      </p:sp>
      <p:sp>
        <p:nvSpPr>
          <p:cNvPr id="23" name="Shape 21"/>
          <p:cNvSpPr/>
          <p:nvPr/>
        </p:nvSpPr>
        <p:spPr>
          <a:xfrm>
            <a:off x="5559552" y="1234440"/>
            <a:ext cx="1463040" cy="1508760"/>
          </a:xfrm>
          <a:prstGeom prst="roundRect">
            <a:avLst>
              <a:gd name="adj" fmla="val 5000"/>
            </a:avLst>
          </a:prstGeom>
          <a:solidFill>
            <a:srgbClr val="E3F4F1"/>
          </a:solidFill>
          <a:ln w="12700">
            <a:solidFill>
              <a:srgbClr val="E3F4F1"/>
            </a:solidFill>
            <a:prstDash val="solid"/>
          </a:ln>
        </p:spPr>
      </p:sp>
      <p:sp>
        <p:nvSpPr>
          <p:cNvPr id="24" name="Shape 22"/>
          <p:cNvSpPr/>
          <p:nvPr/>
        </p:nvSpPr>
        <p:spPr>
          <a:xfrm>
            <a:off x="6062472" y="1325880"/>
            <a:ext cx="457200" cy="457200"/>
          </a:xfrm>
          <a:prstGeom prst="ellipse">
            <a:avLst/>
          </a:prstGeom>
          <a:solidFill>
            <a:srgbClr val="2A9D8F"/>
          </a:solidFill>
          <a:ln w="12700">
            <a:solidFill>
              <a:srgbClr val="2A9D8F"/>
            </a:solidFill>
            <a:prstDash val="solid"/>
          </a:ln>
        </p:spPr>
      </p:sp>
      <p:sp>
        <p:nvSpPr>
          <p:cNvPr id="25" name="Text 23"/>
          <p:cNvSpPr txBox="1"/>
          <p:nvPr/>
        </p:nvSpPr>
        <p:spPr>
          <a:xfrm>
            <a:off x="6062472"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5559552" y="1828800"/>
            <a:ext cx="1463040" cy="27432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Exists?</a:t>
            </a:r>
            <a:endParaRPr lang="en-US" sz="1400" dirty="0"/>
          </a:p>
        </p:txBody>
      </p:sp>
      <p:sp>
        <p:nvSpPr>
          <p:cNvPr id="27" name="Text 25"/>
          <p:cNvSpPr txBox="1"/>
          <p:nvPr/>
        </p:nvSpPr>
        <p:spPr>
          <a:xfrm>
            <a:off x="5605272" y="2103120"/>
            <a:ext cx="1371600" cy="594360"/>
          </a:xfrm>
          <a:prstGeom prst="rect">
            <a:avLst/>
          </a:prstGeom>
          <a:noFill/>
          <a:ln/>
        </p:spPr>
        <p:txBody>
          <a:bodyPr wrap="square" lIns="0" tIns="0" rIns="0" bIns="0" rtlCol="0" anchor="t"/>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Yes → skip</a:t>
            </a:r>
            <a:endParaRPr lang="en-US" sz="950" dirty="0"/>
          </a:p>
          <a:p>
            <a:pPr algn="ctr" indent="0" marL="0">
              <a:buNone/>
            </a:pPr>
            <a:r>
              <a:rPr lang="en-US" sz="950" dirty="0">
                <a:solidFill>
                  <a:srgbClr val="1F2937"/>
                </a:solidFill>
                <a:latin typeface="Courier New" pitchFamily="34" charset="0"/>
                <a:ea typeface="Courier New" pitchFamily="34" charset="-122"/>
                <a:cs typeface="Courier New" pitchFamily="34" charset="-120"/>
              </a:rPr>
              <a:t>(deduplicated)</a:t>
            </a:r>
            <a:endParaRPr lang="en-US" sz="950" dirty="0"/>
          </a:p>
        </p:txBody>
      </p:sp>
      <p:sp>
        <p:nvSpPr>
          <p:cNvPr id="28" name="Shape 26"/>
          <p:cNvSpPr/>
          <p:nvPr/>
        </p:nvSpPr>
        <p:spPr>
          <a:xfrm>
            <a:off x="7050024" y="1984248"/>
            <a:ext cx="182880" cy="0"/>
          </a:xfrm>
          <a:prstGeom prst="line">
            <a:avLst/>
          </a:prstGeom>
          <a:noFill/>
          <a:ln w="19050">
            <a:solidFill>
              <a:srgbClr val="5B6472"/>
            </a:solidFill>
            <a:prstDash val="solid"/>
            <a:tailEnd type="triangle"/>
          </a:ln>
        </p:spPr>
      </p:sp>
      <p:sp>
        <p:nvSpPr>
          <p:cNvPr id="29" name="Shape 27"/>
          <p:cNvSpPr/>
          <p:nvPr/>
        </p:nvSpPr>
        <p:spPr>
          <a:xfrm>
            <a:off x="7260336" y="1234440"/>
            <a:ext cx="1463040" cy="1508760"/>
          </a:xfrm>
          <a:prstGeom prst="roundRect">
            <a:avLst>
              <a:gd name="adj" fmla="val 5000"/>
            </a:avLst>
          </a:prstGeom>
          <a:solidFill>
            <a:srgbClr val="EEF2F7"/>
          </a:solidFill>
          <a:ln w="12700">
            <a:solidFill>
              <a:srgbClr val="EEF2F7"/>
            </a:solidFill>
            <a:prstDash val="solid"/>
          </a:ln>
        </p:spPr>
      </p:sp>
      <p:sp>
        <p:nvSpPr>
          <p:cNvPr id="30" name="Shape 28"/>
          <p:cNvSpPr/>
          <p:nvPr/>
        </p:nvSpPr>
        <p:spPr>
          <a:xfrm>
            <a:off x="7763256" y="1325880"/>
            <a:ext cx="457200" cy="457200"/>
          </a:xfrm>
          <a:prstGeom prst="ellipse">
            <a:avLst/>
          </a:prstGeom>
          <a:solidFill>
            <a:srgbClr val="14213D"/>
          </a:solidFill>
          <a:ln w="12700">
            <a:solidFill>
              <a:srgbClr val="14213D"/>
            </a:solidFill>
            <a:prstDash val="solid"/>
          </a:ln>
        </p:spPr>
      </p:sp>
      <p:sp>
        <p:nvSpPr>
          <p:cNvPr id="31" name="Text 29"/>
          <p:cNvSpPr txBox="1"/>
          <p:nvPr/>
        </p:nvSpPr>
        <p:spPr>
          <a:xfrm>
            <a:off x="7763256" y="1325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7260336" y="1828800"/>
            <a:ext cx="1463040" cy="27432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Write</a:t>
            </a:r>
            <a:endParaRPr lang="en-US" sz="1400" dirty="0"/>
          </a:p>
        </p:txBody>
      </p:sp>
      <p:sp>
        <p:nvSpPr>
          <p:cNvPr id="33" name="Text 31"/>
          <p:cNvSpPr txBox="1"/>
          <p:nvPr/>
        </p:nvSpPr>
        <p:spPr>
          <a:xfrm>
            <a:off x="7306056" y="2103120"/>
            <a:ext cx="1371600" cy="594360"/>
          </a:xfrm>
          <a:prstGeom prst="rect">
            <a:avLst/>
          </a:prstGeom>
          <a:noFill/>
          <a:ln/>
        </p:spPr>
        <p:txBody>
          <a:bodyPr wrap="square" lIns="0" tIns="0" rIns="0" bIns="0" rtlCol="0" anchor="t"/>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objects/55/</a:t>
            </a:r>
            <a:endParaRPr lang="en-US" sz="950" dirty="0"/>
          </a:p>
          <a:p>
            <a:pPr algn="ctr" indent="0" marL="0">
              <a:buNone/>
            </a:pPr>
            <a:r>
              <a:rPr lang="en-US" sz="950" dirty="0">
                <a:solidFill>
                  <a:srgbClr val="1F2937"/>
                </a:solidFill>
                <a:latin typeface="Courier New" pitchFamily="34" charset="0"/>
                <a:ea typeface="Courier New" pitchFamily="34" charset="-122"/>
                <a:cs typeface="Courier New" pitchFamily="34" charset="-120"/>
              </a:rPr>
              <a:t>7db03d…</a:t>
            </a:r>
            <a:endParaRPr lang="en-US" sz="950" dirty="0"/>
          </a:p>
        </p:txBody>
      </p:sp>
      <p:sp>
        <p:nvSpPr>
          <p:cNvPr id="34" name="Text 32"/>
          <p:cNvSpPr txBox="1"/>
          <p:nvPr/>
        </p:nvSpPr>
        <p:spPr>
          <a:xfrm>
            <a:off x="457200" y="2971800"/>
            <a:ext cx="1463040" cy="457200"/>
          </a:xfrm>
          <a:prstGeom prst="rect">
            <a:avLst/>
          </a:prstGeom>
          <a:noFill/>
          <a:ln/>
        </p:spPr>
        <p:txBody>
          <a:bodyPr wrap="square" lIns="0" tIns="0" rIns="0" bIns="0" rtlCol="0" anchor="ctr"/>
          <a:lstStyle/>
          <a:p>
            <a:pPr indent="0" marL="0">
              <a:buNone/>
            </a:pPr>
            <a:r>
              <a:rPr lang="en-US" sz="1400" b="1" dirty="0">
                <a:solidFill>
                  <a:srgbClr val="B26A00"/>
                </a:solidFill>
                <a:latin typeface="Calibri" pitchFamily="34" charset="0"/>
                <a:ea typeface="Calibri" pitchFamily="34" charset="-122"/>
                <a:cs typeface="Calibri" pitchFamily="34" charset="-120"/>
              </a:rPr>
              <a:t>Retrieve</a:t>
            </a:r>
            <a:endParaRPr lang="en-US" sz="1400" dirty="0"/>
          </a:p>
        </p:txBody>
      </p:sp>
      <p:sp>
        <p:nvSpPr>
          <p:cNvPr id="35" name="Shape 33"/>
          <p:cNvSpPr/>
          <p:nvPr/>
        </p:nvSpPr>
        <p:spPr>
          <a:xfrm>
            <a:off x="1920240" y="2971800"/>
            <a:ext cx="6766560" cy="457200"/>
          </a:xfrm>
          <a:prstGeom prst="roundRect">
            <a:avLst>
              <a:gd name="adj" fmla="val 16000"/>
            </a:avLst>
          </a:prstGeom>
          <a:solidFill>
            <a:srgbClr val="FFFFFF"/>
          </a:solidFill>
          <a:ln w="12700">
            <a:solidFill>
              <a:srgbClr val="C9D2DE"/>
            </a:solidFill>
            <a:prstDash val="solid"/>
          </a:ln>
        </p:spPr>
      </p:sp>
      <p:sp>
        <p:nvSpPr>
          <p:cNvPr id="36" name="Text 34"/>
          <p:cNvSpPr txBox="1"/>
          <p:nvPr/>
        </p:nvSpPr>
        <p:spPr>
          <a:xfrm>
            <a:off x="2057400" y="2971800"/>
            <a:ext cx="658368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hash → build path objects/55/7db0… → read file → skip header → content</a:t>
            </a:r>
            <a:endParaRPr lang="en-US" sz="1250" dirty="0"/>
          </a:p>
        </p:txBody>
      </p:sp>
      <p:sp>
        <p:nvSpPr>
          <p:cNvPr id="37" name="Text 35"/>
          <p:cNvSpPr txBox="1"/>
          <p:nvPr/>
        </p:nvSpPr>
        <p:spPr>
          <a:xfrm>
            <a:off x="457200" y="3566160"/>
            <a:ext cx="1463040" cy="457200"/>
          </a:xfrm>
          <a:prstGeom prst="rect">
            <a:avLst/>
          </a:prstGeom>
          <a:noFill/>
          <a:ln/>
        </p:spPr>
        <p:txBody>
          <a:bodyPr wrap="square" lIns="0" tIns="0" rIns="0" bIns="0" rtlCol="0" anchor="ctr"/>
          <a:lstStyle/>
          <a:p>
            <a:pPr indent="0" marL="0">
              <a:buNone/>
            </a:pPr>
            <a:r>
              <a:rPr lang="en-US" sz="1400" b="1" dirty="0">
                <a:solidFill>
                  <a:srgbClr val="B26A00"/>
                </a:solidFill>
                <a:latin typeface="Calibri" pitchFamily="34" charset="0"/>
                <a:ea typeface="Calibri" pitchFamily="34" charset="-122"/>
                <a:cs typeface="Calibri" pitchFamily="34" charset="-120"/>
              </a:rPr>
              <a:t>Verify</a:t>
            </a:r>
            <a:endParaRPr lang="en-US" sz="1400" dirty="0"/>
          </a:p>
        </p:txBody>
      </p:sp>
      <p:sp>
        <p:nvSpPr>
          <p:cNvPr id="38" name="Shape 36"/>
          <p:cNvSpPr/>
          <p:nvPr/>
        </p:nvSpPr>
        <p:spPr>
          <a:xfrm>
            <a:off x="1920240" y="3566160"/>
            <a:ext cx="6766560" cy="457200"/>
          </a:xfrm>
          <a:prstGeom prst="roundRect">
            <a:avLst>
              <a:gd name="adj" fmla="val 16000"/>
            </a:avLst>
          </a:prstGeom>
          <a:solidFill>
            <a:srgbClr val="FFFFFF"/>
          </a:solidFill>
          <a:ln w="12700">
            <a:solidFill>
              <a:srgbClr val="C9D2DE"/>
            </a:solidFill>
            <a:prstDash val="solid"/>
          </a:ln>
        </p:spPr>
      </p:sp>
      <p:sp>
        <p:nvSpPr>
          <p:cNvPr id="39" name="Text 37"/>
          <p:cNvSpPr txBox="1"/>
          <p:nvPr/>
        </p:nvSpPr>
        <p:spPr>
          <a:xfrm>
            <a:off x="2057400" y="3566160"/>
            <a:ext cx="6583680" cy="4572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read object → hash it again → compare with its name → equal = OK, different = CORRUPTED</a:t>
            </a:r>
            <a:endParaRPr lang="en-US" sz="1250" dirty="0"/>
          </a:p>
        </p:txBody>
      </p:sp>
      <p:sp>
        <p:nvSpPr>
          <p:cNvPr id="40" name="Text 38"/>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200" i="1" dirty="0">
                <a:solidFill>
                  <a:srgbClr val="5B6472"/>
                </a:solidFill>
                <a:latin typeface="Calibri" pitchFamily="34" charset="0"/>
                <a:ea typeface="Calibri" pitchFamily="34" charset="-122"/>
                <a:cs typeface="Calibri" pitchFamily="34" charset="-120"/>
              </a:rPr>
              <a:t>The first 2 hex characters become a folder, so no single folder holds millions of files (256 folders).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IMPLEMENTATION</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Implementation in C: minigit.c</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457200" y="1188720"/>
            <a:ext cx="3840480" cy="274320"/>
          </a:xfrm>
          <a:prstGeom prst="rect">
            <a:avLst/>
          </a:prstGeom>
          <a:noFill/>
          <a:ln/>
        </p:spPr>
        <p:txBody>
          <a:bodyPr wrap="square" lIns="0" tIns="0" rIns="0" bIns="0" rtlCol="0" anchor="ctr"/>
          <a:lstStyle/>
          <a:p>
            <a:pPr indent="0" marL="0">
              <a:buNone/>
            </a:pPr>
            <a:r>
              <a:rPr lang="en-US" sz="1300" b="1" dirty="0">
                <a:solidFill>
                  <a:srgbClr val="B26A00"/>
                </a:solidFill>
                <a:latin typeface="Calibri" pitchFamily="34" charset="0"/>
                <a:ea typeface="Calibri" pitchFamily="34" charset="-122"/>
                <a:cs typeface="Calibri" pitchFamily="34" charset="-120"/>
              </a:rPr>
              <a:t>Function  →  C concepts used</a:t>
            </a:r>
            <a:endParaRPr lang="en-US" sz="1300" dirty="0"/>
          </a:p>
        </p:txBody>
      </p:sp>
      <p:sp>
        <p:nvSpPr>
          <p:cNvPr id="6" name="Shape 4"/>
          <p:cNvSpPr/>
          <p:nvPr/>
        </p:nvSpPr>
        <p:spPr>
          <a:xfrm>
            <a:off x="457200" y="1508760"/>
            <a:ext cx="3840480" cy="402336"/>
          </a:xfrm>
          <a:prstGeom prst="roundRect">
            <a:avLst>
              <a:gd name="adj" fmla="val 18182"/>
            </a:avLst>
          </a:prstGeom>
          <a:solidFill>
            <a:srgbClr val="EEF2F7"/>
          </a:solidFill>
          <a:ln w="12700">
            <a:solidFill>
              <a:srgbClr val="EEF2F7"/>
            </a:solidFill>
            <a:prstDash val="solid"/>
          </a:ln>
        </p:spPr>
      </p:sp>
      <p:sp>
        <p:nvSpPr>
          <p:cNvPr id="7" name="Text 5"/>
          <p:cNvSpPr txBox="1"/>
          <p:nvPr/>
        </p:nvSpPr>
        <p:spPr>
          <a:xfrm>
            <a:off x="548640" y="1508760"/>
            <a:ext cx="1737360" cy="40233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sha1()</a:t>
            </a:r>
            <a:endParaRPr lang="en-US" sz="1050" dirty="0"/>
          </a:p>
        </p:txBody>
      </p:sp>
      <p:sp>
        <p:nvSpPr>
          <p:cNvPr id="8" name="Text 6"/>
          <p:cNvSpPr txBox="1"/>
          <p:nvPr/>
        </p:nvSpPr>
        <p:spPr>
          <a:xfrm>
            <a:off x="2286000" y="1508760"/>
            <a:ext cx="196596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bitwise &lt;&lt; &gt;&gt; ^ &amp;, uint32_t</a:t>
            </a:r>
            <a:endParaRPr lang="en-US" sz="1100" dirty="0"/>
          </a:p>
        </p:txBody>
      </p:sp>
      <p:sp>
        <p:nvSpPr>
          <p:cNvPr id="9" name="Shape 7"/>
          <p:cNvSpPr/>
          <p:nvPr/>
        </p:nvSpPr>
        <p:spPr>
          <a:xfrm>
            <a:off x="457200" y="1984248"/>
            <a:ext cx="3840480" cy="402336"/>
          </a:xfrm>
          <a:prstGeom prst="roundRect">
            <a:avLst>
              <a:gd name="adj" fmla="val 18182"/>
            </a:avLst>
          </a:prstGeom>
          <a:solidFill>
            <a:srgbClr val="FFFFFF"/>
          </a:solidFill>
          <a:ln w="12700">
            <a:solidFill>
              <a:srgbClr val="FFFFFF"/>
            </a:solidFill>
            <a:prstDash val="solid"/>
          </a:ln>
        </p:spPr>
      </p:sp>
      <p:sp>
        <p:nvSpPr>
          <p:cNvPr id="10" name="Text 8"/>
          <p:cNvSpPr txBox="1"/>
          <p:nvPr/>
        </p:nvSpPr>
        <p:spPr>
          <a:xfrm>
            <a:off x="548640" y="1984248"/>
            <a:ext cx="1737360" cy="40233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cmd_hash_object()</a:t>
            </a:r>
            <a:endParaRPr lang="en-US" sz="1050" dirty="0"/>
          </a:p>
        </p:txBody>
      </p:sp>
      <p:sp>
        <p:nvSpPr>
          <p:cNvPr id="11" name="Text 9"/>
          <p:cNvSpPr txBox="1"/>
          <p:nvPr/>
        </p:nvSpPr>
        <p:spPr>
          <a:xfrm>
            <a:off x="2286000" y="1984248"/>
            <a:ext cx="196596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fopen, fread, malloc, memcpy</a:t>
            </a:r>
            <a:endParaRPr lang="en-US" sz="1100" dirty="0"/>
          </a:p>
        </p:txBody>
      </p:sp>
      <p:sp>
        <p:nvSpPr>
          <p:cNvPr id="12" name="Shape 10"/>
          <p:cNvSpPr/>
          <p:nvPr/>
        </p:nvSpPr>
        <p:spPr>
          <a:xfrm>
            <a:off x="457200" y="2459736"/>
            <a:ext cx="3840480" cy="402336"/>
          </a:xfrm>
          <a:prstGeom prst="roundRect">
            <a:avLst>
              <a:gd name="adj" fmla="val 18182"/>
            </a:avLst>
          </a:prstGeom>
          <a:solidFill>
            <a:srgbClr val="EEF2F7"/>
          </a:solidFill>
          <a:ln w="12700">
            <a:solidFill>
              <a:srgbClr val="EEF2F7"/>
            </a:solidFill>
            <a:prstDash val="solid"/>
          </a:ln>
        </p:spPr>
      </p:sp>
      <p:sp>
        <p:nvSpPr>
          <p:cNvPr id="13" name="Text 11"/>
          <p:cNvSpPr txBox="1"/>
          <p:nvPr/>
        </p:nvSpPr>
        <p:spPr>
          <a:xfrm>
            <a:off x="548640" y="2459736"/>
            <a:ext cx="1737360" cy="40233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object_path()</a:t>
            </a:r>
            <a:endParaRPr lang="en-US" sz="1050" dirty="0"/>
          </a:p>
        </p:txBody>
      </p:sp>
      <p:sp>
        <p:nvSpPr>
          <p:cNvPr id="14" name="Text 12"/>
          <p:cNvSpPr txBox="1"/>
          <p:nvPr/>
        </p:nvSpPr>
        <p:spPr>
          <a:xfrm>
            <a:off x="2286000" y="2459736"/>
            <a:ext cx="196596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sprintf → objects/55/7db0…</a:t>
            </a:r>
            <a:endParaRPr lang="en-US" sz="1100" dirty="0"/>
          </a:p>
        </p:txBody>
      </p:sp>
      <p:sp>
        <p:nvSpPr>
          <p:cNvPr id="15" name="Shape 13"/>
          <p:cNvSpPr/>
          <p:nvPr/>
        </p:nvSpPr>
        <p:spPr>
          <a:xfrm>
            <a:off x="457200" y="2935224"/>
            <a:ext cx="3840480" cy="402336"/>
          </a:xfrm>
          <a:prstGeom prst="roundRect">
            <a:avLst>
              <a:gd name="adj" fmla="val 18182"/>
            </a:avLst>
          </a:prstGeom>
          <a:solidFill>
            <a:srgbClr val="FFFFFF"/>
          </a:solidFill>
          <a:ln w="12700">
            <a:solidFill>
              <a:srgbClr val="FFFFFF"/>
            </a:solidFill>
            <a:prstDash val="solid"/>
          </a:ln>
        </p:spPr>
      </p:sp>
      <p:sp>
        <p:nvSpPr>
          <p:cNvPr id="16" name="Text 14"/>
          <p:cNvSpPr txBox="1"/>
          <p:nvPr/>
        </p:nvSpPr>
        <p:spPr>
          <a:xfrm>
            <a:off x="548640" y="2935224"/>
            <a:ext cx="1737360" cy="40233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cmd_cat_file()</a:t>
            </a:r>
            <a:endParaRPr lang="en-US" sz="1050" dirty="0"/>
          </a:p>
        </p:txBody>
      </p:sp>
      <p:sp>
        <p:nvSpPr>
          <p:cNvPr id="17" name="Text 15"/>
          <p:cNvSpPr txBox="1"/>
          <p:nvPr/>
        </p:nvSpPr>
        <p:spPr>
          <a:xfrm>
            <a:off x="2286000" y="2935224"/>
            <a:ext cx="196596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read object, skip header</a:t>
            </a:r>
            <a:endParaRPr lang="en-US" sz="1100" dirty="0"/>
          </a:p>
        </p:txBody>
      </p:sp>
      <p:sp>
        <p:nvSpPr>
          <p:cNvPr id="18" name="Shape 16"/>
          <p:cNvSpPr/>
          <p:nvPr/>
        </p:nvSpPr>
        <p:spPr>
          <a:xfrm>
            <a:off x="457200" y="3410712"/>
            <a:ext cx="3840480" cy="402336"/>
          </a:xfrm>
          <a:prstGeom prst="roundRect">
            <a:avLst>
              <a:gd name="adj" fmla="val 18182"/>
            </a:avLst>
          </a:prstGeom>
          <a:solidFill>
            <a:srgbClr val="EEF2F7"/>
          </a:solidFill>
          <a:ln w="12700">
            <a:solidFill>
              <a:srgbClr val="EEF2F7"/>
            </a:solidFill>
            <a:prstDash val="solid"/>
          </a:ln>
        </p:spPr>
      </p:sp>
      <p:sp>
        <p:nvSpPr>
          <p:cNvPr id="19" name="Text 17"/>
          <p:cNvSpPr txBox="1"/>
          <p:nvPr/>
        </p:nvSpPr>
        <p:spPr>
          <a:xfrm>
            <a:off x="548640" y="3410712"/>
            <a:ext cx="1737360" cy="40233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cmd_verify()</a:t>
            </a:r>
            <a:endParaRPr lang="en-US" sz="1050" dirty="0"/>
          </a:p>
        </p:txBody>
      </p:sp>
      <p:sp>
        <p:nvSpPr>
          <p:cNvPr id="20" name="Text 18"/>
          <p:cNvSpPr txBox="1"/>
          <p:nvPr/>
        </p:nvSpPr>
        <p:spPr>
          <a:xfrm>
            <a:off x="2286000" y="3410712"/>
            <a:ext cx="196596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re-hash, strcmp</a:t>
            </a:r>
            <a:endParaRPr lang="en-US" sz="1100" dirty="0"/>
          </a:p>
        </p:txBody>
      </p:sp>
      <p:sp>
        <p:nvSpPr>
          <p:cNvPr id="21" name="Shape 19"/>
          <p:cNvSpPr/>
          <p:nvPr/>
        </p:nvSpPr>
        <p:spPr>
          <a:xfrm>
            <a:off x="457200" y="3886200"/>
            <a:ext cx="3840480" cy="402336"/>
          </a:xfrm>
          <a:prstGeom prst="roundRect">
            <a:avLst>
              <a:gd name="adj" fmla="val 18182"/>
            </a:avLst>
          </a:prstGeom>
          <a:solidFill>
            <a:srgbClr val="FFFFFF"/>
          </a:solidFill>
          <a:ln w="12700">
            <a:solidFill>
              <a:srgbClr val="FFFFFF"/>
            </a:solidFill>
            <a:prstDash val="solid"/>
          </a:ln>
        </p:spPr>
      </p:sp>
      <p:sp>
        <p:nvSpPr>
          <p:cNvPr id="22" name="Text 20"/>
          <p:cNvSpPr txBox="1"/>
          <p:nvPr/>
        </p:nvSpPr>
        <p:spPr>
          <a:xfrm>
            <a:off x="548640" y="3886200"/>
            <a:ext cx="1737360" cy="402336"/>
          </a:xfrm>
          <a:prstGeom prst="rect">
            <a:avLst/>
          </a:prstGeom>
          <a:noFill/>
          <a:ln/>
        </p:spPr>
        <p:txBody>
          <a:bodyPr wrap="square" lIns="0" tIns="0" rIns="0" bIns="0" rtlCol="0" anchor="ctr"/>
          <a:lstStyle/>
          <a:p>
            <a:pPr indent="0" marL="0">
              <a:buNone/>
            </a:pPr>
            <a:r>
              <a:rPr lang="en-US" sz="1050" b="1" dirty="0">
                <a:solidFill>
                  <a:srgbClr val="14213D"/>
                </a:solidFill>
                <a:latin typeface="Courier New" pitchFamily="34" charset="0"/>
                <a:ea typeface="Courier New" pitchFamily="34" charset="-122"/>
                <a:cs typeface="Courier New" pitchFamily="34" charset="-120"/>
              </a:rPr>
              <a:t>main()</a:t>
            </a:r>
            <a:endParaRPr lang="en-US" sz="1050" dirty="0"/>
          </a:p>
        </p:txBody>
      </p:sp>
      <p:sp>
        <p:nvSpPr>
          <p:cNvPr id="23" name="Text 21"/>
          <p:cNvSpPr txBox="1"/>
          <p:nvPr/>
        </p:nvSpPr>
        <p:spPr>
          <a:xfrm>
            <a:off x="2286000" y="3886200"/>
            <a:ext cx="196596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argc / argv commands</a:t>
            </a:r>
            <a:endParaRPr lang="en-US" sz="1100" dirty="0"/>
          </a:p>
        </p:txBody>
      </p:sp>
      <p:sp>
        <p:nvSpPr>
          <p:cNvPr id="24" name="Shape 22"/>
          <p:cNvSpPr/>
          <p:nvPr/>
        </p:nvSpPr>
        <p:spPr>
          <a:xfrm>
            <a:off x="4572000" y="1188720"/>
            <a:ext cx="4114800" cy="3429000"/>
          </a:xfrm>
          <a:prstGeom prst="roundRect">
            <a:avLst>
              <a:gd name="adj" fmla="val 2133"/>
            </a:avLst>
          </a:prstGeom>
          <a:solidFill>
            <a:srgbClr val="0F172A"/>
          </a:solidFill>
          <a:ln w="12700">
            <a:solidFill>
              <a:srgbClr val="0F172A"/>
            </a:solidFill>
            <a:prstDash val="solid"/>
          </a:ln>
        </p:spPr>
      </p:sp>
      <p:sp>
        <p:nvSpPr>
          <p:cNvPr id="25" name="Text 23"/>
          <p:cNvSpPr txBox="1"/>
          <p:nvPr/>
        </p:nvSpPr>
        <p:spPr>
          <a:xfrm>
            <a:off x="4709160" y="1280160"/>
            <a:ext cx="3886200" cy="3246120"/>
          </a:xfrm>
          <a:prstGeom prst="rect">
            <a:avLst/>
          </a:prstGeom>
          <a:noFill/>
          <a:ln/>
        </p:spPr>
        <p:txBody>
          <a:bodyPr wrap="square" lIns="0" tIns="0" rIns="0" bIns="0" rtlCol="0" anchor="t"/>
          <a:lstStyle/>
          <a:p>
            <a:pPr indent="0" marL="0">
              <a:spcAft>
                <a:spcPts val="200"/>
              </a:spcAft>
              <a:buNone/>
            </a:pPr>
            <a:r>
              <a:rPr lang="en-US" sz="1050" dirty="0">
                <a:solidFill>
                  <a:srgbClr val="E5E7EB"/>
                </a:solidFill>
                <a:latin typeface="Courier New" pitchFamily="34" charset="0"/>
                <a:ea typeface="Courier New" pitchFamily="34" charset="-122"/>
                <a:cs typeface="Courier New" pitchFamily="34" charset="-120"/>
              </a:rPr>
              <a:t>$ ./minigit hash-object a.txt</a:t>
            </a:r>
            <a:endParaRPr lang="en-US" sz="1050" dirty="0"/>
          </a:p>
          <a:p>
            <a:pPr indent="0" marL="0">
              <a:spcAft>
                <a:spcPts val="200"/>
              </a:spcAft>
              <a:buNone/>
            </a:pPr>
            <a:r>
              <a:rPr lang="en-US" sz="1050" dirty="0">
                <a:solidFill>
                  <a:srgbClr val="FCA311"/>
                </a:solidFill>
                <a:latin typeface="Courier New" pitchFamily="34" charset="0"/>
                <a:ea typeface="Courier New" pitchFamily="34" charset="-122"/>
                <a:cs typeface="Courier New" pitchFamily="34" charset="-120"/>
              </a:rPr>
              <a:t>557db03de997c86a4a028e1ebd3a1ceb225be238</a:t>
            </a:r>
            <a:endParaRPr lang="en-US" sz="1050" dirty="0"/>
          </a:p>
          <a:p>
            <a:pPr indent="0" marL="0">
              <a:spcAft>
                <a:spcPts val="200"/>
              </a:spcAft>
              <a:buNone/>
            </a:pPr>
            <a:r>
              <a:rPr lang="en-US" sz="1050" dirty="0">
                <a:solidFill>
                  <a:srgbClr val="E5E7EB"/>
                </a:solidFill>
                <a:latin typeface="Courier New" pitchFamily="34" charset="0"/>
                <a:ea typeface="Courier New" pitchFamily="34" charset="-122"/>
                <a:cs typeface="Courier New" pitchFamily="34" charset="-120"/>
              </a:rPr>
              <a:t>$ git hash-object a.txt   # real Git</a:t>
            </a:r>
            <a:endParaRPr lang="en-US" sz="1050" dirty="0"/>
          </a:p>
          <a:p>
            <a:pPr indent="0" marL="0">
              <a:spcAft>
                <a:spcPts val="200"/>
              </a:spcAft>
              <a:buNone/>
            </a:pPr>
            <a:r>
              <a:rPr lang="en-US" sz="1050" dirty="0">
                <a:solidFill>
                  <a:srgbClr val="FCA311"/>
                </a:solidFill>
                <a:latin typeface="Courier New" pitchFamily="34" charset="0"/>
                <a:ea typeface="Courier New" pitchFamily="34" charset="-122"/>
                <a:cs typeface="Courier New" pitchFamily="34" charset="-120"/>
              </a:rPr>
              <a:t>557db03de997c86a4a028e1ebd3a1ceb225be238</a:t>
            </a:r>
            <a:endParaRPr lang="en-US" sz="1050" dirty="0"/>
          </a:p>
          <a:p>
            <a:pPr indent="0" marL="0">
              <a:spcAft>
                <a:spcPts val="200"/>
              </a:spcAft>
              <a:buNone/>
            </a:pPr>
            <a:r>
              <a:rPr lang="en-US" sz="1050" dirty="0">
                <a:solidFill>
                  <a:srgbClr val="9CA3AF"/>
                </a:solidFill>
                <a:latin typeface="Courier New" pitchFamily="34" charset="0"/>
                <a:ea typeface="Courier New" pitchFamily="34" charset="-122"/>
                <a:cs typeface="Courier New" pitchFamily="34" charset="-120"/>
              </a:rPr>
              <a:t> </a:t>
            </a:r>
            <a:endParaRPr lang="en-US" sz="1050" dirty="0"/>
          </a:p>
          <a:p>
            <a:pPr indent="0" marL="0">
              <a:spcAft>
                <a:spcPts val="200"/>
              </a:spcAft>
              <a:buNone/>
            </a:pPr>
            <a:r>
              <a:rPr lang="en-US" sz="1050" dirty="0">
                <a:solidFill>
                  <a:srgbClr val="E5E7EB"/>
                </a:solidFill>
                <a:latin typeface="Courier New" pitchFamily="34" charset="0"/>
                <a:ea typeface="Courier New" pitchFamily="34" charset="-122"/>
                <a:cs typeface="Courier New" pitchFamily="34" charset="-120"/>
              </a:rPr>
              <a:t>$ ./minigit hash-object b.txt  # same text</a:t>
            </a:r>
            <a:endParaRPr lang="en-US" sz="1050" dirty="0"/>
          </a:p>
          <a:p>
            <a:pPr indent="0" marL="0">
              <a:spcAft>
                <a:spcPts val="200"/>
              </a:spcAft>
              <a:buNone/>
            </a:pPr>
            <a:r>
              <a:rPr lang="en-US" sz="1050" dirty="0">
                <a:solidFill>
                  <a:srgbClr val="4ADE80"/>
                </a:solidFill>
                <a:latin typeface="Courier New" pitchFamily="34" charset="0"/>
                <a:ea typeface="Courier New" pitchFamily="34" charset="-122"/>
                <a:cs typeface="Courier New" pitchFamily="34" charset="-120"/>
              </a:rPr>
              <a:t>already stored (deduplicated)</a:t>
            </a:r>
            <a:endParaRPr lang="en-US" sz="1050" dirty="0"/>
          </a:p>
          <a:p>
            <a:pPr indent="0" marL="0">
              <a:spcAft>
                <a:spcPts val="200"/>
              </a:spcAft>
              <a:buNone/>
            </a:pPr>
            <a:r>
              <a:rPr lang="en-US" sz="1050" dirty="0">
                <a:solidFill>
                  <a:srgbClr val="9CA3AF"/>
                </a:solidFill>
                <a:latin typeface="Courier New" pitchFamily="34" charset="0"/>
                <a:ea typeface="Courier New" pitchFamily="34" charset="-122"/>
                <a:cs typeface="Courier New" pitchFamily="34" charset="-120"/>
              </a:rPr>
              <a:t> </a:t>
            </a:r>
            <a:endParaRPr lang="en-US" sz="1050" dirty="0"/>
          </a:p>
          <a:p>
            <a:pPr indent="0" marL="0">
              <a:spcAft>
                <a:spcPts val="200"/>
              </a:spcAft>
              <a:buNone/>
            </a:pPr>
            <a:r>
              <a:rPr lang="en-US" sz="1050" dirty="0">
                <a:solidFill>
                  <a:srgbClr val="E5E7EB"/>
                </a:solidFill>
                <a:latin typeface="Courier New" pitchFamily="34" charset="0"/>
                <a:ea typeface="Courier New" pitchFamily="34" charset="-122"/>
                <a:cs typeface="Courier New" pitchFamily="34" charset="-120"/>
              </a:rPr>
              <a:t>$ ./minigit verify 557db03…</a:t>
            </a:r>
            <a:endParaRPr lang="en-US" sz="1050" dirty="0"/>
          </a:p>
          <a:p>
            <a:pPr indent="0" marL="0">
              <a:spcAft>
                <a:spcPts val="200"/>
              </a:spcAft>
              <a:buNone/>
            </a:pPr>
            <a:r>
              <a:rPr lang="en-US" sz="1050" dirty="0">
                <a:solidFill>
                  <a:srgbClr val="4ADE80"/>
                </a:solidFill>
                <a:latin typeface="Courier New" pitchFamily="34" charset="0"/>
                <a:ea typeface="Courier New" pitchFamily="34" charset="-122"/>
                <a:cs typeface="Courier New" pitchFamily="34" charset="-120"/>
              </a:rPr>
              <a:t>OK: object is intact</a:t>
            </a:r>
            <a:endParaRPr lang="en-US" sz="1050" dirty="0"/>
          </a:p>
          <a:p>
            <a:pPr indent="0" marL="0">
              <a:spcAft>
                <a:spcPts val="200"/>
              </a:spcAft>
              <a:buNone/>
            </a:pPr>
            <a:r>
              <a:rPr lang="en-US" sz="1050" dirty="0">
                <a:solidFill>
                  <a:srgbClr val="9CA3AF"/>
                </a:solidFill>
                <a:latin typeface="Courier New" pitchFamily="34" charset="0"/>
                <a:ea typeface="Courier New" pitchFamily="34" charset="-122"/>
                <a:cs typeface="Courier New" pitchFamily="34" charset="-120"/>
              </a:rPr>
              <a:t># after changing 1 byte of the object:</a:t>
            </a:r>
            <a:endParaRPr lang="en-US" sz="1050" dirty="0"/>
          </a:p>
          <a:p>
            <a:pPr indent="0" marL="0">
              <a:spcAft>
                <a:spcPts val="200"/>
              </a:spcAft>
              <a:buNone/>
            </a:pPr>
            <a:r>
              <a:rPr lang="en-US" sz="1050" dirty="0">
                <a:solidFill>
                  <a:srgbClr val="F87171"/>
                </a:solidFill>
                <a:latin typeface="Courier New" pitchFamily="34" charset="0"/>
                <a:ea typeface="Courier New" pitchFamily="34" charset="-122"/>
                <a:cs typeface="Courier New" pitchFamily="34" charset="-120"/>
              </a:rPr>
              <a:t>CORRUPTED! expected 557db03…</a:t>
            </a:r>
            <a:endParaRPr lang="en-US" sz="1050" dirty="0"/>
          </a:p>
          <a:p>
            <a:pPr indent="0" marL="0">
              <a:spcAft>
                <a:spcPts val="200"/>
              </a:spcAft>
              <a:buNone/>
            </a:pPr>
            <a:r>
              <a:rPr lang="en-US" sz="1050" dirty="0">
                <a:solidFill>
                  <a:srgbClr val="F87171"/>
                </a:solidFill>
                <a:latin typeface="Courier New" pitchFamily="34" charset="0"/>
                <a:ea typeface="Courier New" pitchFamily="34" charset="-122"/>
                <a:cs typeface="Courier New" pitchFamily="34" charset="-120"/>
              </a:rPr>
              <a:t>           actual   b43d2955…</a:t>
            </a:r>
            <a:endParaRPr lang="en-US" sz="1050" dirty="0"/>
          </a:p>
        </p:txBody>
      </p:sp>
      <p:sp>
        <p:nvSpPr>
          <p:cNvPr id="26" name="Text 24"/>
          <p:cNvSpPr txBox="1"/>
          <p:nvPr/>
        </p:nvSpPr>
        <p:spPr>
          <a:xfrm>
            <a:off x="457200" y="4434840"/>
            <a:ext cx="39319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Real output from my program. It produces the same hash as real Git.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RESEARCH NOTEBOOK · COMPLEXITY</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Complexity Analysis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2103120"/>
                <a:gridCol w="2103120"/>
                <a:gridCol w="19202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Operation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CAS (hash as key)</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Unsorted array</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BST / sorted</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Compute address</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Find an object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O(1) average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O(log 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Is it a duplicate?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O(1) after hashing</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 · k)</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O(k · log 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Insert new object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O(1) end / O(n) middle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O(log 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Verify integrity</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not possible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not possible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Show history (log)</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O(c)</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bl>
          </a:graphicData>
        </a:graphic>
      </p:graphicFrame>
      <p:sp>
        <p:nvSpPr>
          <p:cNvPr id="6" name="Text 3"/>
          <p:cNvSpPr txBox="1"/>
          <p:nvPr/>
        </p:nvSpPr>
        <p:spPr>
          <a:xfrm>
            <a:off x="457200" y="3611880"/>
            <a:ext cx="82296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n = number of objects,  k = file size in bytes,  c = number of commits</a:t>
            </a:r>
            <a:endParaRPr lang="en-US" sz="1100" dirty="0"/>
          </a:p>
        </p:txBody>
      </p:sp>
      <p:sp>
        <p:nvSpPr>
          <p:cNvPr id="7" name="Shape 4"/>
          <p:cNvSpPr/>
          <p:nvPr/>
        </p:nvSpPr>
        <p:spPr>
          <a:xfrm>
            <a:off x="457200" y="3931920"/>
            <a:ext cx="8229600" cy="685800"/>
          </a:xfrm>
          <a:prstGeom prst="roundRect">
            <a:avLst>
              <a:gd name="adj" fmla="val 10667"/>
            </a:avLst>
          </a:prstGeom>
          <a:solidFill>
            <a:srgbClr val="FFF3DC"/>
          </a:solidFill>
          <a:ln w="12700">
            <a:solidFill>
              <a:srgbClr val="FFF3DC"/>
            </a:solidFill>
            <a:prstDash val="solid"/>
          </a:ln>
        </p:spPr>
      </p:sp>
      <p:sp>
        <p:nvSpPr>
          <p:cNvPr id="8" name="Text 5"/>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250" b="1" dirty="0">
                <a:solidFill>
                  <a:srgbClr val="B26A00"/>
                </a:solidFill>
                <a:latin typeface="Calibri" pitchFamily="34" charset="0"/>
                <a:ea typeface="Calibri" pitchFamily="34" charset="-122"/>
                <a:cs typeface="Calibri" pitchFamily="34" charset="-120"/>
              </a:rPr>
              <a:t>Key insight: </a:t>
            </a:r>
            <a:pPr indent="0" marL="0">
              <a:buNone/>
            </a:pPr>
            <a:r>
              <a:rPr lang="en-US" sz="1250" dirty="0">
                <a:solidFill>
                  <a:srgbClr val="1F2937"/>
                </a:solidFill>
                <a:latin typeface="Calibri" pitchFamily="34" charset="0"/>
                <a:ea typeface="Calibri" pitchFamily="34" charset="-122"/>
                <a:cs typeface="Calibri" pitchFamily="34" charset="-120"/>
              </a:rPr>
              <a:t>we pay O(k) once to hash the file; after that every question is O(1). Space grows with the number of changes, not with the number of versions, because unchanged files are reused.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RESEARCH NOTEBOOK · LIMITATIONS</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Limitations &amp; the Contemporary Approach</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2834640"/>
                <a:gridCol w="356616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happens</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industry handles it today</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r>
              <a:tr h="4572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Hash collision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SHA-1 collision was shown in 2017 (SHAttered)</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Git detects this attack (SHA-1DC) and supports SHA-256 since v2.29</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4572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Storage keeps growing</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Objects are never changed or deleted</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"git gc" deletes objects no commit can reach</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4572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Small edit = full copy</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A changed file gets a whole new blob</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Packfiles store only the differences (delta) + zlib compression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4572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Huge binary files</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Videos / datasets are too big to copy per version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Git LFS keeps the file elsewhere, stores only its hash</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4572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Names not readable</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557db03d… is hard for humans</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Branches and tags: readable names that point to hashes</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4572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Two writers at once</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Race when updating "latest commit"</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Objects are immutable; only refs need lock files</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NEXT STEPS · INDUSTRY RELEVANCE</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Connecting to Industry</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457200" y="1188720"/>
            <a:ext cx="2651760" cy="1600200"/>
          </a:xfrm>
          <a:prstGeom prst="roundRect">
            <a:avLst>
              <a:gd name="adj" fmla="val 4571"/>
            </a:avLst>
          </a:prstGeom>
          <a:solidFill>
            <a:srgbClr val="FFF3DC"/>
          </a:solidFill>
          <a:ln w="12700">
            <a:solidFill>
              <a:srgbClr val="FFF3DC"/>
            </a:solidFill>
            <a:prstDash val="solid"/>
          </a:ln>
        </p:spPr>
      </p:sp>
      <p:sp>
        <p:nvSpPr>
          <p:cNvPr id="6" name="Text 4"/>
          <p:cNvSpPr txBox="1"/>
          <p:nvPr/>
        </p:nvSpPr>
        <p:spPr>
          <a:xfrm>
            <a:off x="594360" y="1280160"/>
            <a:ext cx="2377440" cy="32004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Git · GitHub · GitLab</a:t>
            </a:r>
            <a:endParaRPr lang="en-US" sz="1350" dirty="0"/>
          </a:p>
        </p:txBody>
      </p:sp>
      <p:sp>
        <p:nvSpPr>
          <p:cNvPr id="7" name="Text 5"/>
          <p:cNvSpPr txBox="1"/>
          <p:nvPr/>
        </p:nvSpPr>
        <p:spPr>
          <a:xfrm>
            <a:off x="594360" y="1618488"/>
            <a:ext cx="23774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Every file, folder and commit is an object named by its hash.</a:t>
            </a:r>
            <a:endParaRPr lang="en-US" sz="1150" dirty="0"/>
          </a:p>
        </p:txBody>
      </p:sp>
      <p:sp>
        <p:nvSpPr>
          <p:cNvPr id="8" name="Text 6"/>
          <p:cNvSpPr txBox="1"/>
          <p:nvPr/>
        </p:nvSpPr>
        <p:spPr>
          <a:xfrm>
            <a:off x="594360" y="2167128"/>
            <a:ext cx="2377440" cy="566928"/>
          </a:xfrm>
          <a:prstGeom prst="rect">
            <a:avLst/>
          </a:prstGeom>
          <a:noFill/>
          <a:ln/>
        </p:spPr>
        <p:txBody>
          <a:bodyPr wrap="square" lIns="0" tIns="0" rIns="0" bIns="0" rtlCol="0" anchor="t"/>
          <a:lstStyle/>
          <a:p>
            <a:pPr indent="0" marL="0">
              <a:buNone/>
            </a:pPr>
            <a:r>
              <a:rPr lang="en-US" sz="1150" b="1" dirty="0">
                <a:solidFill>
                  <a:srgbClr val="2A9D8F"/>
                </a:solidFill>
                <a:latin typeface="Calibri" pitchFamily="34" charset="0"/>
                <a:ea typeface="Calibri" pitchFamily="34" charset="-122"/>
                <a:cs typeface="Calibri" pitchFamily="34" charset="-120"/>
              </a:rPr>
              <a:t>Why: </a:t>
            </a:r>
            <a:pPr indent="0" marL="0">
              <a:buNone/>
            </a:pPr>
            <a:r>
              <a:rPr lang="en-US" sz="1150" dirty="0">
                <a:solidFill>
                  <a:srgbClr val="1F2937"/>
                </a:solidFill>
                <a:latin typeface="Calibri" pitchFamily="34" charset="0"/>
                <a:ea typeface="Calibri" pitchFamily="34" charset="-122"/>
                <a:cs typeface="Calibri" pitchFamily="34" charset="-120"/>
              </a:rPr>
              <a:t>Cheap history + tamper detection for millions of repos.</a:t>
            </a:r>
            <a:endParaRPr lang="en-US" sz="1150" dirty="0"/>
          </a:p>
        </p:txBody>
      </p:sp>
      <p:sp>
        <p:nvSpPr>
          <p:cNvPr id="9" name="Shape 7"/>
          <p:cNvSpPr/>
          <p:nvPr/>
        </p:nvSpPr>
        <p:spPr>
          <a:xfrm>
            <a:off x="3264408" y="1188720"/>
            <a:ext cx="2651760" cy="1600200"/>
          </a:xfrm>
          <a:prstGeom prst="roundRect">
            <a:avLst>
              <a:gd name="adj" fmla="val 4571"/>
            </a:avLst>
          </a:prstGeom>
          <a:solidFill>
            <a:srgbClr val="EEF2F7"/>
          </a:solidFill>
          <a:ln w="12700">
            <a:solidFill>
              <a:srgbClr val="EEF2F7"/>
            </a:solidFill>
            <a:prstDash val="solid"/>
          </a:ln>
        </p:spPr>
      </p:sp>
      <p:sp>
        <p:nvSpPr>
          <p:cNvPr id="10" name="Text 8"/>
          <p:cNvSpPr txBox="1"/>
          <p:nvPr/>
        </p:nvSpPr>
        <p:spPr>
          <a:xfrm>
            <a:off x="3401568" y="1280160"/>
            <a:ext cx="2377440" cy="32004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Docker / container registries</a:t>
            </a:r>
            <a:endParaRPr lang="en-US" sz="1350" dirty="0"/>
          </a:p>
        </p:txBody>
      </p:sp>
      <p:sp>
        <p:nvSpPr>
          <p:cNvPr id="11" name="Text 9"/>
          <p:cNvSpPr txBox="1"/>
          <p:nvPr/>
        </p:nvSpPr>
        <p:spPr>
          <a:xfrm>
            <a:off x="3401568" y="1618488"/>
            <a:ext cx="23774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Image layers are named by their sha256 digest.</a:t>
            </a:r>
            <a:endParaRPr lang="en-US" sz="1150" dirty="0"/>
          </a:p>
        </p:txBody>
      </p:sp>
      <p:sp>
        <p:nvSpPr>
          <p:cNvPr id="12" name="Text 10"/>
          <p:cNvSpPr txBox="1"/>
          <p:nvPr/>
        </p:nvSpPr>
        <p:spPr>
          <a:xfrm>
            <a:off x="3401568" y="2167128"/>
            <a:ext cx="2377440" cy="566928"/>
          </a:xfrm>
          <a:prstGeom prst="rect">
            <a:avLst/>
          </a:prstGeom>
          <a:noFill/>
          <a:ln/>
        </p:spPr>
        <p:txBody>
          <a:bodyPr wrap="square" lIns="0" tIns="0" rIns="0" bIns="0" rtlCol="0" anchor="t"/>
          <a:lstStyle/>
          <a:p>
            <a:pPr indent="0" marL="0">
              <a:buNone/>
            </a:pPr>
            <a:r>
              <a:rPr lang="en-US" sz="1150" b="1" dirty="0">
                <a:solidFill>
                  <a:srgbClr val="2A9D8F"/>
                </a:solidFill>
                <a:latin typeface="Calibri" pitchFamily="34" charset="0"/>
                <a:ea typeface="Calibri" pitchFamily="34" charset="-122"/>
                <a:cs typeface="Calibri" pitchFamily="34" charset="-120"/>
              </a:rPr>
              <a:t>Why: </a:t>
            </a:r>
            <a:pPr indent="0" marL="0">
              <a:buNone/>
            </a:pPr>
            <a:r>
              <a:rPr lang="en-US" sz="1150" dirty="0">
                <a:solidFill>
                  <a:srgbClr val="1F2937"/>
                </a:solidFill>
                <a:latin typeface="Calibri" pitchFamily="34" charset="0"/>
                <a:ea typeface="Calibri" pitchFamily="34" charset="-122"/>
                <a:cs typeface="Calibri" pitchFamily="34" charset="-120"/>
              </a:rPr>
              <a:t>A shared base layer is downloaded and stored only once.</a:t>
            </a:r>
            <a:endParaRPr lang="en-US" sz="1150" dirty="0"/>
          </a:p>
        </p:txBody>
      </p:sp>
      <p:sp>
        <p:nvSpPr>
          <p:cNvPr id="13" name="Shape 11"/>
          <p:cNvSpPr/>
          <p:nvPr/>
        </p:nvSpPr>
        <p:spPr>
          <a:xfrm>
            <a:off x="6071616" y="1188720"/>
            <a:ext cx="2651760" cy="1600200"/>
          </a:xfrm>
          <a:prstGeom prst="roundRect">
            <a:avLst>
              <a:gd name="adj" fmla="val 4571"/>
            </a:avLst>
          </a:prstGeom>
          <a:solidFill>
            <a:srgbClr val="FFF3DC"/>
          </a:solidFill>
          <a:ln w="12700">
            <a:solidFill>
              <a:srgbClr val="FFF3DC"/>
            </a:solidFill>
            <a:prstDash val="solid"/>
          </a:ln>
        </p:spPr>
      </p:sp>
      <p:sp>
        <p:nvSpPr>
          <p:cNvPr id="14" name="Text 12"/>
          <p:cNvSpPr txBox="1"/>
          <p:nvPr/>
        </p:nvSpPr>
        <p:spPr>
          <a:xfrm>
            <a:off x="6208776" y="1280160"/>
            <a:ext cx="2377440" cy="32004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IPFS</a:t>
            </a:r>
            <a:endParaRPr lang="en-US" sz="1350" dirty="0"/>
          </a:p>
        </p:txBody>
      </p:sp>
      <p:sp>
        <p:nvSpPr>
          <p:cNvPr id="15" name="Text 13"/>
          <p:cNvSpPr txBox="1"/>
          <p:nvPr/>
        </p:nvSpPr>
        <p:spPr>
          <a:xfrm>
            <a:off x="6208776" y="1618488"/>
            <a:ext cx="23774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Files are found by content ID (a hash), not by server URL.</a:t>
            </a:r>
            <a:endParaRPr lang="en-US" sz="1150" dirty="0"/>
          </a:p>
        </p:txBody>
      </p:sp>
      <p:sp>
        <p:nvSpPr>
          <p:cNvPr id="16" name="Text 14"/>
          <p:cNvSpPr txBox="1"/>
          <p:nvPr/>
        </p:nvSpPr>
        <p:spPr>
          <a:xfrm>
            <a:off x="6208776" y="2167128"/>
            <a:ext cx="2377440" cy="566928"/>
          </a:xfrm>
          <a:prstGeom prst="rect">
            <a:avLst/>
          </a:prstGeom>
          <a:noFill/>
          <a:ln/>
        </p:spPr>
        <p:txBody>
          <a:bodyPr wrap="square" lIns="0" tIns="0" rIns="0" bIns="0" rtlCol="0" anchor="t"/>
          <a:lstStyle/>
          <a:p>
            <a:pPr indent="0" marL="0">
              <a:buNone/>
            </a:pPr>
            <a:r>
              <a:rPr lang="en-US" sz="1150" b="1" dirty="0">
                <a:solidFill>
                  <a:srgbClr val="2A9D8F"/>
                </a:solidFill>
                <a:latin typeface="Calibri" pitchFamily="34" charset="0"/>
                <a:ea typeface="Calibri" pitchFamily="34" charset="-122"/>
                <a:cs typeface="Calibri" pitchFamily="34" charset="-120"/>
              </a:rPr>
              <a:t>Why: </a:t>
            </a:r>
            <a:pPr indent="0" marL="0">
              <a:buNone/>
            </a:pPr>
            <a:r>
              <a:rPr lang="en-US" sz="1150" dirty="0">
                <a:solidFill>
                  <a:srgbClr val="1F2937"/>
                </a:solidFill>
                <a:latin typeface="Calibri" pitchFamily="34" charset="0"/>
                <a:ea typeface="Calibri" pitchFamily="34" charset="-122"/>
                <a:cs typeface="Calibri" pitchFamily="34" charset="-120"/>
              </a:rPr>
              <a:t>Any computer can serve the file; you verify it yourself.</a:t>
            </a:r>
            <a:endParaRPr lang="en-US" sz="1150" dirty="0"/>
          </a:p>
        </p:txBody>
      </p:sp>
      <p:sp>
        <p:nvSpPr>
          <p:cNvPr id="17" name="Shape 15"/>
          <p:cNvSpPr/>
          <p:nvPr/>
        </p:nvSpPr>
        <p:spPr>
          <a:xfrm>
            <a:off x="457200" y="2926080"/>
            <a:ext cx="2651760" cy="1600200"/>
          </a:xfrm>
          <a:prstGeom prst="roundRect">
            <a:avLst>
              <a:gd name="adj" fmla="val 4571"/>
            </a:avLst>
          </a:prstGeom>
          <a:solidFill>
            <a:srgbClr val="EEF2F7"/>
          </a:solidFill>
          <a:ln w="12700">
            <a:solidFill>
              <a:srgbClr val="EEF2F7"/>
            </a:solidFill>
            <a:prstDash val="solid"/>
          </a:ln>
        </p:spPr>
      </p:sp>
      <p:sp>
        <p:nvSpPr>
          <p:cNvPr id="18" name="Text 16"/>
          <p:cNvSpPr txBox="1"/>
          <p:nvPr/>
        </p:nvSpPr>
        <p:spPr>
          <a:xfrm>
            <a:off x="594360" y="3017520"/>
            <a:ext cx="2377440" cy="32004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Backup: restic, BorgBackup</a:t>
            </a:r>
            <a:endParaRPr lang="en-US" sz="1350" dirty="0"/>
          </a:p>
        </p:txBody>
      </p:sp>
      <p:sp>
        <p:nvSpPr>
          <p:cNvPr id="19" name="Text 17"/>
          <p:cNvSpPr txBox="1"/>
          <p:nvPr/>
        </p:nvSpPr>
        <p:spPr>
          <a:xfrm>
            <a:off x="594360" y="3355848"/>
            <a:ext cx="23774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Files are cut into chunks; chunk ID = hash.</a:t>
            </a:r>
            <a:endParaRPr lang="en-US" sz="1150" dirty="0"/>
          </a:p>
        </p:txBody>
      </p:sp>
      <p:sp>
        <p:nvSpPr>
          <p:cNvPr id="20" name="Text 18"/>
          <p:cNvSpPr txBox="1"/>
          <p:nvPr/>
        </p:nvSpPr>
        <p:spPr>
          <a:xfrm>
            <a:off x="594360" y="3904488"/>
            <a:ext cx="2377440" cy="566928"/>
          </a:xfrm>
          <a:prstGeom prst="rect">
            <a:avLst/>
          </a:prstGeom>
          <a:noFill/>
          <a:ln/>
        </p:spPr>
        <p:txBody>
          <a:bodyPr wrap="square" lIns="0" tIns="0" rIns="0" bIns="0" rtlCol="0" anchor="t"/>
          <a:lstStyle/>
          <a:p>
            <a:pPr indent="0" marL="0">
              <a:buNone/>
            </a:pPr>
            <a:r>
              <a:rPr lang="en-US" sz="1150" b="1" dirty="0">
                <a:solidFill>
                  <a:srgbClr val="2A9D8F"/>
                </a:solidFill>
                <a:latin typeface="Calibri" pitchFamily="34" charset="0"/>
                <a:ea typeface="Calibri" pitchFamily="34" charset="-122"/>
                <a:cs typeface="Calibri" pitchFamily="34" charset="-120"/>
              </a:rPr>
              <a:t>Why: </a:t>
            </a:r>
            <a:pPr indent="0" marL="0">
              <a:buNone/>
            </a:pPr>
            <a:r>
              <a:rPr lang="en-US" sz="1150" dirty="0">
                <a:solidFill>
                  <a:srgbClr val="1F2937"/>
                </a:solidFill>
                <a:latin typeface="Calibri" pitchFamily="34" charset="0"/>
                <a:ea typeface="Calibri" pitchFamily="34" charset="-122"/>
                <a:cs typeface="Calibri" pitchFamily="34" charset="-120"/>
              </a:rPr>
              <a:t>A daily backup stores only the new chunks.</a:t>
            </a:r>
            <a:endParaRPr lang="en-US" sz="1150" dirty="0"/>
          </a:p>
        </p:txBody>
      </p:sp>
      <p:sp>
        <p:nvSpPr>
          <p:cNvPr id="21" name="Shape 19"/>
          <p:cNvSpPr/>
          <p:nvPr/>
        </p:nvSpPr>
        <p:spPr>
          <a:xfrm>
            <a:off x="3264408" y="2926080"/>
            <a:ext cx="2651760" cy="1600200"/>
          </a:xfrm>
          <a:prstGeom prst="roundRect">
            <a:avLst>
              <a:gd name="adj" fmla="val 4571"/>
            </a:avLst>
          </a:prstGeom>
          <a:solidFill>
            <a:srgbClr val="FFF3DC"/>
          </a:solidFill>
          <a:ln w="12700">
            <a:solidFill>
              <a:srgbClr val="FFF3DC"/>
            </a:solidFill>
            <a:prstDash val="solid"/>
          </a:ln>
        </p:spPr>
      </p:sp>
      <p:sp>
        <p:nvSpPr>
          <p:cNvPr id="22" name="Text 20"/>
          <p:cNvSpPr txBox="1"/>
          <p:nvPr/>
        </p:nvSpPr>
        <p:spPr>
          <a:xfrm>
            <a:off x="3401568" y="3017520"/>
            <a:ext cx="2377440" cy="32004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Bitcoin / blockchain</a:t>
            </a:r>
            <a:endParaRPr lang="en-US" sz="1350" dirty="0"/>
          </a:p>
        </p:txBody>
      </p:sp>
      <p:sp>
        <p:nvSpPr>
          <p:cNvPr id="23" name="Text 21"/>
          <p:cNvSpPr txBox="1"/>
          <p:nvPr/>
        </p:nvSpPr>
        <p:spPr>
          <a:xfrm>
            <a:off x="3401568" y="3355848"/>
            <a:ext cx="23774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Blocks are linked by hash; transactions sit in a Merkle tree.</a:t>
            </a:r>
            <a:endParaRPr lang="en-US" sz="1150" dirty="0"/>
          </a:p>
        </p:txBody>
      </p:sp>
      <p:sp>
        <p:nvSpPr>
          <p:cNvPr id="24" name="Text 22"/>
          <p:cNvSpPr txBox="1"/>
          <p:nvPr/>
        </p:nvSpPr>
        <p:spPr>
          <a:xfrm>
            <a:off x="3401568" y="3904488"/>
            <a:ext cx="2377440" cy="566928"/>
          </a:xfrm>
          <a:prstGeom prst="rect">
            <a:avLst/>
          </a:prstGeom>
          <a:noFill/>
          <a:ln/>
        </p:spPr>
        <p:txBody>
          <a:bodyPr wrap="square" lIns="0" tIns="0" rIns="0" bIns="0" rtlCol="0" anchor="t"/>
          <a:lstStyle/>
          <a:p>
            <a:pPr indent="0" marL="0">
              <a:buNone/>
            </a:pPr>
            <a:r>
              <a:rPr lang="en-US" sz="1150" b="1" dirty="0">
                <a:solidFill>
                  <a:srgbClr val="2A9D8F"/>
                </a:solidFill>
                <a:latin typeface="Calibri" pitchFamily="34" charset="0"/>
                <a:ea typeface="Calibri" pitchFamily="34" charset="-122"/>
                <a:cs typeface="Calibri" pitchFamily="34" charset="-120"/>
              </a:rPr>
              <a:t>Why: </a:t>
            </a:r>
            <a:pPr indent="0" marL="0">
              <a:buNone/>
            </a:pPr>
            <a:r>
              <a:rPr lang="en-US" sz="1150" dirty="0">
                <a:solidFill>
                  <a:srgbClr val="1F2937"/>
                </a:solidFill>
                <a:latin typeface="Calibri" pitchFamily="34" charset="0"/>
                <a:ea typeface="Calibri" pitchFamily="34" charset="-122"/>
                <a:cs typeface="Calibri" pitchFamily="34" charset="-120"/>
              </a:rPr>
              <a:t>Changing old data breaks every later hash.</a:t>
            </a:r>
            <a:endParaRPr lang="en-US" sz="1150" dirty="0"/>
          </a:p>
        </p:txBody>
      </p:sp>
      <p:sp>
        <p:nvSpPr>
          <p:cNvPr id="25" name="Shape 23"/>
          <p:cNvSpPr/>
          <p:nvPr/>
        </p:nvSpPr>
        <p:spPr>
          <a:xfrm>
            <a:off x="6071616" y="2926080"/>
            <a:ext cx="2651760" cy="1600200"/>
          </a:xfrm>
          <a:prstGeom prst="roundRect">
            <a:avLst>
              <a:gd name="adj" fmla="val 4571"/>
            </a:avLst>
          </a:prstGeom>
          <a:solidFill>
            <a:srgbClr val="EEF2F7"/>
          </a:solidFill>
          <a:ln w="12700">
            <a:solidFill>
              <a:srgbClr val="EEF2F7"/>
            </a:solidFill>
            <a:prstDash val="solid"/>
          </a:ln>
        </p:spPr>
      </p:sp>
      <p:sp>
        <p:nvSpPr>
          <p:cNvPr id="26" name="Text 24"/>
          <p:cNvSpPr txBox="1"/>
          <p:nvPr/>
        </p:nvSpPr>
        <p:spPr>
          <a:xfrm>
            <a:off x="6208776" y="3017520"/>
            <a:ext cx="2377440" cy="32004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pnpm (JavaScript packages)</a:t>
            </a:r>
            <a:endParaRPr lang="en-US" sz="1350" dirty="0"/>
          </a:p>
        </p:txBody>
      </p:sp>
      <p:sp>
        <p:nvSpPr>
          <p:cNvPr id="27" name="Text 25"/>
          <p:cNvSpPr txBox="1"/>
          <p:nvPr/>
        </p:nvSpPr>
        <p:spPr>
          <a:xfrm>
            <a:off x="6208776" y="3355848"/>
            <a:ext cx="23774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Uses a content-addressable store on disk.</a:t>
            </a:r>
            <a:endParaRPr lang="en-US" sz="1150" dirty="0"/>
          </a:p>
        </p:txBody>
      </p:sp>
      <p:sp>
        <p:nvSpPr>
          <p:cNvPr id="28" name="Text 26"/>
          <p:cNvSpPr txBox="1"/>
          <p:nvPr/>
        </p:nvSpPr>
        <p:spPr>
          <a:xfrm>
            <a:off x="6208776" y="3904488"/>
            <a:ext cx="2377440" cy="566928"/>
          </a:xfrm>
          <a:prstGeom prst="rect">
            <a:avLst/>
          </a:prstGeom>
          <a:noFill/>
          <a:ln/>
        </p:spPr>
        <p:txBody>
          <a:bodyPr wrap="square" lIns="0" tIns="0" rIns="0" bIns="0" rtlCol="0" anchor="t"/>
          <a:lstStyle/>
          <a:p>
            <a:pPr indent="0" marL="0">
              <a:buNone/>
            </a:pPr>
            <a:r>
              <a:rPr lang="en-US" sz="1150" b="1" dirty="0">
                <a:solidFill>
                  <a:srgbClr val="2A9D8F"/>
                </a:solidFill>
                <a:latin typeface="Calibri" pitchFamily="34" charset="0"/>
                <a:ea typeface="Calibri" pitchFamily="34" charset="-122"/>
                <a:cs typeface="Calibri" pitchFamily="34" charset="-120"/>
              </a:rPr>
              <a:t>Why: </a:t>
            </a:r>
            <a:pPr indent="0" marL="0">
              <a:buNone/>
            </a:pPr>
            <a:r>
              <a:rPr lang="en-US" sz="1150" dirty="0">
                <a:solidFill>
                  <a:srgbClr val="1F2937"/>
                </a:solidFill>
                <a:latin typeface="Calibri" pitchFamily="34" charset="0"/>
                <a:ea typeface="Calibri" pitchFamily="34" charset="-122"/>
                <a:cs typeface="Calibri" pitchFamily="34" charset="-120"/>
              </a:rPr>
              <a:t>The same package is shared by all projects, saving disk.</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NEXT STEPS · COMPARE ALTERNATIVES</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Comparing the Alternatives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gridCol w="1188720"/>
                <a:gridCol w="1463040"/>
                <a:gridCol w="1463040"/>
                <a:gridCol w="14630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structure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Find item</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 duplicates</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Detects corruption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Keeps history</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Array of files</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Manual</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Linked list</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Manual</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BST / B-tree index</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O(log n)</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Only if key checked</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Manual</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Hash table keyed by file name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Overwrites old</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Hash table keyed by content hash (CAS)</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200" b="1" dirty="0">
                          <a:solidFill>
                            <a:srgbClr val="2A9D8F"/>
                          </a:solidFill>
                          <a:latin typeface="Calibri" pitchFamily="34" charset="0"/>
                          <a:ea typeface="Calibri" pitchFamily="34" charset="-122"/>
                          <a:cs typeface="Calibri" pitchFamily="34" charset="-120"/>
                        </a:rPr>
                        <a:t>Yes (immutable)</a:t>
                      </a:r>
                      <a:endParaRPr lang="en-US" sz="120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r>
            </a:tbl>
          </a:graphicData>
        </a:graphic>
      </p:graphicFrame>
      <p:sp>
        <p:nvSpPr>
          <p:cNvPr id="6" name="Shape 3"/>
          <p:cNvSpPr/>
          <p:nvPr/>
        </p:nvSpPr>
        <p:spPr>
          <a:xfrm>
            <a:off x="457200" y="3749040"/>
            <a:ext cx="8229600" cy="868680"/>
          </a:xfrm>
          <a:prstGeom prst="roundRect">
            <a:avLst>
              <a:gd name="adj" fmla="val 8421"/>
            </a:avLst>
          </a:prstGeom>
          <a:solidFill>
            <a:srgbClr val="FFF3DC"/>
          </a:solidFill>
          <a:ln w="12700">
            <a:solidFill>
              <a:srgbClr val="FFF3DC"/>
            </a:solidFill>
            <a:prstDash val="solid"/>
          </a:ln>
        </p:spPr>
      </p:sp>
      <p:sp>
        <p:nvSpPr>
          <p:cNvPr id="7" name="Text 4"/>
          <p:cNvSpPr txBox="1"/>
          <p:nvPr/>
        </p:nvSpPr>
        <p:spPr>
          <a:xfrm>
            <a:off x="640080" y="3749040"/>
            <a:ext cx="7863840" cy="868680"/>
          </a:xfrm>
          <a:prstGeom prst="rect">
            <a:avLst/>
          </a:prstGeom>
          <a:noFill/>
          <a:ln/>
        </p:spPr>
        <p:txBody>
          <a:bodyPr wrap="square" lIns="0" tIns="0" rIns="0" bIns="0" rtlCol="0" anchor="ctr"/>
          <a:lstStyle/>
          <a:p>
            <a:pPr indent="0" marL="0">
              <a:buNone/>
            </a:pPr>
            <a:r>
              <a:rPr lang="en-US" sz="1250" b="1" dirty="0">
                <a:solidFill>
                  <a:srgbClr val="B26A00"/>
                </a:solidFill>
                <a:latin typeface="Calibri" pitchFamily="34" charset="0"/>
                <a:ea typeface="Calibri" pitchFamily="34" charset="-122"/>
                <a:cs typeface="Calibri" pitchFamily="34" charset="-120"/>
              </a:rPr>
              <a:t>When NOT to use CAS: </a:t>
            </a:r>
            <a:pPr indent="0" marL="0">
              <a:buNone/>
            </a:pPr>
            <a:r>
              <a:rPr lang="en-US" sz="1250" dirty="0">
                <a:solidFill>
                  <a:srgbClr val="1F2937"/>
                </a:solidFill>
                <a:latin typeface="Calibri" pitchFamily="34" charset="0"/>
                <a:ea typeface="Calibri" pitchFamily="34" charset="-122"/>
                <a:cs typeface="Calibri" pitchFamily="34" charset="-120"/>
              </a:rPr>
              <a:t>data that is edited in place many times per second (for example a bank balance). There, a normal database with a B-tree is better. CAS is best for data that is written once and read many times.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NEXT STEPS · ORIGINAL FIGURE</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Original Figure: What Happens When One File Changes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5" name="Text 3"/>
          <p:cNvSpPr txBox="1"/>
          <p:nvPr/>
        </p:nvSpPr>
        <p:spPr>
          <a:xfrm>
            <a:off x="822960" y="1097280"/>
            <a:ext cx="1828800" cy="22860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Version 1</a:t>
            </a:r>
            <a:endParaRPr lang="en-US" sz="1100" dirty="0"/>
          </a:p>
        </p:txBody>
      </p:sp>
      <p:sp>
        <p:nvSpPr>
          <p:cNvPr id="6" name="Text 4"/>
          <p:cNvSpPr txBox="1"/>
          <p:nvPr/>
        </p:nvSpPr>
        <p:spPr>
          <a:xfrm>
            <a:off x="4297680" y="1097280"/>
            <a:ext cx="2377440" cy="22860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Version 2 (main.c edited)</a:t>
            </a:r>
            <a:endParaRPr lang="en-US" sz="1100" dirty="0"/>
          </a:p>
        </p:txBody>
      </p:sp>
      <p:sp>
        <p:nvSpPr>
          <p:cNvPr id="7" name="Shape 5"/>
          <p:cNvSpPr/>
          <p:nvPr/>
        </p:nvSpPr>
        <p:spPr>
          <a:xfrm>
            <a:off x="822960" y="1371600"/>
            <a:ext cx="1828800" cy="566928"/>
          </a:xfrm>
          <a:prstGeom prst="roundRect">
            <a:avLst>
              <a:gd name="adj" fmla="val 12903"/>
            </a:avLst>
          </a:prstGeom>
          <a:solidFill>
            <a:srgbClr val="14213D"/>
          </a:solidFill>
          <a:ln w="12700">
            <a:solidFill>
              <a:srgbClr val="14213D"/>
            </a:solidFill>
            <a:prstDash val="solid"/>
          </a:ln>
        </p:spPr>
      </p:sp>
      <p:sp>
        <p:nvSpPr>
          <p:cNvPr id="8" name="Text 6"/>
          <p:cNvSpPr txBox="1"/>
          <p:nvPr/>
        </p:nvSpPr>
        <p:spPr>
          <a:xfrm>
            <a:off x="822960" y="1408176"/>
            <a:ext cx="182880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Commit C1</a:t>
            </a:r>
            <a:endParaRPr lang="en-US" sz="1250" dirty="0"/>
          </a:p>
        </p:txBody>
      </p:sp>
      <p:sp>
        <p:nvSpPr>
          <p:cNvPr id="9" name="Text 7"/>
          <p:cNvSpPr txBox="1"/>
          <p:nvPr/>
        </p:nvSpPr>
        <p:spPr>
          <a:xfrm>
            <a:off x="822960" y="1664208"/>
            <a:ext cx="1828800" cy="237744"/>
          </a:xfrm>
          <a:prstGeom prst="rect">
            <a:avLst/>
          </a:prstGeom>
          <a:noFill/>
          <a:ln/>
        </p:spPr>
        <p:txBody>
          <a:bodyPr wrap="square" lIns="0" tIns="0" rIns="0" bIns="0" rtlCol="0" anchor="ctr"/>
          <a:lstStyle/>
          <a:p>
            <a:pPr algn="ctr" indent="0" marL="0">
              <a:buNone/>
            </a:pPr>
            <a:r>
              <a:rPr lang="en-US" sz="950" dirty="0">
                <a:solidFill>
                  <a:srgbClr val="FCA311"/>
                </a:solidFill>
                <a:latin typeface="Courier New" pitchFamily="34" charset="0"/>
                <a:ea typeface="Courier New" pitchFamily="34" charset="-122"/>
                <a:cs typeface="Courier New" pitchFamily="34" charset="-120"/>
              </a:rPr>
              <a:t>a1f3…</a:t>
            </a:r>
            <a:endParaRPr lang="en-US" sz="950" dirty="0"/>
          </a:p>
        </p:txBody>
      </p:sp>
      <p:sp>
        <p:nvSpPr>
          <p:cNvPr id="10" name="Shape 8"/>
          <p:cNvSpPr/>
          <p:nvPr/>
        </p:nvSpPr>
        <p:spPr>
          <a:xfrm>
            <a:off x="4572000" y="1371600"/>
            <a:ext cx="1828800" cy="566928"/>
          </a:xfrm>
          <a:prstGeom prst="roundRect">
            <a:avLst>
              <a:gd name="adj" fmla="val 12903"/>
            </a:avLst>
          </a:prstGeom>
          <a:solidFill>
            <a:srgbClr val="14213D"/>
          </a:solidFill>
          <a:ln w="12700">
            <a:solidFill>
              <a:srgbClr val="14213D"/>
            </a:solidFill>
            <a:prstDash val="solid"/>
          </a:ln>
        </p:spPr>
      </p:sp>
      <p:sp>
        <p:nvSpPr>
          <p:cNvPr id="11" name="Text 9"/>
          <p:cNvSpPr txBox="1"/>
          <p:nvPr/>
        </p:nvSpPr>
        <p:spPr>
          <a:xfrm>
            <a:off x="4572000" y="1408176"/>
            <a:ext cx="182880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Commit C2</a:t>
            </a:r>
            <a:endParaRPr lang="en-US" sz="1250" dirty="0"/>
          </a:p>
        </p:txBody>
      </p:sp>
      <p:sp>
        <p:nvSpPr>
          <p:cNvPr id="12" name="Text 10"/>
          <p:cNvSpPr txBox="1"/>
          <p:nvPr/>
        </p:nvSpPr>
        <p:spPr>
          <a:xfrm>
            <a:off x="4572000" y="1664208"/>
            <a:ext cx="1828800" cy="237744"/>
          </a:xfrm>
          <a:prstGeom prst="rect">
            <a:avLst/>
          </a:prstGeom>
          <a:noFill/>
          <a:ln/>
        </p:spPr>
        <p:txBody>
          <a:bodyPr wrap="square" lIns="0" tIns="0" rIns="0" bIns="0" rtlCol="0" anchor="ctr"/>
          <a:lstStyle/>
          <a:p>
            <a:pPr algn="ctr" indent="0" marL="0">
              <a:buNone/>
            </a:pPr>
            <a:r>
              <a:rPr lang="en-US" sz="950" dirty="0">
                <a:solidFill>
                  <a:srgbClr val="FCA311"/>
                </a:solidFill>
                <a:latin typeface="Courier New" pitchFamily="34" charset="0"/>
                <a:ea typeface="Courier New" pitchFamily="34" charset="-122"/>
                <a:cs typeface="Courier New" pitchFamily="34" charset="-120"/>
              </a:rPr>
              <a:t>c7e2…</a:t>
            </a:r>
            <a:endParaRPr lang="en-US" sz="950" dirty="0"/>
          </a:p>
        </p:txBody>
      </p:sp>
      <p:sp>
        <p:nvSpPr>
          <p:cNvPr id="13" name="Shape 11"/>
          <p:cNvSpPr/>
          <p:nvPr/>
        </p:nvSpPr>
        <p:spPr>
          <a:xfrm flipH="1">
            <a:off x="2697480" y="1655064"/>
            <a:ext cx="1828800" cy="0"/>
          </a:xfrm>
          <a:prstGeom prst="line">
            <a:avLst/>
          </a:prstGeom>
          <a:noFill/>
          <a:ln w="19050">
            <a:solidFill>
              <a:srgbClr val="5B6472"/>
            </a:solidFill>
            <a:prstDash val="solid"/>
            <a:tailEnd type="triangle"/>
          </a:ln>
        </p:spPr>
      </p:sp>
      <p:sp>
        <p:nvSpPr>
          <p:cNvPr id="14" name="Text 12"/>
          <p:cNvSpPr txBox="1"/>
          <p:nvPr/>
        </p:nvSpPr>
        <p:spPr>
          <a:xfrm>
            <a:off x="3154680" y="1389888"/>
            <a:ext cx="914400" cy="22860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parent</a:t>
            </a:r>
            <a:endParaRPr lang="en-US" sz="1000" dirty="0"/>
          </a:p>
        </p:txBody>
      </p:sp>
      <p:sp>
        <p:nvSpPr>
          <p:cNvPr id="15" name="Shape 13"/>
          <p:cNvSpPr/>
          <p:nvPr/>
        </p:nvSpPr>
        <p:spPr>
          <a:xfrm>
            <a:off x="822960" y="2331720"/>
            <a:ext cx="1828800" cy="566928"/>
          </a:xfrm>
          <a:prstGeom prst="roundRect">
            <a:avLst>
              <a:gd name="adj" fmla="val 12903"/>
            </a:avLst>
          </a:prstGeom>
          <a:solidFill>
            <a:srgbClr val="EEF2F7"/>
          </a:solidFill>
          <a:ln w="12700">
            <a:solidFill>
              <a:srgbClr val="EEF2F7"/>
            </a:solidFill>
            <a:prstDash val="solid"/>
          </a:ln>
        </p:spPr>
      </p:sp>
      <p:sp>
        <p:nvSpPr>
          <p:cNvPr id="16" name="Text 14"/>
          <p:cNvSpPr txBox="1"/>
          <p:nvPr/>
        </p:nvSpPr>
        <p:spPr>
          <a:xfrm>
            <a:off x="822960" y="2368296"/>
            <a:ext cx="182880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Tree T1</a:t>
            </a:r>
            <a:endParaRPr lang="en-US" sz="1250" dirty="0"/>
          </a:p>
        </p:txBody>
      </p:sp>
      <p:sp>
        <p:nvSpPr>
          <p:cNvPr id="17" name="Text 15"/>
          <p:cNvSpPr txBox="1"/>
          <p:nvPr/>
        </p:nvSpPr>
        <p:spPr>
          <a:xfrm>
            <a:off x="822960" y="2624328"/>
            <a:ext cx="182880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8f3a…</a:t>
            </a:r>
            <a:endParaRPr lang="en-US" sz="950" dirty="0"/>
          </a:p>
        </p:txBody>
      </p:sp>
      <p:sp>
        <p:nvSpPr>
          <p:cNvPr id="18" name="Shape 16"/>
          <p:cNvSpPr/>
          <p:nvPr/>
        </p:nvSpPr>
        <p:spPr>
          <a:xfrm>
            <a:off x="4572000" y="2331720"/>
            <a:ext cx="1828800" cy="566928"/>
          </a:xfrm>
          <a:prstGeom prst="roundRect">
            <a:avLst>
              <a:gd name="adj" fmla="val 12903"/>
            </a:avLst>
          </a:prstGeom>
          <a:solidFill>
            <a:srgbClr val="EEF2F7"/>
          </a:solidFill>
          <a:ln w="12700">
            <a:solidFill>
              <a:srgbClr val="EEF2F7"/>
            </a:solidFill>
            <a:prstDash val="solid"/>
          </a:ln>
        </p:spPr>
      </p:sp>
      <p:sp>
        <p:nvSpPr>
          <p:cNvPr id="19" name="Text 17"/>
          <p:cNvSpPr txBox="1"/>
          <p:nvPr/>
        </p:nvSpPr>
        <p:spPr>
          <a:xfrm>
            <a:off x="4572000" y="2368296"/>
            <a:ext cx="182880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Tree T2</a:t>
            </a:r>
            <a:endParaRPr lang="en-US" sz="1250" dirty="0"/>
          </a:p>
        </p:txBody>
      </p:sp>
      <p:sp>
        <p:nvSpPr>
          <p:cNvPr id="20" name="Text 18"/>
          <p:cNvSpPr txBox="1"/>
          <p:nvPr/>
        </p:nvSpPr>
        <p:spPr>
          <a:xfrm>
            <a:off x="4572000" y="2624328"/>
            <a:ext cx="182880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d91b…</a:t>
            </a:r>
            <a:endParaRPr lang="en-US" sz="950" dirty="0"/>
          </a:p>
        </p:txBody>
      </p:sp>
      <p:sp>
        <p:nvSpPr>
          <p:cNvPr id="21" name="Shape 19"/>
          <p:cNvSpPr/>
          <p:nvPr/>
        </p:nvSpPr>
        <p:spPr>
          <a:xfrm>
            <a:off x="1737360" y="1938528"/>
            <a:ext cx="0" cy="393192"/>
          </a:xfrm>
          <a:prstGeom prst="line">
            <a:avLst/>
          </a:prstGeom>
          <a:noFill/>
          <a:ln w="19050">
            <a:solidFill>
              <a:srgbClr val="5B6472"/>
            </a:solidFill>
            <a:prstDash val="solid"/>
            <a:tailEnd type="triangle"/>
          </a:ln>
        </p:spPr>
      </p:sp>
      <p:sp>
        <p:nvSpPr>
          <p:cNvPr id="22" name="Shape 20"/>
          <p:cNvSpPr/>
          <p:nvPr/>
        </p:nvSpPr>
        <p:spPr>
          <a:xfrm>
            <a:off x="5486400" y="1938528"/>
            <a:ext cx="0" cy="393192"/>
          </a:xfrm>
          <a:prstGeom prst="line">
            <a:avLst/>
          </a:prstGeom>
          <a:noFill/>
          <a:ln w="19050">
            <a:solidFill>
              <a:srgbClr val="5B6472"/>
            </a:solidFill>
            <a:prstDash val="solid"/>
            <a:tailEnd type="triangle"/>
          </a:ln>
        </p:spPr>
      </p:sp>
      <p:sp>
        <p:nvSpPr>
          <p:cNvPr id="23" name="Shape 21"/>
          <p:cNvSpPr/>
          <p:nvPr/>
        </p:nvSpPr>
        <p:spPr>
          <a:xfrm>
            <a:off x="274320" y="3429000"/>
            <a:ext cx="1554480" cy="566928"/>
          </a:xfrm>
          <a:prstGeom prst="roundRect">
            <a:avLst>
              <a:gd name="adj" fmla="val 12903"/>
            </a:avLst>
          </a:prstGeom>
          <a:solidFill>
            <a:srgbClr val="EEF2F7"/>
          </a:solidFill>
          <a:ln w="12700">
            <a:solidFill>
              <a:srgbClr val="EEF2F7"/>
            </a:solidFill>
            <a:prstDash val="solid"/>
          </a:ln>
        </p:spPr>
      </p:sp>
      <p:sp>
        <p:nvSpPr>
          <p:cNvPr id="24" name="Text 22"/>
          <p:cNvSpPr txBox="1"/>
          <p:nvPr/>
        </p:nvSpPr>
        <p:spPr>
          <a:xfrm>
            <a:off x="274320" y="3465576"/>
            <a:ext cx="155448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main.c</a:t>
            </a:r>
            <a:endParaRPr lang="en-US" sz="1250" dirty="0"/>
          </a:p>
        </p:txBody>
      </p:sp>
      <p:sp>
        <p:nvSpPr>
          <p:cNvPr id="25" name="Text 23"/>
          <p:cNvSpPr txBox="1"/>
          <p:nvPr/>
        </p:nvSpPr>
        <p:spPr>
          <a:xfrm>
            <a:off x="274320" y="3721608"/>
            <a:ext cx="155448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A</a:t>
            </a:r>
            <a:endParaRPr lang="en-US" sz="950" dirty="0"/>
          </a:p>
        </p:txBody>
      </p:sp>
      <p:sp>
        <p:nvSpPr>
          <p:cNvPr id="26" name="Shape 24"/>
          <p:cNvSpPr/>
          <p:nvPr/>
        </p:nvSpPr>
        <p:spPr>
          <a:xfrm>
            <a:off x="2651760" y="3429000"/>
            <a:ext cx="1737360" cy="566928"/>
          </a:xfrm>
          <a:prstGeom prst="roundRect">
            <a:avLst>
              <a:gd name="adj" fmla="val 12903"/>
            </a:avLst>
          </a:prstGeom>
          <a:solidFill>
            <a:srgbClr val="E3F4F1"/>
          </a:solidFill>
          <a:ln w="12700">
            <a:solidFill>
              <a:srgbClr val="E3F4F1"/>
            </a:solidFill>
            <a:prstDash val="solid"/>
          </a:ln>
        </p:spPr>
      </p:sp>
      <p:sp>
        <p:nvSpPr>
          <p:cNvPr id="27" name="Text 25"/>
          <p:cNvSpPr txBox="1"/>
          <p:nvPr/>
        </p:nvSpPr>
        <p:spPr>
          <a:xfrm>
            <a:off x="2651760" y="3465576"/>
            <a:ext cx="1737360" cy="274320"/>
          </a:xfrm>
          <a:prstGeom prst="rect">
            <a:avLst/>
          </a:prstGeom>
          <a:noFill/>
          <a:ln/>
        </p:spPr>
        <p:txBody>
          <a:bodyPr wrap="square" lIns="0" tIns="0" rIns="0" bIns="0" rtlCol="0" anchor="ctr"/>
          <a:lstStyle/>
          <a:p>
            <a:pPr algn="ctr" indent="0" marL="0">
              <a:buNone/>
            </a:pPr>
            <a:r>
              <a:rPr lang="en-US" sz="1250" b="1" dirty="0">
                <a:solidFill>
                  <a:srgbClr val="2A9D8F"/>
                </a:solidFill>
                <a:latin typeface="Calibri" pitchFamily="34" charset="0"/>
                <a:ea typeface="Calibri" pitchFamily="34" charset="-122"/>
                <a:cs typeface="Calibri" pitchFamily="34" charset="-120"/>
              </a:rPr>
              <a:t>README  ✓ reused</a:t>
            </a:r>
            <a:endParaRPr lang="en-US" sz="1250" dirty="0"/>
          </a:p>
        </p:txBody>
      </p:sp>
      <p:sp>
        <p:nvSpPr>
          <p:cNvPr id="28" name="Text 26"/>
          <p:cNvSpPr txBox="1"/>
          <p:nvPr/>
        </p:nvSpPr>
        <p:spPr>
          <a:xfrm>
            <a:off x="2651760" y="3721608"/>
            <a:ext cx="173736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B</a:t>
            </a:r>
            <a:endParaRPr lang="en-US" sz="950" dirty="0"/>
          </a:p>
        </p:txBody>
      </p:sp>
      <p:sp>
        <p:nvSpPr>
          <p:cNvPr id="29" name="Shape 27"/>
          <p:cNvSpPr/>
          <p:nvPr/>
        </p:nvSpPr>
        <p:spPr>
          <a:xfrm>
            <a:off x="5212080" y="3429000"/>
            <a:ext cx="1737360" cy="566928"/>
          </a:xfrm>
          <a:prstGeom prst="roundRect">
            <a:avLst>
              <a:gd name="adj" fmla="val 12903"/>
            </a:avLst>
          </a:prstGeom>
          <a:solidFill>
            <a:srgbClr val="FFF3DC"/>
          </a:solidFill>
          <a:ln w="12700">
            <a:solidFill>
              <a:srgbClr val="FFF3DC"/>
            </a:solidFill>
            <a:prstDash val="solid"/>
          </a:ln>
        </p:spPr>
      </p:sp>
      <p:sp>
        <p:nvSpPr>
          <p:cNvPr id="30" name="Text 28"/>
          <p:cNvSpPr txBox="1"/>
          <p:nvPr/>
        </p:nvSpPr>
        <p:spPr>
          <a:xfrm>
            <a:off x="5212080" y="3465576"/>
            <a:ext cx="1737360" cy="274320"/>
          </a:xfrm>
          <a:prstGeom prst="rect">
            <a:avLst/>
          </a:prstGeom>
          <a:noFill/>
          <a:ln/>
        </p:spPr>
        <p:txBody>
          <a:bodyPr wrap="square" lIns="0" tIns="0" rIns="0" bIns="0" rtlCol="0" anchor="ctr"/>
          <a:lstStyle/>
          <a:p>
            <a:pPr algn="ctr" indent="0" marL="0">
              <a:buNone/>
            </a:pPr>
            <a:r>
              <a:rPr lang="en-US" sz="1250" b="1" dirty="0">
                <a:solidFill>
                  <a:srgbClr val="B26A00"/>
                </a:solidFill>
                <a:latin typeface="Calibri" pitchFamily="34" charset="0"/>
                <a:ea typeface="Calibri" pitchFamily="34" charset="-122"/>
                <a:cs typeface="Calibri" pitchFamily="34" charset="-120"/>
              </a:rPr>
              <a:t>main.c  ★ new</a:t>
            </a:r>
            <a:endParaRPr lang="en-US" sz="1250" dirty="0"/>
          </a:p>
        </p:txBody>
      </p:sp>
      <p:sp>
        <p:nvSpPr>
          <p:cNvPr id="31" name="Text 29"/>
          <p:cNvSpPr txBox="1"/>
          <p:nvPr/>
        </p:nvSpPr>
        <p:spPr>
          <a:xfrm>
            <a:off x="5212080" y="3721608"/>
            <a:ext cx="173736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X</a:t>
            </a:r>
            <a:endParaRPr lang="en-US" sz="950" dirty="0"/>
          </a:p>
        </p:txBody>
      </p:sp>
      <p:sp>
        <p:nvSpPr>
          <p:cNvPr id="32" name="Shape 30"/>
          <p:cNvSpPr/>
          <p:nvPr/>
        </p:nvSpPr>
        <p:spPr>
          <a:xfrm flipH="1">
            <a:off x="1051560" y="2898648"/>
            <a:ext cx="685800" cy="530352"/>
          </a:xfrm>
          <a:prstGeom prst="line">
            <a:avLst/>
          </a:prstGeom>
          <a:noFill/>
          <a:ln w="19050">
            <a:solidFill>
              <a:srgbClr val="5B6472"/>
            </a:solidFill>
            <a:prstDash val="solid"/>
            <a:tailEnd type="triangle"/>
          </a:ln>
        </p:spPr>
      </p:sp>
      <p:sp>
        <p:nvSpPr>
          <p:cNvPr id="33" name="Shape 31"/>
          <p:cNvSpPr/>
          <p:nvPr/>
        </p:nvSpPr>
        <p:spPr>
          <a:xfrm>
            <a:off x="1737360" y="2898648"/>
            <a:ext cx="1737360" cy="530352"/>
          </a:xfrm>
          <a:prstGeom prst="line">
            <a:avLst/>
          </a:prstGeom>
          <a:noFill/>
          <a:ln w="19050">
            <a:solidFill>
              <a:srgbClr val="5B6472"/>
            </a:solidFill>
            <a:prstDash val="solid"/>
            <a:tailEnd type="triangle"/>
          </a:ln>
        </p:spPr>
      </p:sp>
      <p:sp>
        <p:nvSpPr>
          <p:cNvPr id="34" name="Shape 32"/>
          <p:cNvSpPr/>
          <p:nvPr/>
        </p:nvSpPr>
        <p:spPr>
          <a:xfrm flipH="1">
            <a:off x="3520440" y="2898648"/>
            <a:ext cx="1965960" cy="530352"/>
          </a:xfrm>
          <a:prstGeom prst="line">
            <a:avLst/>
          </a:prstGeom>
          <a:noFill/>
          <a:ln w="19050">
            <a:solidFill>
              <a:srgbClr val="5B6472"/>
            </a:solidFill>
            <a:prstDash val="solid"/>
            <a:tailEnd type="triangle"/>
          </a:ln>
        </p:spPr>
      </p:sp>
      <p:sp>
        <p:nvSpPr>
          <p:cNvPr id="35" name="Shape 33"/>
          <p:cNvSpPr/>
          <p:nvPr/>
        </p:nvSpPr>
        <p:spPr>
          <a:xfrm>
            <a:off x="5486400" y="2898648"/>
            <a:ext cx="594360" cy="530352"/>
          </a:xfrm>
          <a:prstGeom prst="line">
            <a:avLst/>
          </a:prstGeom>
          <a:noFill/>
          <a:ln w="19050">
            <a:solidFill>
              <a:srgbClr val="5B6472"/>
            </a:solidFill>
            <a:prstDash val="solid"/>
            <a:tailEnd type="triangle"/>
          </a:ln>
        </p:spPr>
      </p:sp>
      <p:sp>
        <p:nvSpPr>
          <p:cNvPr id="36" name="Shape 34"/>
          <p:cNvSpPr/>
          <p:nvPr/>
        </p:nvSpPr>
        <p:spPr>
          <a:xfrm>
            <a:off x="7269480" y="1371600"/>
            <a:ext cx="1417320" cy="2624328"/>
          </a:xfrm>
          <a:prstGeom prst="roundRect">
            <a:avLst>
              <a:gd name="adj" fmla="val 5161"/>
            </a:avLst>
          </a:prstGeom>
          <a:solidFill>
            <a:srgbClr val="EEF2F7"/>
          </a:solidFill>
          <a:ln w="12700">
            <a:solidFill>
              <a:srgbClr val="EEF2F7"/>
            </a:solidFill>
            <a:prstDash val="solid"/>
          </a:ln>
        </p:spPr>
      </p:sp>
      <p:sp>
        <p:nvSpPr>
          <p:cNvPr id="37" name="Text 35"/>
          <p:cNvSpPr txBox="1"/>
          <p:nvPr/>
        </p:nvSpPr>
        <p:spPr>
          <a:xfrm>
            <a:off x="7360920" y="1463040"/>
            <a:ext cx="1280160" cy="24688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New objects for version 2</a:t>
            </a:r>
            <a:endParaRPr lang="en-US" sz="1150" dirty="0"/>
          </a:p>
          <a:p>
            <a:pPr indent="0" marL="0">
              <a:buNone/>
            </a:pPr>
            <a:r>
              <a:rPr lang="en-US" sz="500" dirty="0">
                <a:solidFill>
                  <a:srgbClr val="1F2937"/>
                </a:solidFill>
                <a:latin typeface="Calibri" pitchFamily="34" charset="0"/>
                <a:ea typeface="Calibri" pitchFamily="34" charset="-122"/>
                <a:cs typeface="Calibri" pitchFamily="34" charset="-120"/>
              </a:rPr>
              <a:t> </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1 commit</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1 tree</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1 blob</a:t>
            </a:r>
            <a:endParaRPr lang="en-US" sz="1150" dirty="0"/>
          </a:p>
          <a:p>
            <a:pPr indent="0" marL="0">
              <a:buNone/>
            </a:pPr>
            <a:r>
              <a:rPr lang="en-US" sz="500" dirty="0">
                <a:solidFill>
                  <a:srgbClr val="1F2937"/>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2A9D8F"/>
                </a:solidFill>
                <a:latin typeface="Calibri" pitchFamily="34" charset="0"/>
                <a:ea typeface="Calibri" pitchFamily="34" charset="-122"/>
                <a:cs typeface="Calibri" pitchFamily="34" charset="-120"/>
              </a:rPr>
              <a:t>README: 0 extra bytes</a:t>
            </a:r>
            <a:endParaRPr lang="en-US" sz="1150" dirty="0"/>
          </a:p>
        </p:txBody>
      </p:sp>
      <p:sp>
        <p:nvSpPr>
          <p:cNvPr id="38" name="Text 36"/>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250" i="1" dirty="0">
                <a:solidFill>
                  <a:srgbClr val="14213D"/>
                </a:solidFill>
                <a:latin typeface="Calibri" pitchFamily="34" charset="0"/>
                <a:ea typeface="Calibri" pitchFamily="34" charset="-122"/>
                <a:cs typeface="Calibri" pitchFamily="34" charset="-120"/>
              </a:rPr>
              <a:t>Only the changed file gets a new blob. Unchanged files are shared between versions: this is deduplication in action.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RESEARCH CYCLE</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Research Cycle Applied to My Topic</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457200" y="1234440"/>
            <a:ext cx="1828800" cy="1417320"/>
          </a:xfrm>
          <a:prstGeom prst="roundRect">
            <a:avLst>
              <a:gd name="adj" fmla="val 5161"/>
            </a:avLst>
          </a:prstGeom>
          <a:solidFill>
            <a:srgbClr val="EEF2F7"/>
          </a:solidFill>
          <a:ln w="12700">
            <a:solidFill>
              <a:srgbClr val="EEF2F7"/>
            </a:solidFill>
            <a:prstDash val="solid"/>
          </a:ln>
        </p:spPr>
      </p:sp>
      <p:sp>
        <p:nvSpPr>
          <p:cNvPr id="6" name="Shape 4"/>
          <p:cNvSpPr/>
          <p:nvPr/>
        </p:nvSpPr>
        <p:spPr>
          <a:xfrm>
            <a:off x="566928" y="1344168"/>
            <a:ext cx="365760" cy="365760"/>
          </a:xfrm>
          <a:prstGeom prst="ellipse">
            <a:avLst/>
          </a:prstGeom>
          <a:solidFill>
            <a:srgbClr val="14213D"/>
          </a:solidFill>
          <a:ln w="12700">
            <a:solidFill>
              <a:srgbClr val="14213D"/>
            </a:solidFill>
            <a:prstDash val="solid"/>
          </a:ln>
        </p:spPr>
      </p:sp>
      <p:sp>
        <p:nvSpPr>
          <p:cNvPr id="7"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05840" y="134416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Problem</a:t>
            </a:r>
            <a:endParaRPr lang="en-US" sz="1250" dirty="0"/>
          </a:p>
        </p:txBody>
      </p:sp>
      <p:sp>
        <p:nvSpPr>
          <p:cNvPr id="9" name="Text 7"/>
          <p:cNvSpPr txBox="1"/>
          <p:nvPr/>
        </p:nvSpPr>
        <p:spPr>
          <a:xfrm>
            <a:off x="566928" y="180136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Many versions waste space; damage goes unnoticed</a:t>
            </a:r>
            <a:endParaRPr lang="en-US" sz="1100" dirty="0"/>
          </a:p>
        </p:txBody>
      </p:sp>
      <p:sp>
        <p:nvSpPr>
          <p:cNvPr id="10" name="Shape 8"/>
          <p:cNvSpPr/>
          <p:nvPr/>
        </p:nvSpPr>
        <p:spPr>
          <a:xfrm>
            <a:off x="2304288" y="1938528"/>
            <a:ext cx="237744" cy="0"/>
          </a:xfrm>
          <a:prstGeom prst="line">
            <a:avLst/>
          </a:prstGeom>
          <a:noFill/>
          <a:ln w="19050">
            <a:solidFill>
              <a:srgbClr val="5B6472"/>
            </a:solidFill>
            <a:prstDash val="solid"/>
            <a:tailEnd type="triangle"/>
          </a:ln>
        </p:spPr>
      </p:sp>
      <p:sp>
        <p:nvSpPr>
          <p:cNvPr id="11" name="Shape 9"/>
          <p:cNvSpPr/>
          <p:nvPr/>
        </p:nvSpPr>
        <p:spPr>
          <a:xfrm>
            <a:off x="2560320" y="1234440"/>
            <a:ext cx="1828800" cy="1417320"/>
          </a:xfrm>
          <a:prstGeom prst="roundRect">
            <a:avLst>
              <a:gd name="adj" fmla="val 5161"/>
            </a:avLst>
          </a:prstGeom>
          <a:solidFill>
            <a:srgbClr val="EEF2F7"/>
          </a:solidFill>
          <a:ln w="12700">
            <a:solidFill>
              <a:srgbClr val="EEF2F7"/>
            </a:solidFill>
            <a:prstDash val="solid"/>
          </a:ln>
        </p:spPr>
      </p:sp>
      <p:sp>
        <p:nvSpPr>
          <p:cNvPr id="12" name="Shape 10"/>
          <p:cNvSpPr/>
          <p:nvPr/>
        </p:nvSpPr>
        <p:spPr>
          <a:xfrm>
            <a:off x="2670048" y="1344168"/>
            <a:ext cx="365760" cy="365760"/>
          </a:xfrm>
          <a:prstGeom prst="ellipse">
            <a:avLst/>
          </a:prstGeom>
          <a:solidFill>
            <a:srgbClr val="14213D"/>
          </a:solidFill>
          <a:ln w="12700">
            <a:solidFill>
              <a:srgbClr val="14213D"/>
            </a:solidFill>
            <a:prstDash val="solid"/>
          </a:ln>
        </p:spPr>
      </p:sp>
      <p:sp>
        <p:nvSpPr>
          <p:cNvPr id="13" name="Text 11"/>
          <p:cNvSpPr txBox="1"/>
          <p:nvPr/>
        </p:nvSpPr>
        <p:spPr>
          <a:xfrm>
            <a:off x="2670048" y="13441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108960" y="134416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Need</a:t>
            </a:r>
            <a:endParaRPr lang="en-US" sz="1250" dirty="0"/>
          </a:p>
        </p:txBody>
      </p:sp>
      <p:sp>
        <p:nvSpPr>
          <p:cNvPr id="15" name="Text 13"/>
          <p:cNvSpPr txBox="1"/>
          <p:nvPr/>
        </p:nvSpPr>
        <p:spPr>
          <a:xfrm>
            <a:off x="2670048" y="180136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Find and store data by its content, fast and safely</a:t>
            </a:r>
            <a:endParaRPr lang="en-US" sz="1100" dirty="0"/>
          </a:p>
        </p:txBody>
      </p:sp>
      <p:sp>
        <p:nvSpPr>
          <p:cNvPr id="16" name="Shape 14"/>
          <p:cNvSpPr/>
          <p:nvPr/>
        </p:nvSpPr>
        <p:spPr>
          <a:xfrm>
            <a:off x="4407408" y="1938528"/>
            <a:ext cx="237744" cy="0"/>
          </a:xfrm>
          <a:prstGeom prst="line">
            <a:avLst/>
          </a:prstGeom>
          <a:noFill/>
          <a:ln w="19050">
            <a:solidFill>
              <a:srgbClr val="5B6472"/>
            </a:solidFill>
            <a:prstDash val="solid"/>
            <a:tailEnd type="triangle"/>
          </a:ln>
        </p:spPr>
      </p:sp>
      <p:sp>
        <p:nvSpPr>
          <p:cNvPr id="17" name="Shape 15"/>
          <p:cNvSpPr/>
          <p:nvPr/>
        </p:nvSpPr>
        <p:spPr>
          <a:xfrm>
            <a:off x="4663440" y="1234440"/>
            <a:ext cx="1828800" cy="1417320"/>
          </a:xfrm>
          <a:prstGeom prst="roundRect">
            <a:avLst>
              <a:gd name="adj" fmla="val 5161"/>
            </a:avLst>
          </a:prstGeom>
          <a:solidFill>
            <a:srgbClr val="EEF2F7"/>
          </a:solidFill>
          <a:ln w="12700">
            <a:solidFill>
              <a:srgbClr val="EEF2F7"/>
            </a:solidFill>
            <a:prstDash val="solid"/>
          </a:ln>
        </p:spPr>
      </p:sp>
      <p:sp>
        <p:nvSpPr>
          <p:cNvPr id="18" name="Shape 16"/>
          <p:cNvSpPr/>
          <p:nvPr/>
        </p:nvSpPr>
        <p:spPr>
          <a:xfrm>
            <a:off x="4773168" y="1344168"/>
            <a:ext cx="365760" cy="365760"/>
          </a:xfrm>
          <a:prstGeom prst="ellipse">
            <a:avLst/>
          </a:prstGeom>
          <a:solidFill>
            <a:srgbClr val="14213D"/>
          </a:solidFill>
          <a:ln w="12700">
            <a:solidFill>
              <a:srgbClr val="14213D"/>
            </a:solidFill>
            <a:prstDash val="solid"/>
          </a:ln>
        </p:spPr>
      </p:sp>
      <p:sp>
        <p:nvSpPr>
          <p:cNvPr id="19" name="Text 17"/>
          <p:cNvSpPr txBox="1"/>
          <p:nvPr/>
        </p:nvSpPr>
        <p:spPr>
          <a:xfrm>
            <a:off x="4773168" y="13441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212080" y="134416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Data Structure</a:t>
            </a:r>
            <a:endParaRPr lang="en-US" sz="1250" dirty="0"/>
          </a:p>
        </p:txBody>
      </p:sp>
      <p:sp>
        <p:nvSpPr>
          <p:cNvPr id="21" name="Text 19"/>
          <p:cNvSpPr txBox="1"/>
          <p:nvPr/>
        </p:nvSpPr>
        <p:spPr>
          <a:xfrm>
            <a:off x="4773168" y="180136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Hash table + Merkle tree + commit DAG</a:t>
            </a:r>
            <a:endParaRPr lang="en-US" sz="1100" dirty="0"/>
          </a:p>
        </p:txBody>
      </p:sp>
      <p:sp>
        <p:nvSpPr>
          <p:cNvPr id="22" name="Shape 20"/>
          <p:cNvSpPr/>
          <p:nvPr/>
        </p:nvSpPr>
        <p:spPr>
          <a:xfrm>
            <a:off x="6510528" y="1938528"/>
            <a:ext cx="237744" cy="0"/>
          </a:xfrm>
          <a:prstGeom prst="line">
            <a:avLst/>
          </a:prstGeom>
          <a:noFill/>
          <a:ln w="19050">
            <a:solidFill>
              <a:srgbClr val="5B6472"/>
            </a:solidFill>
            <a:prstDash val="solid"/>
            <a:tailEnd type="triangle"/>
          </a:ln>
        </p:spPr>
      </p:sp>
      <p:sp>
        <p:nvSpPr>
          <p:cNvPr id="23" name="Shape 21"/>
          <p:cNvSpPr/>
          <p:nvPr/>
        </p:nvSpPr>
        <p:spPr>
          <a:xfrm>
            <a:off x="6766560" y="1234440"/>
            <a:ext cx="1828800" cy="1417320"/>
          </a:xfrm>
          <a:prstGeom prst="roundRect">
            <a:avLst>
              <a:gd name="adj" fmla="val 5161"/>
            </a:avLst>
          </a:prstGeom>
          <a:solidFill>
            <a:srgbClr val="EEF2F7"/>
          </a:solidFill>
          <a:ln w="12700">
            <a:solidFill>
              <a:srgbClr val="EEF2F7"/>
            </a:solidFill>
            <a:prstDash val="solid"/>
          </a:ln>
        </p:spPr>
      </p:sp>
      <p:sp>
        <p:nvSpPr>
          <p:cNvPr id="24" name="Shape 22"/>
          <p:cNvSpPr/>
          <p:nvPr/>
        </p:nvSpPr>
        <p:spPr>
          <a:xfrm>
            <a:off x="6876288" y="1344168"/>
            <a:ext cx="365760" cy="365760"/>
          </a:xfrm>
          <a:prstGeom prst="ellipse">
            <a:avLst/>
          </a:prstGeom>
          <a:solidFill>
            <a:srgbClr val="14213D"/>
          </a:solidFill>
          <a:ln w="12700">
            <a:solidFill>
              <a:srgbClr val="14213D"/>
            </a:solidFill>
            <a:prstDash val="solid"/>
          </a:ln>
        </p:spPr>
      </p:sp>
      <p:sp>
        <p:nvSpPr>
          <p:cNvPr id="25" name="Text 23"/>
          <p:cNvSpPr txBox="1"/>
          <p:nvPr/>
        </p:nvSpPr>
        <p:spPr>
          <a:xfrm>
            <a:off x="6876288" y="13441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315200" y="134416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Algorithm</a:t>
            </a:r>
            <a:endParaRPr lang="en-US" sz="1250" dirty="0"/>
          </a:p>
        </p:txBody>
      </p:sp>
      <p:sp>
        <p:nvSpPr>
          <p:cNvPr id="27" name="Text 25"/>
          <p:cNvSpPr txBox="1"/>
          <p:nvPr/>
        </p:nvSpPr>
        <p:spPr>
          <a:xfrm>
            <a:off x="6876288" y="180136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SHA-1 / SHA-256 hash; store only if absent</a:t>
            </a:r>
            <a:endParaRPr lang="en-US" sz="1100" dirty="0"/>
          </a:p>
        </p:txBody>
      </p:sp>
      <p:sp>
        <p:nvSpPr>
          <p:cNvPr id="28" name="Shape 26"/>
          <p:cNvSpPr/>
          <p:nvPr/>
        </p:nvSpPr>
        <p:spPr>
          <a:xfrm>
            <a:off x="6766560" y="2971800"/>
            <a:ext cx="1828800" cy="1417320"/>
          </a:xfrm>
          <a:prstGeom prst="roundRect">
            <a:avLst>
              <a:gd name="adj" fmla="val 5161"/>
            </a:avLst>
          </a:prstGeom>
          <a:solidFill>
            <a:srgbClr val="FFF3DC"/>
          </a:solidFill>
          <a:ln w="12700">
            <a:solidFill>
              <a:srgbClr val="FFF3DC"/>
            </a:solidFill>
            <a:prstDash val="solid"/>
          </a:ln>
        </p:spPr>
      </p:sp>
      <p:sp>
        <p:nvSpPr>
          <p:cNvPr id="29" name="Shape 27"/>
          <p:cNvSpPr/>
          <p:nvPr/>
        </p:nvSpPr>
        <p:spPr>
          <a:xfrm>
            <a:off x="6876288" y="3081528"/>
            <a:ext cx="365760" cy="365760"/>
          </a:xfrm>
          <a:prstGeom prst="ellipse">
            <a:avLst/>
          </a:prstGeom>
          <a:solidFill>
            <a:srgbClr val="14213D"/>
          </a:solidFill>
          <a:ln w="12700">
            <a:solidFill>
              <a:srgbClr val="14213D"/>
            </a:solidFill>
            <a:prstDash val="solid"/>
          </a:ln>
        </p:spPr>
      </p:sp>
      <p:sp>
        <p:nvSpPr>
          <p:cNvPr id="30" name="Text 28"/>
          <p:cNvSpPr txBox="1"/>
          <p:nvPr/>
        </p:nvSpPr>
        <p:spPr>
          <a:xfrm>
            <a:off x="6876288" y="3081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7315200" y="308152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Implementation</a:t>
            </a:r>
            <a:endParaRPr lang="en-US" sz="1250" dirty="0"/>
          </a:p>
        </p:txBody>
      </p:sp>
      <p:sp>
        <p:nvSpPr>
          <p:cNvPr id="32" name="Text 30"/>
          <p:cNvSpPr txBox="1"/>
          <p:nvPr/>
        </p:nvSpPr>
        <p:spPr>
          <a:xfrm>
            <a:off x="6876288" y="353872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minigit.c: file I/O, pointers, bitwise ops</a:t>
            </a:r>
            <a:endParaRPr lang="en-US" sz="1100" dirty="0"/>
          </a:p>
        </p:txBody>
      </p:sp>
      <p:sp>
        <p:nvSpPr>
          <p:cNvPr id="33" name="Shape 31"/>
          <p:cNvSpPr/>
          <p:nvPr/>
        </p:nvSpPr>
        <p:spPr>
          <a:xfrm flipH="1">
            <a:off x="6510528" y="3675888"/>
            <a:ext cx="237744" cy="0"/>
          </a:xfrm>
          <a:prstGeom prst="line">
            <a:avLst/>
          </a:prstGeom>
          <a:noFill/>
          <a:ln w="19050">
            <a:solidFill>
              <a:srgbClr val="5B6472"/>
            </a:solidFill>
            <a:prstDash val="solid"/>
            <a:tailEnd type="triangle"/>
          </a:ln>
        </p:spPr>
      </p:sp>
      <p:sp>
        <p:nvSpPr>
          <p:cNvPr id="34" name="Shape 32"/>
          <p:cNvSpPr/>
          <p:nvPr/>
        </p:nvSpPr>
        <p:spPr>
          <a:xfrm>
            <a:off x="4663440" y="2971800"/>
            <a:ext cx="1828800" cy="1417320"/>
          </a:xfrm>
          <a:prstGeom prst="roundRect">
            <a:avLst>
              <a:gd name="adj" fmla="val 5161"/>
            </a:avLst>
          </a:prstGeom>
          <a:solidFill>
            <a:srgbClr val="FFF3DC"/>
          </a:solidFill>
          <a:ln w="12700">
            <a:solidFill>
              <a:srgbClr val="FFF3DC"/>
            </a:solidFill>
            <a:prstDash val="solid"/>
          </a:ln>
        </p:spPr>
      </p:sp>
      <p:sp>
        <p:nvSpPr>
          <p:cNvPr id="35" name="Shape 33"/>
          <p:cNvSpPr/>
          <p:nvPr/>
        </p:nvSpPr>
        <p:spPr>
          <a:xfrm>
            <a:off x="4773168" y="3081528"/>
            <a:ext cx="365760" cy="365760"/>
          </a:xfrm>
          <a:prstGeom prst="ellipse">
            <a:avLst/>
          </a:prstGeom>
          <a:solidFill>
            <a:srgbClr val="14213D"/>
          </a:solidFill>
          <a:ln w="12700">
            <a:solidFill>
              <a:srgbClr val="14213D"/>
            </a:solidFill>
            <a:prstDash val="solid"/>
          </a:ln>
        </p:spPr>
      </p:sp>
      <p:sp>
        <p:nvSpPr>
          <p:cNvPr id="36" name="Text 34"/>
          <p:cNvSpPr txBox="1"/>
          <p:nvPr/>
        </p:nvSpPr>
        <p:spPr>
          <a:xfrm>
            <a:off x="4773168" y="3081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txBox="1"/>
          <p:nvPr/>
        </p:nvSpPr>
        <p:spPr>
          <a:xfrm>
            <a:off x="5212080" y="308152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Industrial Product</a:t>
            </a:r>
            <a:endParaRPr lang="en-US" sz="1250" dirty="0"/>
          </a:p>
        </p:txBody>
      </p:sp>
      <p:sp>
        <p:nvSpPr>
          <p:cNvPr id="38" name="Text 36"/>
          <p:cNvSpPr txBox="1"/>
          <p:nvPr/>
        </p:nvSpPr>
        <p:spPr>
          <a:xfrm>
            <a:off x="4773168" y="353872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Git, Docker, IPFS, restic, Bitcoin</a:t>
            </a:r>
            <a:endParaRPr lang="en-US" sz="1100" dirty="0"/>
          </a:p>
        </p:txBody>
      </p:sp>
      <p:sp>
        <p:nvSpPr>
          <p:cNvPr id="39" name="Shape 37"/>
          <p:cNvSpPr/>
          <p:nvPr/>
        </p:nvSpPr>
        <p:spPr>
          <a:xfrm flipH="1">
            <a:off x="4407408" y="3675888"/>
            <a:ext cx="237744" cy="0"/>
          </a:xfrm>
          <a:prstGeom prst="line">
            <a:avLst/>
          </a:prstGeom>
          <a:noFill/>
          <a:ln w="19050">
            <a:solidFill>
              <a:srgbClr val="5B6472"/>
            </a:solidFill>
            <a:prstDash val="solid"/>
            <a:tailEnd type="triangle"/>
          </a:ln>
        </p:spPr>
      </p:sp>
      <p:sp>
        <p:nvSpPr>
          <p:cNvPr id="40" name="Shape 38"/>
          <p:cNvSpPr/>
          <p:nvPr/>
        </p:nvSpPr>
        <p:spPr>
          <a:xfrm>
            <a:off x="2560320" y="2971800"/>
            <a:ext cx="1828800" cy="1417320"/>
          </a:xfrm>
          <a:prstGeom prst="roundRect">
            <a:avLst>
              <a:gd name="adj" fmla="val 5161"/>
            </a:avLst>
          </a:prstGeom>
          <a:solidFill>
            <a:srgbClr val="FFF3DC"/>
          </a:solidFill>
          <a:ln w="12700">
            <a:solidFill>
              <a:srgbClr val="FFF3DC"/>
            </a:solidFill>
            <a:prstDash val="solid"/>
          </a:ln>
        </p:spPr>
      </p:sp>
      <p:sp>
        <p:nvSpPr>
          <p:cNvPr id="41" name="Shape 39"/>
          <p:cNvSpPr/>
          <p:nvPr/>
        </p:nvSpPr>
        <p:spPr>
          <a:xfrm>
            <a:off x="2670048" y="3081528"/>
            <a:ext cx="365760" cy="365760"/>
          </a:xfrm>
          <a:prstGeom prst="ellipse">
            <a:avLst/>
          </a:prstGeom>
          <a:solidFill>
            <a:srgbClr val="14213D"/>
          </a:solidFill>
          <a:ln w="12700">
            <a:solidFill>
              <a:srgbClr val="14213D"/>
            </a:solidFill>
            <a:prstDash val="solid"/>
          </a:ln>
        </p:spPr>
      </p:sp>
      <p:sp>
        <p:nvSpPr>
          <p:cNvPr id="42" name="Text 40"/>
          <p:cNvSpPr txBox="1"/>
          <p:nvPr/>
        </p:nvSpPr>
        <p:spPr>
          <a:xfrm>
            <a:off x="2670048" y="3081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3" name="Text 41"/>
          <p:cNvSpPr txBox="1"/>
          <p:nvPr/>
        </p:nvSpPr>
        <p:spPr>
          <a:xfrm>
            <a:off x="3108960" y="308152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Limitation</a:t>
            </a:r>
            <a:endParaRPr lang="en-US" sz="1250" dirty="0"/>
          </a:p>
        </p:txBody>
      </p:sp>
      <p:sp>
        <p:nvSpPr>
          <p:cNvPr id="44" name="Text 42"/>
          <p:cNvSpPr txBox="1"/>
          <p:nvPr/>
        </p:nvSpPr>
        <p:spPr>
          <a:xfrm>
            <a:off x="2670048" y="353872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Collisions, storage growth, huge files</a:t>
            </a:r>
            <a:endParaRPr lang="en-US" sz="1100" dirty="0"/>
          </a:p>
        </p:txBody>
      </p:sp>
      <p:sp>
        <p:nvSpPr>
          <p:cNvPr id="45" name="Shape 43"/>
          <p:cNvSpPr/>
          <p:nvPr/>
        </p:nvSpPr>
        <p:spPr>
          <a:xfrm flipH="1">
            <a:off x="2304288" y="3675888"/>
            <a:ext cx="237744" cy="0"/>
          </a:xfrm>
          <a:prstGeom prst="line">
            <a:avLst/>
          </a:prstGeom>
          <a:noFill/>
          <a:ln w="19050">
            <a:solidFill>
              <a:srgbClr val="5B6472"/>
            </a:solidFill>
            <a:prstDash val="solid"/>
            <a:tailEnd type="triangle"/>
          </a:ln>
        </p:spPr>
      </p:sp>
      <p:sp>
        <p:nvSpPr>
          <p:cNvPr id="46" name="Shape 44"/>
          <p:cNvSpPr/>
          <p:nvPr/>
        </p:nvSpPr>
        <p:spPr>
          <a:xfrm>
            <a:off x="457200" y="2971800"/>
            <a:ext cx="1828800" cy="1417320"/>
          </a:xfrm>
          <a:prstGeom prst="roundRect">
            <a:avLst>
              <a:gd name="adj" fmla="val 5161"/>
            </a:avLst>
          </a:prstGeom>
          <a:solidFill>
            <a:srgbClr val="FFF3DC"/>
          </a:solidFill>
          <a:ln w="12700">
            <a:solidFill>
              <a:srgbClr val="FFF3DC"/>
            </a:solidFill>
            <a:prstDash val="solid"/>
          </a:ln>
        </p:spPr>
      </p:sp>
      <p:sp>
        <p:nvSpPr>
          <p:cNvPr id="47" name="Shape 45"/>
          <p:cNvSpPr/>
          <p:nvPr/>
        </p:nvSpPr>
        <p:spPr>
          <a:xfrm>
            <a:off x="566928" y="3081528"/>
            <a:ext cx="365760" cy="365760"/>
          </a:xfrm>
          <a:prstGeom prst="ellipse">
            <a:avLst/>
          </a:prstGeom>
          <a:solidFill>
            <a:srgbClr val="14213D"/>
          </a:solidFill>
          <a:ln w="12700">
            <a:solidFill>
              <a:srgbClr val="14213D"/>
            </a:solidFill>
            <a:prstDash val="solid"/>
          </a:ln>
        </p:spPr>
      </p:sp>
      <p:sp>
        <p:nvSpPr>
          <p:cNvPr id="48" name="Text 46"/>
          <p:cNvSpPr txBox="1"/>
          <p:nvPr/>
        </p:nvSpPr>
        <p:spPr>
          <a:xfrm>
            <a:off x="566928" y="3081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9" name="Text 47"/>
          <p:cNvSpPr txBox="1"/>
          <p:nvPr/>
        </p:nvSpPr>
        <p:spPr>
          <a:xfrm>
            <a:off x="1005840" y="3081528"/>
            <a:ext cx="1234440" cy="36576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Future Scope</a:t>
            </a:r>
            <a:endParaRPr lang="en-US" sz="1250" dirty="0"/>
          </a:p>
        </p:txBody>
      </p:sp>
      <p:sp>
        <p:nvSpPr>
          <p:cNvPr id="50" name="Text 48"/>
          <p:cNvSpPr txBox="1"/>
          <p:nvPr/>
        </p:nvSpPr>
        <p:spPr>
          <a:xfrm>
            <a:off x="566928" y="3538728"/>
            <a:ext cx="1627632" cy="8046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SHA-256 default, AI data versioning, secure supply chain</a:t>
            </a:r>
            <a:endParaRPr lang="en-US" sz="1100" dirty="0"/>
          </a:p>
        </p:txBody>
      </p:sp>
      <p:sp>
        <p:nvSpPr>
          <p:cNvPr id="51" name="Shape 49"/>
          <p:cNvSpPr/>
          <p:nvPr/>
        </p:nvSpPr>
        <p:spPr>
          <a:xfrm>
            <a:off x="6766560" y="2670048"/>
            <a:ext cx="0" cy="347472"/>
          </a:xfrm>
          <a:prstGeom prst="line">
            <a:avLst/>
          </a:prstGeom>
          <a:noFill/>
          <a:ln w="19050">
            <a:solidFill>
              <a:srgbClr val="5B6472"/>
            </a:solidFill>
            <a:prstDash val="solid"/>
            <a:tailEnd type="triangle"/>
          </a:ln>
        </p:spPr>
      </p:sp>
      <p:sp>
        <p:nvSpPr>
          <p:cNvPr id="52" name="Text 50"/>
          <p:cNvSpPr txBox="1"/>
          <p:nvPr/>
        </p:nvSpPr>
        <p:spPr>
          <a:xfrm>
            <a:off x="457200" y="4572000"/>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Same order industry follows: from a real problem to a product, then its limits and future.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RESEARCH CYCLE · FUTURE SCOPE</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Future Scope: The Next 10 Years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5" name="Shape 3"/>
          <p:cNvSpPr/>
          <p:nvPr/>
        </p:nvSpPr>
        <p:spPr>
          <a:xfrm>
            <a:off x="457200" y="1280160"/>
            <a:ext cx="502920" cy="502920"/>
          </a:xfrm>
          <a:prstGeom prst="ellipse">
            <a:avLst/>
          </a:prstGeom>
          <a:solidFill>
            <a:srgbClr val="FCA311"/>
          </a:solidFill>
          <a:ln w="12700">
            <a:solidFill>
              <a:srgbClr val="FCA311"/>
            </a:solidFill>
            <a:prstDash val="solid"/>
          </a:ln>
        </p:spPr>
      </p:sp>
      <p:sp>
        <p:nvSpPr>
          <p:cNvPr id="6" name="Text 4"/>
          <p:cNvSpPr txBox="1"/>
          <p:nvPr/>
        </p:nvSpPr>
        <p:spPr>
          <a:xfrm>
            <a:off x="457200" y="1280160"/>
            <a:ext cx="5029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43000" y="1188720"/>
            <a:ext cx="749808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SHA-256 becomes the default</a:t>
            </a:r>
            <a:endParaRPr lang="en-US" sz="1500" dirty="0"/>
          </a:p>
        </p:txBody>
      </p:sp>
      <p:sp>
        <p:nvSpPr>
          <p:cNvPr id="8" name="Text 6"/>
          <p:cNvSpPr txBox="1"/>
          <p:nvPr/>
        </p:nvSpPr>
        <p:spPr>
          <a:xfrm>
            <a:off x="1143000" y="1517904"/>
            <a:ext cx="749808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Git plans SHA-256 as the default for new repositories (Git 3.0). Longer hashes stay safe as computers get faster.</a:t>
            </a:r>
            <a:endParaRPr lang="en-US" sz="1250" dirty="0"/>
          </a:p>
        </p:txBody>
      </p:sp>
      <p:sp>
        <p:nvSpPr>
          <p:cNvPr id="9" name="Shape 7"/>
          <p:cNvSpPr/>
          <p:nvPr/>
        </p:nvSpPr>
        <p:spPr>
          <a:xfrm>
            <a:off x="457200" y="2148840"/>
            <a:ext cx="502920" cy="502920"/>
          </a:xfrm>
          <a:prstGeom prst="ellipse">
            <a:avLst/>
          </a:prstGeom>
          <a:solidFill>
            <a:srgbClr val="FCA311"/>
          </a:solidFill>
          <a:ln w="12700">
            <a:solidFill>
              <a:srgbClr val="FCA311"/>
            </a:solidFill>
            <a:prstDash val="solid"/>
          </a:ln>
        </p:spPr>
      </p:sp>
      <p:sp>
        <p:nvSpPr>
          <p:cNvPr id="10" name="Text 8"/>
          <p:cNvSpPr txBox="1"/>
          <p:nvPr/>
        </p:nvSpPr>
        <p:spPr>
          <a:xfrm>
            <a:off x="457200" y="2148840"/>
            <a:ext cx="5029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43000" y="2057400"/>
            <a:ext cx="749808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Versioning AI data &amp; models</a:t>
            </a:r>
            <a:endParaRPr lang="en-US" sz="1500" dirty="0"/>
          </a:p>
        </p:txBody>
      </p:sp>
      <p:sp>
        <p:nvSpPr>
          <p:cNvPr id="12" name="Text 10"/>
          <p:cNvSpPr txBox="1"/>
          <p:nvPr/>
        </p:nvSpPr>
        <p:spPr>
          <a:xfrm>
            <a:off x="1143000" y="2386584"/>
            <a:ext cx="749808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Datasets and model files of many GB are versioned by hash (tools like DVC, Hugging Face Hub).</a:t>
            </a:r>
            <a:endParaRPr lang="en-US" sz="1250" dirty="0"/>
          </a:p>
        </p:txBody>
      </p:sp>
      <p:sp>
        <p:nvSpPr>
          <p:cNvPr id="13" name="Shape 11"/>
          <p:cNvSpPr/>
          <p:nvPr/>
        </p:nvSpPr>
        <p:spPr>
          <a:xfrm>
            <a:off x="457200" y="3017520"/>
            <a:ext cx="502920" cy="502920"/>
          </a:xfrm>
          <a:prstGeom prst="ellipse">
            <a:avLst/>
          </a:prstGeom>
          <a:solidFill>
            <a:srgbClr val="FCA311"/>
          </a:solidFill>
          <a:ln w="12700">
            <a:solidFill>
              <a:srgbClr val="FCA311"/>
            </a:solidFill>
            <a:prstDash val="solid"/>
          </a:ln>
        </p:spPr>
      </p:sp>
      <p:sp>
        <p:nvSpPr>
          <p:cNvPr id="14" name="Text 12"/>
          <p:cNvSpPr txBox="1"/>
          <p:nvPr/>
        </p:nvSpPr>
        <p:spPr>
          <a:xfrm>
            <a:off x="457200" y="3017520"/>
            <a:ext cx="5029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43000" y="2926080"/>
            <a:ext cx="749808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Secure software supply chain</a:t>
            </a:r>
            <a:endParaRPr lang="en-US" sz="1500" dirty="0"/>
          </a:p>
        </p:txBody>
      </p:sp>
      <p:sp>
        <p:nvSpPr>
          <p:cNvPr id="16" name="Text 14"/>
          <p:cNvSpPr txBox="1"/>
          <p:nvPr/>
        </p:nvSpPr>
        <p:spPr>
          <a:xfrm>
            <a:off x="1143000" y="3255264"/>
            <a:ext cx="749808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Every package and container is identified and signed by its digest (Sigstore, SBOMs), so tampered code is rejected.</a:t>
            </a:r>
            <a:endParaRPr lang="en-US" sz="1250" dirty="0"/>
          </a:p>
        </p:txBody>
      </p:sp>
      <p:sp>
        <p:nvSpPr>
          <p:cNvPr id="17" name="Shape 15"/>
          <p:cNvSpPr/>
          <p:nvPr/>
        </p:nvSpPr>
        <p:spPr>
          <a:xfrm>
            <a:off x="457200" y="3886200"/>
            <a:ext cx="502920" cy="502920"/>
          </a:xfrm>
          <a:prstGeom prst="ellipse">
            <a:avLst/>
          </a:prstGeom>
          <a:solidFill>
            <a:srgbClr val="FCA311"/>
          </a:solidFill>
          <a:ln w="12700">
            <a:solidFill>
              <a:srgbClr val="FCA311"/>
            </a:solidFill>
            <a:prstDash val="solid"/>
          </a:ln>
        </p:spPr>
      </p:sp>
      <p:sp>
        <p:nvSpPr>
          <p:cNvPr id="18" name="Text 16"/>
          <p:cNvSpPr txBox="1"/>
          <p:nvPr/>
        </p:nvSpPr>
        <p:spPr>
          <a:xfrm>
            <a:off x="457200" y="3886200"/>
            <a:ext cx="5029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43000" y="3794760"/>
            <a:ext cx="749808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Content-addressed web</a:t>
            </a:r>
            <a:endParaRPr lang="en-US" sz="1500" dirty="0"/>
          </a:p>
        </p:txBody>
      </p:sp>
      <p:sp>
        <p:nvSpPr>
          <p:cNvPr id="20" name="Text 18"/>
          <p:cNvSpPr txBox="1"/>
          <p:nvPr/>
        </p:nvSpPr>
        <p:spPr>
          <a:xfrm>
            <a:off x="1143000" y="4123944"/>
            <a:ext cx="749808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Links that point to content instead of a server (IPFS), so files survive even if one server goes down.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NEXT STEPS · REFLECTION</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Reflection</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457200" y="1188720"/>
            <a:ext cx="4023360" cy="1554480"/>
          </a:xfrm>
          <a:prstGeom prst="roundRect">
            <a:avLst>
              <a:gd name="adj" fmla="val 4706"/>
            </a:avLst>
          </a:prstGeom>
          <a:solidFill>
            <a:srgbClr val="FFF3DC"/>
          </a:solidFill>
          <a:ln w="12700">
            <a:solidFill>
              <a:srgbClr val="FFF3DC"/>
            </a:solidFill>
            <a:prstDash val="solid"/>
          </a:ln>
        </p:spPr>
      </p:sp>
      <p:sp>
        <p:nvSpPr>
          <p:cNvPr id="6" name="Text 4"/>
          <p:cNvSpPr txBox="1"/>
          <p:nvPr/>
        </p:nvSpPr>
        <p:spPr>
          <a:xfrm>
            <a:off x="640080" y="1325880"/>
            <a:ext cx="36576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What I learned</a:t>
            </a:r>
            <a:endParaRPr lang="en-US" sz="1500" dirty="0"/>
          </a:p>
        </p:txBody>
      </p:sp>
      <p:sp>
        <p:nvSpPr>
          <p:cNvPr id="7" name="Text 5"/>
          <p:cNvSpPr txBox="1"/>
          <p:nvPr/>
        </p:nvSpPr>
        <p:spPr>
          <a:xfrm>
            <a:off x="640080" y="169164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Git is basically a key-value store where the key is the hash of the value. Understanding WHY a structure is used matters more than memorising it.</a:t>
            </a:r>
            <a:endParaRPr lang="en-US" sz="1250" dirty="0"/>
          </a:p>
        </p:txBody>
      </p:sp>
      <p:sp>
        <p:nvSpPr>
          <p:cNvPr id="8" name="Shape 6"/>
          <p:cNvSpPr/>
          <p:nvPr/>
        </p:nvSpPr>
        <p:spPr>
          <a:xfrm>
            <a:off x="4663440" y="1188720"/>
            <a:ext cx="4023360" cy="1554480"/>
          </a:xfrm>
          <a:prstGeom prst="roundRect">
            <a:avLst>
              <a:gd name="adj" fmla="val 4706"/>
            </a:avLst>
          </a:prstGeom>
          <a:solidFill>
            <a:srgbClr val="EEF2F7"/>
          </a:solidFill>
          <a:ln w="12700">
            <a:solidFill>
              <a:srgbClr val="EEF2F7"/>
            </a:solidFill>
            <a:prstDash val="solid"/>
          </a:ln>
        </p:spPr>
      </p:sp>
      <p:sp>
        <p:nvSpPr>
          <p:cNvPr id="9" name="Text 7"/>
          <p:cNvSpPr txBox="1"/>
          <p:nvPr/>
        </p:nvSpPr>
        <p:spPr>
          <a:xfrm>
            <a:off x="4846320" y="1325880"/>
            <a:ext cx="36576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What surprised me</a:t>
            </a:r>
            <a:endParaRPr lang="en-US" sz="1500" dirty="0"/>
          </a:p>
        </p:txBody>
      </p:sp>
      <p:sp>
        <p:nvSpPr>
          <p:cNvPr id="10" name="Text 8"/>
          <p:cNvSpPr txBox="1"/>
          <p:nvPr/>
        </p:nvSpPr>
        <p:spPr>
          <a:xfrm>
            <a:off x="4846320" y="169164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My 200-line C program gives exactly the same hash as real Git. Renaming a file creates no new data at all.</a:t>
            </a:r>
            <a:endParaRPr lang="en-US" sz="1250" dirty="0"/>
          </a:p>
        </p:txBody>
      </p:sp>
      <p:sp>
        <p:nvSpPr>
          <p:cNvPr id="11" name="Shape 9"/>
          <p:cNvSpPr/>
          <p:nvPr/>
        </p:nvSpPr>
        <p:spPr>
          <a:xfrm>
            <a:off x="457200" y="2926080"/>
            <a:ext cx="4023360" cy="1554480"/>
          </a:xfrm>
          <a:prstGeom prst="roundRect">
            <a:avLst>
              <a:gd name="adj" fmla="val 4706"/>
            </a:avLst>
          </a:prstGeom>
          <a:solidFill>
            <a:srgbClr val="EEF2F7"/>
          </a:solidFill>
          <a:ln w="12700">
            <a:solidFill>
              <a:srgbClr val="EEF2F7"/>
            </a:solidFill>
            <a:prstDash val="solid"/>
          </a:ln>
        </p:spPr>
      </p:sp>
      <p:sp>
        <p:nvSpPr>
          <p:cNvPr id="12" name="Text 10"/>
          <p:cNvSpPr txBox="1"/>
          <p:nvPr/>
        </p:nvSpPr>
        <p:spPr>
          <a:xfrm>
            <a:off x="640080" y="3063240"/>
            <a:ext cx="36576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What was difficult</a:t>
            </a:r>
            <a:endParaRPr lang="en-US" sz="1500" dirty="0"/>
          </a:p>
        </p:txBody>
      </p:sp>
      <p:sp>
        <p:nvSpPr>
          <p:cNvPr id="13" name="Text 11"/>
          <p:cNvSpPr txBox="1"/>
          <p:nvPr/>
        </p:nvSpPr>
        <p:spPr>
          <a:xfrm>
            <a:off x="640080" y="342900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SHA-1 bit operations, and binary data: the "\0" in the header means normal string functions cannot be used everywhere.</a:t>
            </a:r>
            <a:endParaRPr lang="en-US" sz="1250" dirty="0"/>
          </a:p>
        </p:txBody>
      </p:sp>
      <p:sp>
        <p:nvSpPr>
          <p:cNvPr id="14" name="Shape 12"/>
          <p:cNvSpPr/>
          <p:nvPr/>
        </p:nvSpPr>
        <p:spPr>
          <a:xfrm>
            <a:off x="4663440" y="2926080"/>
            <a:ext cx="4023360" cy="1554480"/>
          </a:xfrm>
          <a:prstGeom prst="roundRect">
            <a:avLst>
              <a:gd name="adj" fmla="val 4706"/>
            </a:avLst>
          </a:prstGeom>
          <a:solidFill>
            <a:srgbClr val="FFF3DC"/>
          </a:solidFill>
          <a:ln w="12700">
            <a:solidFill>
              <a:srgbClr val="FFF3DC"/>
            </a:solidFill>
            <a:prstDash val="solid"/>
          </a:ln>
        </p:spPr>
      </p:sp>
      <p:sp>
        <p:nvSpPr>
          <p:cNvPr id="15" name="Text 13"/>
          <p:cNvSpPr txBox="1"/>
          <p:nvPr/>
        </p:nvSpPr>
        <p:spPr>
          <a:xfrm>
            <a:off x="4846320" y="3063240"/>
            <a:ext cx="36576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What I would do next</a:t>
            </a:r>
            <a:endParaRPr lang="en-US" sz="1500" dirty="0"/>
          </a:p>
        </p:txBody>
      </p:sp>
      <p:sp>
        <p:nvSpPr>
          <p:cNvPr id="16" name="Text 14"/>
          <p:cNvSpPr txBox="1"/>
          <p:nvPr/>
        </p:nvSpPr>
        <p:spPr>
          <a:xfrm>
            <a:off x="4846320" y="342900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Add tree and commit objects, a "log" command and zlib compression, so minigit becomes a small version control system.</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PRESENTATION / VIVA</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Expected Viva Questions (1/2)</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
        <p:nvSpPr>
          <p:cNvPr id="5" name="Shape 3"/>
          <p:cNvSpPr/>
          <p:nvPr/>
        </p:nvSpPr>
        <p:spPr>
          <a:xfrm>
            <a:off x="457200" y="1188720"/>
            <a:ext cx="8229600" cy="777240"/>
          </a:xfrm>
          <a:prstGeom prst="roundRect">
            <a:avLst>
              <a:gd name="adj" fmla="val 9412"/>
            </a:avLst>
          </a:prstGeom>
          <a:solidFill>
            <a:srgbClr val="EEF2F7"/>
          </a:solidFill>
          <a:ln w="12700">
            <a:solidFill>
              <a:srgbClr val="C9D2DE"/>
            </a:solidFill>
            <a:prstDash val="solid"/>
          </a:ln>
        </p:spPr>
      </p:sp>
      <p:sp>
        <p:nvSpPr>
          <p:cNvPr id="6" name="Text 4"/>
          <p:cNvSpPr txBox="1"/>
          <p:nvPr/>
        </p:nvSpPr>
        <p:spPr>
          <a:xfrm>
            <a:off x="640080" y="124358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What if two different files get the same hash?</a:t>
            </a:r>
            <a:endParaRPr lang="en-US" sz="1300" dirty="0"/>
          </a:p>
        </p:txBody>
      </p:sp>
      <p:sp>
        <p:nvSpPr>
          <p:cNvPr id="7" name="Text 5"/>
          <p:cNvSpPr txBox="1"/>
          <p:nvPr/>
        </p:nvSpPr>
        <p:spPr>
          <a:xfrm>
            <a:off x="640080" y="151790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That is a collision. By accident it is practically impossible (2^160 possible SHA-1 values). It can be forced on purpose (SHAttered, 2017), which is why Git is moving to SHA-256.</a:t>
            </a:r>
            <a:endParaRPr lang="en-US" sz="1150" dirty="0"/>
          </a:p>
        </p:txBody>
      </p:sp>
      <p:sp>
        <p:nvSpPr>
          <p:cNvPr id="8" name="Shape 6"/>
          <p:cNvSpPr/>
          <p:nvPr/>
        </p:nvSpPr>
        <p:spPr>
          <a:xfrm>
            <a:off x="457200" y="2057400"/>
            <a:ext cx="8229600" cy="777240"/>
          </a:xfrm>
          <a:prstGeom prst="roundRect">
            <a:avLst>
              <a:gd name="adj" fmla="val 9412"/>
            </a:avLst>
          </a:prstGeom>
          <a:solidFill>
            <a:srgbClr val="FFFFFF"/>
          </a:solidFill>
          <a:ln w="12700">
            <a:solidFill>
              <a:srgbClr val="C9D2DE"/>
            </a:solidFill>
            <a:prstDash val="solid"/>
          </a:ln>
        </p:spPr>
      </p:sp>
      <p:sp>
        <p:nvSpPr>
          <p:cNvPr id="9" name="Text 7"/>
          <p:cNvSpPr txBox="1"/>
          <p:nvPr/>
        </p:nvSpPr>
        <p:spPr>
          <a:xfrm>
            <a:off x="640080" y="211226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Why is the folder named after the first 2 characters?</a:t>
            </a:r>
            <a:endParaRPr lang="en-US" sz="1300" dirty="0"/>
          </a:p>
        </p:txBody>
      </p:sp>
      <p:sp>
        <p:nvSpPr>
          <p:cNvPr id="10" name="Text 8"/>
          <p:cNvSpPr txBox="1"/>
          <p:nvPr/>
        </p:nvSpPr>
        <p:spPr>
          <a:xfrm>
            <a:off x="640080" y="238658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To avoid millions of files in one folder, which is slow for the file system. 2 hex characters = 256 folders.</a:t>
            </a:r>
            <a:endParaRPr lang="en-US" sz="1150" dirty="0"/>
          </a:p>
        </p:txBody>
      </p:sp>
      <p:sp>
        <p:nvSpPr>
          <p:cNvPr id="11" name="Shape 9"/>
          <p:cNvSpPr/>
          <p:nvPr/>
        </p:nvSpPr>
        <p:spPr>
          <a:xfrm>
            <a:off x="457200" y="2926080"/>
            <a:ext cx="8229600" cy="777240"/>
          </a:xfrm>
          <a:prstGeom prst="roundRect">
            <a:avLst>
              <a:gd name="adj" fmla="val 9412"/>
            </a:avLst>
          </a:prstGeom>
          <a:solidFill>
            <a:srgbClr val="EEF2F7"/>
          </a:solidFill>
          <a:ln w="12700">
            <a:solidFill>
              <a:srgbClr val="C9D2DE"/>
            </a:solidFill>
            <a:prstDash val="solid"/>
          </a:ln>
        </p:spPr>
      </p:sp>
      <p:sp>
        <p:nvSpPr>
          <p:cNvPr id="12" name="Text 10"/>
          <p:cNvSpPr txBox="1"/>
          <p:nvPr/>
        </p:nvSpPr>
        <p:spPr>
          <a:xfrm>
            <a:off x="640080" y="298094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Why add the header "blob 12\0"?</a:t>
            </a:r>
            <a:endParaRPr lang="en-US" sz="1300" dirty="0"/>
          </a:p>
        </p:txBody>
      </p:sp>
      <p:sp>
        <p:nvSpPr>
          <p:cNvPr id="13" name="Text 11"/>
          <p:cNvSpPr txBox="1"/>
          <p:nvPr/>
        </p:nvSpPr>
        <p:spPr>
          <a:xfrm>
            <a:off x="640080" y="325526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It records the object type and size, so a blob and a tree with the same bytes still get different hashes.</a:t>
            </a:r>
            <a:endParaRPr lang="en-US" sz="1150" dirty="0"/>
          </a:p>
        </p:txBody>
      </p:sp>
      <p:sp>
        <p:nvSpPr>
          <p:cNvPr id="14" name="Shape 12"/>
          <p:cNvSpPr/>
          <p:nvPr/>
        </p:nvSpPr>
        <p:spPr>
          <a:xfrm>
            <a:off x="457200" y="3794760"/>
            <a:ext cx="8229600" cy="777240"/>
          </a:xfrm>
          <a:prstGeom prst="roundRect">
            <a:avLst>
              <a:gd name="adj" fmla="val 9412"/>
            </a:avLst>
          </a:prstGeom>
          <a:solidFill>
            <a:srgbClr val="FFFFFF"/>
          </a:solidFill>
          <a:ln w="12700">
            <a:solidFill>
              <a:srgbClr val="C9D2DE"/>
            </a:solidFill>
            <a:prstDash val="solid"/>
          </a:ln>
        </p:spPr>
      </p:sp>
      <p:sp>
        <p:nvSpPr>
          <p:cNvPr id="15" name="Text 13"/>
          <p:cNvSpPr txBox="1"/>
          <p:nvPr/>
        </p:nvSpPr>
        <p:spPr>
          <a:xfrm>
            <a:off x="640080" y="384962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If I rename a file, is a new blob created?</a:t>
            </a:r>
            <a:endParaRPr lang="en-US" sz="1300" dirty="0"/>
          </a:p>
        </p:txBody>
      </p:sp>
      <p:sp>
        <p:nvSpPr>
          <p:cNvPr id="16" name="Text 14"/>
          <p:cNvSpPr txBox="1"/>
          <p:nvPr/>
        </p:nvSpPr>
        <p:spPr>
          <a:xfrm>
            <a:off x="640080" y="412394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No. The content is the same, so the blob is the same. Only the tree changes, because the name is stored there.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PRESENTATION / VIVA</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Expected Viva Questions (2/2)</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457200" y="1188720"/>
            <a:ext cx="8229600" cy="777240"/>
          </a:xfrm>
          <a:prstGeom prst="roundRect">
            <a:avLst>
              <a:gd name="adj" fmla="val 9412"/>
            </a:avLst>
          </a:prstGeom>
          <a:solidFill>
            <a:srgbClr val="EEF2F7"/>
          </a:solidFill>
          <a:ln w="12700">
            <a:solidFill>
              <a:srgbClr val="C9D2DE"/>
            </a:solidFill>
            <a:prstDash val="solid"/>
          </a:ln>
        </p:spPr>
      </p:sp>
      <p:sp>
        <p:nvSpPr>
          <p:cNvPr id="6" name="Text 4"/>
          <p:cNvSpPr txBox="1"/>
          <p:nvPr/>
        </p:nvSpPr>
        <p:spPr>
          <a:xfrm>
            <a:off x="640080" y="124358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How is this related to the hash table from class?</a:t>
            </a:r>
            <a:endParaRPr lang="en-US" sz="1300" dirty="0"/>
          </a:p>
        </p:txBody>
      </p:sp>
      <p:sp>
        <p:nvSpPr>
          <p:cNvPr id="7" name="Text 5"/>
          <p:cNvSpPr txBox="1"/>
          <p:nvPr/>
        </p:nvSpPr>
        <p:spPr>
          <a:xfrm>
            <a:off x="640080" y="151790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Same idea: a hash function maps a key to a location. Here the key is the content itself, and a cryptographic hash is used so collisions can be ignored in practice.</a:t>
            </a:r>
            <a:endParaRPr lang="en-US" sz="1150" dirty="0"/>
          </a:p>
        </p:txBody>
      </p:sp>
      <p:sp>
        <p:nvSpPr>
          <p:cNvPr id="8" name="Shape 6"/>
          <p:cNvSpPr/>
          <p:nvPr/>
        </p:nvSpPr>
        <p:spPr>
          <a:xfrm>
            <a:off x="457200" y="2057400"/>
            <a:ext cx="8229600" cy="777240"/>
          </a:xfrm>
          <a:prstGeom prst="roundRect">
            <a:avLst>
              <a:gd name="adj" fmla="val 9412"/>
            </a:avLst>
          </a:prstGeom>
          <a:solidFill>
            <a:srgbClr val="FFFFFF"/>
          </a:solidFill>
          <a:ln w="12700">
            <a:solidFill>
              <a:srgbClr val="C9D2DE"/>
            </a:solidFill>
            <a:prstDash val="solid"/>
          </a:ln>
        </p:spPr>
      </p:sp>
      <p:sp>
        <p:nvSpPr>
          <p:cNvPr id="9" name="Text 7"/>
          <p:cNvSpPr txBox="1"/>
          <p:nvPr/>
        </p:nvSpPr>
        <p:spPr>
          <a:xfrm>
            <a:off x="640080" y="211226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If every version is a full copy, how does Git save space?</a:t>
            </a:r>
            <a:endParaRPr lang="en-US" sz="1300" dirty="0"/>
          </a:p>
        </p:txBody>
      </p:sp>
      <p:sp>
        <p:nvSpPr>
          <p:cNvPr id="10" name="Text 8"/>
          <p:cNvSpPr txBox="1"/>
          <p:nvPr/>
        </p:nvSpPr>
        <p:spPr>
          <a:xfrm>
            <a:off x="640080" y="238658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Unchanged files are shared (deduplication). Changed files are compressed with zlib and packed as differences (packfiles).</a:t>
            </a:r>
            <a:endParaRPr lang="en-US" sz="1150" dirty="0"/>
          </a:p>
        </p:txBody>
      </p:sp>
      <p:sp>
        <p:nvSpPr>
          <p:cNvPr id="11" name="Shape 9"/>
          <p:cNvSpPr/>
          <p:nvPr/>
        </p:nvSpPr>
        <p:spPr>
          <a:xfrm>
            <a:off x="457200" y="2926080"/>
            <a:ext cx="8229600" cy="777240"/>
          </a:xfrm>
          <a:prstGeom prst="roundRect">
            <a:avLst>
              <a:gd name="adj" fmla="val 9412"/>
            </a:avLst>
          </a:prstGeom>
          <a:solidFill>
            <a:srgbClr val="EEF2F7"/>
          </a:solidFill>
          <a:ln w="12700">
            <a:solidFill>
              <a:srgbClr val="C9D2DE"/>
            </a:solidFill>
            <a:prstDash val="solid"/>
          </a:ln>
        </p:spPr>
      </p:sp>
      <p:sp>
        <p:nvSpPr>
          <p:cNvPr id="12" name="Text 10"/>
          <p:cNvSpPr txBox="1"/>
          <p:nvPr/>
        </p:nvSpPr>
        <p:spPr>
          <a:xfrm>
            <a:off x="640080" y="298094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Why can nobody secretly change old history?</a:t>
            </a:r>
            <a:endParaRPr lang="en-US" sz="1300" dirty="0"/>
          </a:p>
        </p:txBody>
      </p:sp>
      <p:sp>
        <p:nvSpPr>
          <p:cNvPr id="13" name="Text 11"/>
          <p:cNvSpPr txBox="1"/>
          <p:nvPr/>
        </p:nvSpPr>
        <p:spPr>
          <a:xfrm>
            <a:off x="640080" y="325526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Every commit contains the hash of its parent. Changing old data changes its hash, and every later commit hash, so it is noticed.</a:t>
            </a:r>
            <a:endParaRPr lang="en-US" sz="1150" dirty="0"/>
          </a:p>
        </p:txBody>
      </p:sp>
      <p:sp>
        <p:nvSpPr>
          <p:cNvPr id="14" name="Shape 12"/>
          <p:cNvSpPr/>
          <p:nvPr/>
        </p:nvSpPr>
        <p:spPr>
          <a:xfrm>
            <a:off x="457200" y="3794760"/>
            <a:ext cx="8229600" cy="777240"/>
          </a:xfrm>
          <a:prstGeom prst="roundRect">
            <a:avLst>
              <a:gd name="adj" fmla="val 9412"/>
            </a:avLst>
          </a:prstGeom>
          <a:solidFill>
            <a:srgbClr val="FFFFFF"/>
          </a:solidFill>
          <a:ln w="12700">
            <a:solidFill>
              <a:srgbClr val="C9D2DE"/>
            </a:solidFill>
            <a:prstDash val="solid"/>
          </a:ln>
        </p:spPr>
      </p:sp>
      <p:sp>
        <p:nvSpPr>
          <p:cNvPr id="15" name="Text 13"/>
          <p:cNvSpPr txBox="1"/>
          <p:nvPr/>
        </p:nvSpPr>
        <p:spPr>
          <a:xfrm>
            <a:off x="640080" y="3849624"/>
            <a:ext cx="78638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Q: Why is the commit history a DAG and not a list?</a:t>
            </a:r>
            <a:endParaRPr lang="en-US" sz="1300" dirty="0"/>
          </a:p>
        </p:txBody>
      </p:sp>
      <p:sp>
        <p:nvSpPr>
          <p:cNvPr id="16" name="Text 14"/>
          <p:cNvSpPr txBox="1"/>
          <p:nvPr/>
        </p:nvSpPr>
        <p:spPr>
          <a:xfrm>
            <a:off x="640080" y="4123944"/>
            <a:ext cx="7863840" cy="42976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A merge commit has two parents. Links only point backwards in time, so there are no cycles.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READ BEFORE WRITING</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References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20</a:t>
            </a:r>
            <a:endParaRPr lang="en-US" sz="900" dirty="0"/>
          </a:p>
        </p:txBody>
      </p:sp>
      <p:sp>
        <p:nvSpPr>
          <p:cNvPr id="5" name="Text 3"/>
          <p:cNvSpPr txBox="1"/>
          <p:nvPr/>
        </p:nvSpPr>
        <p:spPr>
          <a:xfrm>
            <a:off x="457200" y="1188720"/>
            <a:ext cx="8229600" cy="347472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S. Chacon and B. Straub, Pro Git, 2nd ed., Apress, 2014, Ch. 10 "Git Internals". git-scm.com/book</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S. Quinlan and S. Dorward, "Venti: A New Approach to Archival Storage," USENIX FAST, 2002.</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R. C. Merkle, "A Digital Signature Based on a Conventional Encryption Function," CRYPTO '87, 1987.</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M. Stevens et al., "The First Collision for Full SHA-1," CRYPTO 2017 (SHAttered).</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NIST, FIPS 180-4: Secure Hash Standard (SHA-1, SHA-256), 2015.</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J. Benet, "IPFS – Content Addressed, Versioned, P2P File System," arXiv:1407.3561, 2014.</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Git documentation, "hash-function-transition" (SHA-1 → SHA-256). git-scm.com/docs</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Docker / OCI Image Specification: content-addressable image digests. docs.docker.com</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T. H. Cormen et al., Introduction to Algorithms, 3rd ed., MIT Press, Ch. 11 "Hash Tables".</a:t>
            </a:r>
            <a:endParaRPr lang="en-US" sz="1200" dirty="0"/>
          </a:p>
          <a:p>
            <a:pPr marL="342900" indent="-342900">
              <a:spcAft>
                <a:spcPts val="3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GeeksforGeeks, "Hashing Data Structure". geeksforgeeks.org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914400"/>
            <a:ext cx="8046720" cy="274320"/>
          </a:xfrm>
          <a:prstGeom prst="rect">
            <a:avLst/>
          </a:prstGeom>
          <a:noFill/>
          <a:ln/>
        </p:spPr>
        <p:txBody>
          <a:bodyPr wrap="square" lIns="0" tIns="0" rIns="0" bIns="0" rtlCol="0" anchor="ctr"/>
          <a:lstStyle/>
          <a:p>
            <a:pPr indent="0" marL="0">
              <a:buNone/>
            </a:pPr>
            <a:r>
              <a:rPr lang="en-US" sz="1200" b="1" spc="200" kern="0" dirty="0">
                <a:solidFill>
                  <a:srgbClr val="FCA311"/>
                </a:solidFill>
                <a:latin typeface="Calibri" pitchFamily="34" charset="0"/>
                <a:ea typeface="Calibri" pitchFamily="34" charset="-122"/>
                <a:cs typeface="Calibri" pitchFamily="34" charset="-120"/>
              </a:rPr>
              <a:t>KEY TAKEAWAY</a:t>
            </a:r>
            <a:endParaRPr lang="en-US" sz="1200" dirty="0"/>
          </a:p>
        </p:txBody>
      </p:sp>
      <p:sp>
        <p:nvSpPr>
          <p:cNvPr id="3" name="Text 1"/>
          <p:cNvSpPr txBox="1"/>
          <p:nvPr/>
        </p:nvSpPr>
        <p:spPr>
          <a:xfrm>
            <a:off x="548640" y="1280160"/>
            <a:ext cx="8046720" cy="12801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Name data by what it is, and you get fast lookup, deduplication and integrity checking for free.</a:t>
            </a:r>
            <a:endParaRPr lang="en-US" sz="2800" dirty="0"/>
          </a:p>
        </p:txBody>
      </p:sp>
      <p:sp>
        <p:nvSpPr>
          <p:cNvPr id="4" name="Text 2"/>
          <p:cNvSpPr txBox="1"/>
          <p:nvPr/>
        </p:nvSpPr>
        <p:spPr>
          <a:xfrm>
            <a:off x="548640" y="2697480"/>
            <a:ext cx="804672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That is why a 1980s idea (hash trees) still runs Git, Docker, backups and blockchains today.</a:t>
            </a:r>
            <a:endParaRPr lang="en-US" sz="1500" dirty="0"/>
          </a:p>
        </p:txBody>
      </p:sp>
      <p:sp>
        <p:nvSpPr>
          <p:cNvPr id="5" name="Text 3"/>
          <p:cNvSpPr txBox="1"/>
          <p:nvPr/>
        </p:nvSpPr>
        <p:spPr>
          <a:xfrm>
            <a:off x="548640" y="3840480"/>
            <a:ext cx="8046720" cy="457200"/>
          </a:xfrm>
          <a:prstGeom prst="rect">
            <a:avLst/>
          </a:prstGeom>
          <a:noFill/>
          <a:ln/>
        </p:spPr>
        <p:txBody>
          <a:bodyPr wrap="square" lIns="0" tIns="0" rIns="0" bIns="0" rtlCol="0" anchor="ctr"/>
          <a:lstStyle/>
          <a:p>
            <a:pPr indent="0" marL="0">
              <a:buNone/>
            </a:pPr>
            <a:r>
              <a:rPr lang="en-US" sz="2400" b="1" dirty="0">
                <a:solidFill>
                  <a:srgbClr val="FCA311"/>
                </a:solidFill>
                <a:latin typeface="Cambria" pitchFamily="34" charset="0"/>
                <a:ea typeface="Cambria" pitchFamily="34" charset="-122"/>
                <a:cs typeface="Cambria" pitchFamily="34" charset="-120"/>
              </a:rPr>
              <a:t>Thank you ·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Content-Addressable Storage &amp; Git Internals</dc:title>
  <dc:subject>PptxGenJS Presentation</dc:subject>
  <dc:creator>PptxGenJS</dc:creator>
  <cp:lastModifiedBy>PptxGenJS</cp:lastModifiedBy>
  <cp:revision>1</cp:revision>
  <dcterms:created xsi:type="dcterms:W3CDTF">2026-09-22T18:22:53Z</dcterms:created>
  <dcterms:modified xsi:type="dcterms:W3CDTF">2026-09-22T18:22:53Z</dcterms:modified>
</cp:coreProperties>
</file>